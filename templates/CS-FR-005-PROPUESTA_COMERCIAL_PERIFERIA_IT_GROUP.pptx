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147482852" r:id="rId5"/>
    <p:sldId id="2147483031" r:id="rId6"/>
    <p:sldId id="2147482819" r:id="rId7"/>
    <p:sldId id="2147482815" r:id="rId8"/>
    <p:sldId id="2147482830" r:id="rId9"/>
    <p:sldId id="2147482822" r:id="rId10"/>
    <p:sldId id="2147482828" r:id="rId11"/>
    <p:sldId id="2147482794" r:id="rId12"/>
    <p:sldId id="2147482831" r:id="rId13"/>
    <p:sldId id="2147482795" r:id="rId14"/>
    <p:sldId id="2147482829" r:id="rId15"/>
    <p:sldId id="2147482851" r:id="rId16"/>
    <p:sldId id="2147482844" r:id="rId17"/>
    <p:sldId id="260" r:id="rId18"/>
    <p:sldId id="2147482832" r:id="rId19"/>
    <p:sldId id="2147483026" r:id="rId20"/>
    <p:sldId id="2147482843" r:id="rId21"/>
    <p:sldId id="2147482846" r:id="rId22"/>
    <p:sldId id="2147482845" r:id="rId23"/>
    <p:sldId id="2147482804" r:id="rId2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705BB-DC8E-7B8F-B24D-B4702BBBDE76}" v="5" dt="2026-03-11T17:11:57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sv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4.svg"/><Relationship Id="rId7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image" Target="../media/image24.svg"/><Relationship Id="rId21" Type="http://schemas.openxmlformats.org/officeDocument/2006/relationships/image" Target="../media/image70.png"/><Relationship Id="rId34" Type="http://schemas.openxmlformats.org/officeDocument/2006/relationships/image" Target="../media/image82.sv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30.png"/><Relationship Id="rId2" Type="http://schemas.openxmlformats.org/officeDocument/2006/relationships/image" Target="../media/image27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32" Type="http://schemas.openxmlformats.org/officeDocument/2006/relationships/image" Target="../media/image81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8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sv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105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26.svg"/><Relationship Id="rId7" Type="http://schemas.openxmlformats.org/officeDocument/2006/relationships/image" Target="../media/image111.pn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CBEC16E-ECE7-131D-EFF1-0DC4987D3A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9021" y="790162"/>
            <a:ext cx="3285957" cy="201653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29774C5-3272-1125-90A1-20C7A2F5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B30B1EE-9133-6EBC-0ECE-4767F27FBDC0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B29E62-F518-9FE9-DA18-722B3F6D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70CF05E0-7D3C-4B35-FBBF-9ABE4C9E1279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6FAF079-7B61-253F-87CF-A08976C05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575" y="2548905"/>
            <a:ext cx="1092200" cy="4826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95528E-1CE2-15AD-4D57-EDDEB785B6C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396" y="114819"/>
            <a:ext cx="1358900" cy="3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0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 1300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6D3D8C9-DA0B-F7E9-E009-0B9178B978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2942714"/>
            <a:ext cx="3669057" cy="654597"/>
            <a:chOff x="133453" y="2707395"/>
            <a:chExt cx="3669057" cy="654597"/>
          </a:xfrm>
        </p:grpSpPr>
        <p:sp>
          <p:nvSpPr>
            <p:cNvPr id="29" name="Subtítulo 2">
              <a:extLst>
                <a:ext uri="{FF2B5EF4-FFF2-40B4-BE49-F238E27FC236}">
                  <a16:creationId xmlns:a16="http://schemas.microsoft.com/office/drawing/2014/main" id="{D6608BC5-F45B-1F1B-89E6-0E5720CEBD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2707395"/>
              <a:ext cx="126039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ES" sz="1199" b="1">
                  <a:solidFill>
                    <a:srgbClr val="15601D"/>
                  </a:solidFill>
                </a:rPr>
                <a:t>C</a:t>
              </a:r>
              <a:r>
                <a:rPr lang="es-CO" sz="1199" b="1" err="1">
                  <a:solidFill>
                    <a:srgbClr val="15601D"/>
                  </a:solidFill>
                </a:rPr>
                <a:t>ertificaciones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C1626F9-81C9-4877-BB73-425C2630DC8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2138" y="2992917"/>
              <a:ext cx="1178887" cy="369075"/>
              <a:chOff x="202138" y="3120734"/>
              <a:chExt cx="1178887" cy="369075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FD68354C-9B1B-059D-490C-BDEE700F8F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38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035C53-B191-1A6C-175F-FA90982AACF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744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27001:2022</a:t>
                </a:r>
              </a:p>
            </p:txBody>
          </p: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7C980B06-58F0-92BC-EDA9-F8DEBE7E86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431171" y="2992917"/>
              <a:ext cx="1173763" cy="369075"/>
              <a:chOff x="1460667" y="3120734"/>
              <a:chExt cx="1173763" cy="369075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ADBAE6E2-3C17-4CAB-AC41-FE3E0950DE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60667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EE6A90A-062D-F494-CCC6-FB9BC6A99F8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53149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9001:2015</a:t>
                </a:r>
              </a:p>
            </p:txBody>
          </p: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0580AA48-7A3C-47E6-9EB4-6D3B6EAB842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0707" y="2992917"/>
              <a:ext cx="1171803" cy="369075"/>
              <a:chOff x="2699531" y="3120734"/>
              <a:chExt cx="1171803" cy="369075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C87D3374-C136-2F87-4CDA-A0E9242D23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99531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D3E6686-7229-6F83-C1D3-E5EDE1CF489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053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ISO/IEC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27032:2023</a:t>
                </a:r>
              </a:p>
            </p:txBody>
          </p: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5C1A72E-5A2B-E2BD-151E-C00DE3CA01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8398" y="181461"/>
            <a:ext cx="1026000" cy="2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5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MX" sz="1600" dirty="0"/>
              <a:t>El contenido de la presente propuesta es de carácter confidencial entre </a:t>
            </a:r>
            <a:r>
              <a:rPr lang="es-MX" sz="1600" b="1" dirty="0"/>
              <a:t>PERIFERIA IT GROUP </a:t>
            </a:r>
            <a:r>
              <a:rPr lang="es-MX" sz="1600" dirty="0"/>
              <a:t>y </a:t>
            </a:r>
            <a:r>
              <a:rPr lang="es-MX" sz="1600" dirty="0">
                <a:solidFill>
                  <a:schemeClr val="accent1"/>
                </a:solidFill>
              </a:rPr>
              <a:t>XXXXXXXXXX</a:t>
            </a:r>
            <a:r>
              <a:rPr lang="es-MX" sz="1600" dirty="0"/>
              <a:t>; en caso de utilizar o disponer de la solución, es indispensable una autorización previa firma por el representante legal de </a:t>
            </a:r>
            <a:r>
              <a:rPr lang="es-MX" sz="1600" b="1" dirty="0"/>
              <a:t>PERIFERIA IT GROUP</a:t>
            </a:r>
            <a:r>
              <a:rPr lang="es-MX" sz="1600" dirty="0"/>
              <a:t>.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316CB1A-1DA9-DF51-BC33-889251CD67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Presentar a </a:t>
            </a:r>
            <a:r>
              <a:rPr lang="es-CO" sz="1200" dirty="0">
                <a:solidFill>
                  <a:schemeClr val="accent1"/>
                </a:solidFill>
              </a:rPr>
              <a:t>XXXXXX</a:t>
            </a:r>
            <a:r>
              <a:rPr lang="es-CO" sz="1200" dirty="0"/>
              <a:t>  los servicios de xxxxxxxxxxxxxxxxxxxxxxxxxxxxxxxxxxxxxxxxxxxxxxxxxxxxxxxxxxxxxxxxxxxxxxxxxxxxxxxxxxxxxxxxxxxxxxxxxxxxxxxxxxxxxxxxxxxxxxxxxxxxxxxxxxxxxxxxxxxxxxxxxxxxxxxxxxxxxxxxxxxxxxxxxxxxx. 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ECC69C8E-1716-95D7-1306-6CAC47103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834069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propuesta se presenta de acuerdo con xxxxxxxxxxxxxxxxxxxxxxxxxxxxxxxxxxxxxxxxxxxxxxxxxxxxxxxxxxxxxxxxxxxxxxxxxxxxxxxxxxxxxxxxxxxxxxxxxxxxxxxxxxxxxxxxxxxxxxxxxx.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4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A37A1E25-3787-242A-AED9-71BFCAE2E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 dirty="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 dirty="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 dirty="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 dirty="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DD2973D6-5C90-143D-305B-E9F20AFD5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 dirty="0">
                <a:solidFill>
                  <a:srgbClr val="333333"/>
                </a:solidFill>
                <a:cs typeface="Calibri"/>
              </a:rPr>
              <a:t>PERIFERIA IT CORP </a:t>
            </a:r>
            <a:r>
              <a:rPr lang="es-MX" sz="1200" dirty="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 dirty="0">
                <a:solidFill>
                  <a:srgbClr val="333333"/>
                </a:solidFill>
                <a:cs typeface="Calibri"/>
              </a:rPr>
              <a:t>:</a:t>
            </a:r>
            <a:endParaRPr lang="es-MX" sz="1200" dirty="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dirty="0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 dirty="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 dirty="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333333"/>
                </a:solidFill>
                <a:cs typeface="Calibri"/>
              </a:rPr>
              <a:t>Actividades a realizar por PERIFERIA IT CORP: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CO" sz="1200" b="1">
                <a:solidFill>
                  <a:schemeClr val="accent1"/>
                </a:solidFill>
                <a:cs typeface="Arial"/>
              </a:rPr>
              <a:t>XXXXXXX</a:t>
            </a:r>
            <a:r>
              <a:rPr lang="es-CO" sz="120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CO" sz="1200" b="1">
                <a:solidFill>
                  <a:schemeClr val="accent1"/>
                </a:solidFill>
                <a:cs typeface="Arial"/>
              </a:rPr>
              <a:t>XXXXXXXXXXXX</a:t>
            </a:r>
            <a:r>
              <a:rPr lang="es-CO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PERIFERIA IT GROUP </a:t>
            </a:r>
            <a:r>
              <a:rPr lang="es-MX" sz="120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F65C14B-94D8-D993-0AA5-32CF7A3D1A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5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pic>
        <p:nvPicPr>
          <p:cNvPr id="44" name="Gráfico 43">
            <a:extLst>
              <a:ext uri="{FF2B5EF4-FFF2-40B4-BE49-F238E27FC236}">
                <a16:creationId xmlns:a16="http://schemas.microsoft.com/office/drawing/2014/main" id="{4CD4C733-DFB9-261F-DD42-C17743455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133DDE7D-86F7-85EB-43A7-0DFA32733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 dirty="0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 dirty="0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B8F27870-2E0E-2213-DFE0-CA70EE886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745" y="4722983"/>
            <a:ext cx="1026000" cy="25166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 dirty="0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  <a:endParaRPr lang="es-ES" sz="1200" dirty="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y para el correcto desarrollo del proyecto se elaborará y administrará la matriz de riesgos y recomendará alternativas de mitigación de riesgo. 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Las entregas de parte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podrá contratar directa o indirectamente al personal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257100D9-4278-F2F5-72B9-497EF50274BB}"/>
              </a:ext>
            </a:extLst>
          </p:cNvPr>
          <p:cNvSpPr txBox="1">
            <a:spLocks/>
          </p:cNvSpPr>
          <p:nvPr/>
        </p:nvSpPr>
        <p:spPr>
          <a:xfrm>
            <a:off x="5131055" y="1116066"/>
            <a:ext cx="2799373" cy="593258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2800" b="1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&lt;&lt;Logo Cliente&gt;&gt;</a:t>
            </a:r>
            <a:endParaRPr lang="es-CO" sz="2800" b="1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C95DD58-D920-EC4C-51E2-A62F07F873A6}"/>
              </a:ext>
            </a:extLst>
          </p:cNvPr>
          <p:cNvSpPr txBox="1">
            <a:spLocks/>
          </p:cNvSpPr>
          <p:nvPr/>
        </p:nvSpPr>
        <p:spPr>
          <a:xfrm>
            <a:off x="2549834" y="3271575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A20F86-00FD-B9B6-4B58-0EC70E131A4D}"/>
              </a:ext>
            </a:extLst>
          </p:cNvPr>
          <p:cNvSpPr txBox="1">
            <a:spLocks/>
          </p:cNvSpPr>
          <p:nvPr/>
        </p:nvSpPr>
        <p:spPr>
          <a:xfrm>
            <a:off x="2690049" y="4376079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764BACB-B967-8CC9-8227-C26794B6CF64}"/>
              </a:ext>
            </a:extLst>
          </p:cNvPr>
          <p:cNvSpPr txBox="1">
            <a:spLocks/>
          </p:cNvSpPr>
          <p:nvPr/>
        </p:nvSpPr>
        <p:spPr>
          <a:xfrm>
            <a:off x="5138730" y="1980842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2779A957-943C-C9DD-7F23-282BB79FB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CF7F768E-A866-7426-B500-B8A26EDF2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4742" y="1208724"/>
            <a:ext cx="1641357" cy="40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5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82419EF-E753-F16E-DDCE-A552AF52E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XXXXXXXXXX</a:t>
            </a:r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5D6DF6CA-03D8-787B-7B70-581709AE3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287114" y="1566219"/>
            <a:ext cx="628329" cy="15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366283-D1D5-060A-0CC6-B27FCC6C0D14}"/>
              </a:ext>
            </a:extLst>
          </p:cNvPr>
          <p:cNvSpPr txBox="1"/>
          <p:nvPr/>
        </p:nvSpPr>
        <p:spPr>
          <a:xfrm>
            <a:off x="6663905" y="3665021"/>
            <a:ext cx="16532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50">
                <a:solidFill>
                  <a:srgbClr val="00B0F0"/>
                </a:solidFill>
              </a:rPr>
              <a:t>&lt;&lt;Logo del Cliente&gt;&gt;</a:t>
            </a:r>
            <a:endParaRPr lang="es-CO" sz="1350">
              <a:solidFill>
                <a:srgbClr val="00B0F0"/>
              </a:solidFill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</a:t>
            </a:r>
            <a:endParaRPr lang="es-ES" sz="1050" i="1" dirty="0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419048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16548" y="-881320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2985795" y="2651802"/>
            <a:ext cx="3172407" cy="751187"/>
            <a:chOff x="2827143" y="2667340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145F1C"/>
                  </a:solidFill>
                  <a:highlight>
                    <a:srgbClr val="FFFF00"/>
                  </a:highlight>
                  <a:latin typeface="Arial Black" panose="020B0604020202020204" pitchFamily="34" charset="0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27143" y="2667340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 dirty="0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9" name="Gráfico 5">
            <a:extLst>
              <a:ext uri="{FF2B5EF4-FFF2-40B4-BE49-F238E27FC236}">
                <a16:creationId xmlns:a16="http://schemas.microsoft.com/office/drawing/2014/main" id="{FE75453A-242D-9F12-EA44-710107C0A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7272" y="489903"/>
            <a:ext cx="2451038" cy="59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EE92B0E9-DFD7-368C-757C-A4D023427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8948" y="4718216"/>
            <a:ext cx="1026000" cy="25166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dirty="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El pago se realizará conforme al siguiente plan de porcentajes, teniendo en cuenta que </a:t>
            </a:r>
            <a:r>
              <a:rPr lang="es-MX" sz="1200" dirty="0">
                <a:solidFill>
                  <a:schemeClr val="accent1"/>
                </a:solidFill>
                <a:highlight>
                  <a:srgbClr val="FFFF00"/>
                </a:highlight>
                <a:cs typeface="Arial"/>
              </a:rPr>
              <a:t>XXXXXXXX </a:t>
            </a:r>
            <a:r>
              <a:rPr lang="es-MX" sz="1200" dirty="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pagará a los XX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 dirty="0">
                  <a:solidFill>
                    <a:srgbClr val="333333"/>
                  </a:solidFill>
                  <a:highlight>
                    <a:srgbClr val="FFFF00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de inicio de proyecto.</a:t>
            </a:r>
            <a:endParaRPr lang="en-US" sz="1200" b="1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dirty="0" err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Sprints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 definid</a:t>
            </a:r>
            <a:r>
              <a:rPr lang="es-ES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o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</a:t>
            </a:r>
            <a:r>
              <a:rPr lang="es-ES" sz="1200" b="1" i="0" u="none" strike="noStrike" baseline="0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lang="en-US" sz="1200" b="1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Paso a </a:t>
            </a:r>
            <a:r>
              <a:rPr lang="es-CO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QA y/o Producción</a:t>
            </a:r>
            <a:r>
              <a:rPr lang="es-CO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.</a:t>
            </a:r>
            <a:endParaRPr lang="en-US" sz="1200" b="1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 dirty="0">
              <a:highlight>
                <a:srgbClr val="FFFF00"/>
              </a:highlight>
              <a:latin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</a:t>
            </a:r>
            <a:r>
              <a:rPr lang="es-MX" sz="1000" i="1" dirty="0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</a:t>
            </a:r>
            <a:r>
              <a:rPr lang="es-MX" sz="100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La vigencia de la propuesta será de 60 días calendario a partir de la fecha de presentación de esta.</a:t>
            </a:r>
            <a:endParaRPr lang="es-CO" sz="1000" i="1" dirty="0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2855334" y="150822"/>
            <a:ext cx="4898208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PERIFERIA IT GROUP </a:t>
            </a:r>
            <a:r>
              <a:rPr lang="es-ES" sz="900" i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764" y="195810"/>
            <a:ext cx="240358" cy="2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F1BB9A-495E-4072-98E0-57A848D4B1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104</TotalTime>
  <Words>1204</Words>
  <Application>Microsoft Office PowerPoint</Application>
  <PresentationFormat>Personalizado</PresentationFormat>
  <Paragraphs>262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Jose A. Videz Diaz</cp:lastModifiedBy>
  <cp:revision>29</cp:revision>
  <dcterms:created xsi:type="dcterms:W3CDTF">2024-01-17T20:43:53Z</dcterms:created>
  <dcterms:modified xsi:type="dcterms:W3CDTF">2026-04-22T14:29:37Z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