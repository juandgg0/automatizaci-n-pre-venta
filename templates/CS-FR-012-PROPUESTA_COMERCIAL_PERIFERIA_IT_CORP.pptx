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6"/>
  </p:notesMasterIdLst>
  <p:sldIdLst>
    <p:sldId id="2147482852" r:id="rId5"/>
    <p:sldId id="2147483031" r:id="rId6"/>
    <p:sldId id="2147482819" r:id="rId7"/>
    <p:sldId id="2147482815" r:id="rId8"/>
    <p:sldId id="2147482830" r:id="rId9"/>
    <p:sldId id="2147482822" r:id="rId10"/>
    <p:sldId id="2147482828" r:id="rId11"/>
    <p:sldId id="2147482794" r:id="rId12"/>
    <p:sldId id="2147482831" r:id="rId13"/>
    <p:sldId id="2147482795" r:id="rId14"/>
    <p:sldId id="2147482829" r:id="rId15"/>
    <p:sldId id="2147482851" r:id="rId16"/>
    <p:sldId id="2147482844" r:id="rId17"/>
    <p:sldId id="260" r:id="rId18"/>
    <p:sldId id="2147482832" r:id="rId19"/>
    <p:sldId id="2147483026" r:id="rId20"/>
    <p:sldId id="2147482843" r:id="rId21"/>
    <p:sldId id="2147482846" r:id="rId22"/>
    <p:sldId id="2147482845" r:id="rId23"/>
    <p:sldId id="2147482804" r:id="rId25"/>
  </p:sldIdLst>
  <p:sldSz cx="9144000" cy="51482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2121"/>
    <a:srgbClr val="15601D"/>
    <a:srgbClr val="6DFD8C"/>
    <a:srgbClr val="CCFFD6"/>
    <a:srgbClr val="00356E"/>
    <a:srgbClr val="B1BFCE"/>
    <a:srgbClr val="FFFFFF"/>
    <a:srgbClr val="B3BFCD"/>
    <a:srgbClr val="B3BECC"/>
    <a:srgbClr val="21ED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0CB48E-FCE8-F0F2-E16A-727BEA00405C}" v="188" dt="2026-03-17T17:21:21.969"/>
    <p1510:client id="{931E3809-198B-AC10-E3FE-176DFF767676}" v="52" dt="2026-03-17T17:11:55.6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58"/>
  </p:normalViewPr>
  <p:slideViewPr>
    <p:cSldViewPr snapToGrid="0">
      <p:cViewPr varScale="1">
        <p:scale>
          <a:sx n="85" d="100"/>
          <a:sy n="85" d="100"/>
        </p:scale>
        <p:origin x="90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048F67-8168-3B43-9BE2-079417FBDB0F}" type="datetimeFigureOut">
              <a:rPr lang="es-CO" smtClean="0"/>
              <a:t>20/04/2026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A9EAED-883F-F34C-91F5-3F423528D29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13063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91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983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974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966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957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949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940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932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A9EAED-883F-F34C-91F5-3F423528D291}" type="slidenum">
              <a:rPr lang="es-CO" smtClean="0"/>
              <a:t>8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828043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E262AF-9322-4116-B063-A7CE15D7F1CA}" type="slidenum">
              <a:rPr lang="es-CO" smtClean="0"/>
              <a:t>14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333945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06EED-5228-7C49-8EE1-2C112C67F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E85886F-2EB1-AF8F-BCAE-C0F65207C6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D56F79D-8AEE-7250-9C13-00297A9821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CEECA58-1AF5-7004-017F-2CAB8FD793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A9EAED-883F-F34C-91F5-3F423528D291}" type="slidenum">
              <a:rPr lang="es-CO" smtClean="0"/>
              <a:t>16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539578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2552"/>
            <a:ext cx="6858000" cy="1792358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4030"/>
            <a:ext cx="6858000" cy="1242971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20/04/2026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33839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20/04/2026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1971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7" y="1283491"/>
            <a:ext cx="7886700" cy="2141534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7" y="3445285"/>
            <a:ext cx="7886700" cy="1126182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20/04/2026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81744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70486"/>
            <a:ext cx="3886200" cy="326652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70486"/>
            <a:ext cx="3886200" cy="326652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20/04/2026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75194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4098"/>
            <a:ext cx="7886700" cy="99509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2040"/>
            <a:ext cx="3868340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80546"/>
            <a:ext cx="3868340" cy="27660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2040"/>
            <a:ext cx="3887391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80546"/>
            <a:ext cx="3887391" cy="27660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20/04/2026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19999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20/04/2026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43786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20/04/2026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90194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1255"/>
            <a:ext cx="4629150" cy="365860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20/04/2026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28841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1255"/>
            <a:ext cx="4629150" cy="3658604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20/04/2026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2487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20/04/2026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28994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4097"/>
            <a:ext cx="1971675" cy="436291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4097"/>
            <a:ext cx="5800725" cy="4362915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20/04/2026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63238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4098"/>
            <a:ext cx="7886700" cy="9950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70486"/>
            <a:ext cx="7886700" cy="32665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35D543-1F4B-4249-95B4-E282C1AB3B00}" type="datetimeFigureOut">
              <a:rPr lang="es-CO" smtClean="0"/>
              <a:t>20/04/2026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71678"/>
            <a:ext cx="30861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34361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3" Type="http://schemas.openxmlformats.org/officeDocument/2006/relationships/image" Target="../media/image6.svg"/><Relationship Id="rId21" Type="http://schemas.openxmlformats.org/officeDocument/2006/relationships/image" Target="../media/image24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" Type="http://schemas.openxmlformats.org/officeDocument/2006/relationships/image" Target="../media/image5.png"/><Relationship Id="rId16" Type="http://schemas.openxmlformats.org/officeDocument/2006/relationships/image" Target="../media/image19.png"/><Relationship Id="rId20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11" Type="http://schemas.openxmlformats.org/officeDocument/2006/relationships/image" Target="../media/image14.png"/><Relationship Id="rId5" Type="http://schemas.openxmlformats.org/officeDocument/2006/relationships/image" Target="../media/image8.sv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19" Type="http://schemas.openxmlformats.org/officeDocument/2006/relationships/image" Target="../media/image22.png"/><Relationship Id="rId4" Type="http://schemas.openxmlformats.org/officeDocument/2006/relationships/image" Target="../media/image7.sv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10" Type="http://schemas.openxmlformats.org/officeDocument/2006/relationships/image" Target="../media/image26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4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sv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50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50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3.png"/><Relationship Id="rId18" Type="http://schemas.openxmlformats.org/officeDocument/2006/relationships/image" Target="../media/image68.png"/><Relationship Id="rId26" Type="http://schemas.openxmlformats.org/officeDocument/2006/relationships/image" Target="../media/image76.png"/><Relationship Id="rId3" Type="http://schemas.openxmlformats.org/officeDocument/2006/relationships/image" Target="../media/image53.png"/><Relationship Id="rId21" Type="http://schemas.openxmlformats.org/officeDocument/2006/relationships/image" Target="../media/image71.png"/><Relationship Id="rId7" Type="http://schemas.openxmlformats.org/officeDocument/2006/relationships/image" Target="../media/image57.png"/><Relationship Id="rId12" Type="http://schemas.openxmlformats.org/officeDocument/2006/relationships/image" Target="../media/image62.png"/><Relationship Id="rId17" Type="http://schemas.openxmlformats.org/officeDocument/2006/relationships/image" Target="../media/image67.png"/><Relationship Id="rId25" Type="http://schemas.openxmlformats.org/officeDocument/2006/relationships/image" Target="../media/image75.png"/><Relationship Id="rId33" Type="http://schemas.openxmlformats.org/officeDocument/2006/relationships/image" Target="../media/image26.png"/><Relationship Id="rId2" Type="http://schemas.openxmlformats.org/officeDocument/2006/relationships/image" Target="../media/image27.png"/><Relationship Id="rId16" Type="http://schemas.openxmlformats.org/officeDocument/2006/relationships/image" Target="../media/image66.png"/><Relationship Id="rId20" Type="http://schemas.openxmlformats.org/officeDocument/2006/relationships/image" Target="../media/image70.png"/><Relationship Id="rId29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11" Type="http://schemas.openxmlformats.org/officeDocument/2006/relationships/image" Target="../media/image61.png"/><Relationship Id="rId24" Type="http://schemas.openxmlformats.org/officeDocument/2006/relationships/image" Target="../media/image74.png"/><Relationship Id="rId32" Type="http://schemas.openxmlformats.org/officeDocument/2006/relationships/image" Target="../media/image30.png"/><Relationship Id="rId5" Type="http://schemas.openxmlformats.org/officeDocument/2006/relationships/image" Target="../media/image55.png"/><Relationship Id="rId15" Type="http://schemas.openxmlformats.org/officeDocument/2006/relationships/image" Target="../media/image65.png"/><Relationship Id="rId23" Type="http://schemas.openxmlformats.org/officeDocument/2006/relationships/image" Target="../media/image73.png"/><Relationship Id="rId28" Type="http://schemas.openxmlformats.org/officeDocument/2006/relationships/image" Target="../media/image78.png"/><Relationship Id="rId10" Type="http://schemas.openxmlformats.org/officeDocument/2006/relationships/image" Target="../media/image60.png"/><Relationship Id="rId19" Type="http://schemas.openxmlformats.org/officeDocument/2006/relationships/image" Target="../media/image69.png"/><Relationship Id="rId31" Type="http://schemas.openxmlformats.org/officeDocument/2006/relationships/image" Target="../media/image81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Relationship Id="rId14" Type="http://schemas.openxmlformats.org/officeDocument/2006/relationships/image" Target="../media/image64.png"/><Relationship Id="rId22" Type="http://schemas.openxmlformats.org/officeDocument/2006/relationships/image" Target="../media/image72.png"/><Relationship Id="rId27" Type="http://schemas.openxmlformats.org/officeDocument/2006/relationships/image" Target="../media/image77.png"/><Relationship Id="rId30" Type="http://schemas.openxmlformats.org/officeDocument/2006/relationships/image" Target="../media/image80.png"/><Relationship Id="rId8" Type="http://schemas.openxmlformats.org/officeDocument/2006/relationships/image" Target="../media/image5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13" Type="http://schemas.openxmlformats.org/officeDocument/2006/relationships/image" Target="../media/image92.png"/><Relationship Id="rId3" Type="http://schemas.openxmlformats.org/officeDocument/2006/relationships/image" Target="../media/image82.png"/><Relationship Id="rId7" Type="http://schemas.openxmlformats.org/officeDocument/2006/relationships/image" Target="../media/image86.png"/><Relationship Id="rId12" Type="http://schemas.openxmlformats.org/officeDocument/2006/relationships/image" Target="../media/image91.png"/><Relationship Id="rId17" Type="http://schemas.openxmlformats.org/officeDocument/2006/relationships/image" Target="../media/image96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9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.png"/><Relationship Id="rId11" Type="http://schemas.openxmlformats.org/officeDocument/2006/relationships/image" Target="../media/image90.png"/><Relationship Id="rId5" Type="http://schemas.openxmlformats.org/officeDocument/2006/relationships/image" Target="../media/image84.png"/><Relationship Id="rId15" Type="http://schemas.openxmlformats.org/officeDocument/2006/relationships/image" Target="../media/image94.png"/><Relationship Id="rId10" Type="http://schemas.openxmlformats.org/officeDocument/2006/relationships/image" Target="../media/image89.png"/><Relationship Id="rId4" Type="http://schemas.openxmlformats.org/officeDocument/2006/relationships/image" Target="../media/image83.png"/><Relationship Id="rId9" Type="http://schemas.openxmlformats.org/officeDocument/2006/relationships/image" Target="../media/image88.png"/><Relationship Id="rId14" Type="http://schemas.openxmlformats.org/officeDocument/2006/relationships/image" Target="../media/image9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svg"/><Relationship Id="rId2" Type="http://schemas.openxmlformats.org/officeDocument/2006/relationships/image" Target="../media/image97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8.png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hyperlink" Target="https://forms.office.com/r/8CpjHiEsEU?propuesta=" TargetMode="External"/><Relationship Id="rId4" Type="http://schemas.openxmlformats.org/officeDocument/2006/relationships/hyperlink" Target="https://forms.office.com/r/8CpjHiEsEU?propuesta=1403317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26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3.png"/><Relationship Id="rId5" Type="http://schemas.openxmlformats.org/officeDocument/2006/relationships/image" Target="../media/image102.png"/><Relationship Id="rId4" Type="http://schemas.openxmlformats.org/officeDocument/2006/relationships/image" Target="../media/image10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sv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svg"/><Relationship Id="rId2" Type="http://schemas.openxmlformats.org/officeDocument/2006/relationships/image" Target="../media/image97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png"/><Relationship Id="rId3" Type="http://schemas.openxmlformats.org/officeDocument/2006/relationships/image" Target="../media/image106.svg"/><Relationship Id="rId7" Type="http://schemas.openxmlformats.org/officeDocument/2006/relationships/image" Target="../media/image110.png"/><Relationship Id="rId2" Type="http://schemas.openxmlformats.org/officeDocument/2006/relationships/image" Target="../media/image10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9.png"/><Relationship Id="rId5" Type="http://schemas.openxmlformats.org/officeDocument/2006/relationships/image" Target="../media/image108.png"/><Relationship Id="rId4" Type="http://schemas.openxmlformats.org/officeDocument/2006/relationships/image" Target="../media/image107.png"/><Relationship Id="rId9" Type="http://schemas.openxmlformats.org/officeDocument/2006/relationships/image" Target="../media/image1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5221EC0A-954F-EDF1-F4D1-F978E445D56A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20000" y="-8869"/>
            <a:ext cx="9184000" cy="5166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95EE1BA-6175-F132-1009-91ACD399F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3264120"/>
            <a:ext cx="7886700" cy="549204"/>
          </a:xfrm>
          <a:effectLst>
            <a:outerShdw blurRad="228966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s-ES" sz="1600" b="1">
                <a:solidFill>
                  <a:srgbClr val="6DFD8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Espacio para poner el título de tu presentación</a:t>
            </a:r>
            <a:endParaRPr lang="es-CO" sz="1400" b="1">
              <a:solidFill>
                <a:srgbClr val="6DFD8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6D3A4FA5-DCF1-29F4-92B9-4D0E6CC6DBF3}"/>
              </a:ext>
            </a:extLst>
          </p:cNvPr>
          <p:cNvCxnSpPr>
            <a:cxnSpLocks/>
          </p:cNvCxnSpPr>
          <p:nvPr/>
        </p:nvCxnSpPr>
        <p:spPr>
          <a:xfrm>
            <a:off x="2333002" y="3302257"/>
            <a:ext cx="4503634" cy="0"/>
          </a:xfrm>
          <a:prstGeom prst="line">
            <a:avLst/>
          </a:prstGeom>
          <a:ln>
            <a:solidFill>
              <a:srgbClr val="6DFD8C"/>
            </a:solidFill>
          </a:ln>
          <a:effectLst>
            <a:outerShdw blurRad="50800" dist="38100" dir="5400000" algn="t" rotWithShape="0">
              <a:prstClr val="black">
                <a:alpha val="30075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4E0BD3CC-1E36-CB1B-CE04-7AA43B1822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3787336"/>
            <a:ext cx="7886700" cy="409882"/>
          </a:xfrm>
          <a:effectLst>
            <a:outerShdw blurRad="228966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 fontScale="55000" lnSpcReduction="20000"/>
          </a:bodyPr>
          <a:lstStyle/>
          <a:p>
            <a:pPr marL="0" indent="0" algn="ctr">
              <a:buNone/>
            </a:pPr>
            <a:r>
              <a:rPr lang="es-MX" sz="16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dd</a:t>
            </a:r>
            <a:r>
              <a:rPr lang="es-MX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de mm de </a:t>
            </a:r>
            <a:r>
              <a:rPr lang="es-MX" sz="16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aaaa</a:t>
            </a:r>
            <a:r>
              <a:rPr lang="es-MX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| ciudad, País.</a:t>
            </a:r>
          </a:p>
          <a:p>
            <a:pPr marL="0" indent="0" algn="ctr">
              <a:buNone/>
            </a:pPr>
            <a:r>
              <a:rPr lang="es-MX" sz="16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Ref.: </a:t>
            </a:r>
            <a:r>
              <a:rPr lang="es-MX" sz="1600" dirty="0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xxxxx</a:t>
            </a:r>
            <a:r>
              <a:rPr lang="es-MX" sz="16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 Vx.0.0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3DC79C6-EACA-7C9A-4E2F-8B6F1DE0EC7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350" y="71593"/>
            <a:ext cx="1477653" cy="368528"/>
          </a:xfrm>
          <a:prstGeom prst="rect">
            <a:avLst/>
          </a:prstGeom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26267181-0C70-690B-6DC3-F845F3AF8C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5882"/>
                    </a14:imgEffect>
                    <a14:imgEffect>
                      <a14:saturation sat="174000"/>
                    </a14:imgEffect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7648" y="1220413"/>
            <a:ext cx="3008704" cy="1016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ángulo redondeado 6">
            <a:extLst>
              <a:ext uri="{FF2B5EF4-FFF2-40B4-BE49-F238E27FC236}">
                <a16:creationId xmlns:a16="http://schemas.microsoft.com/office/drawing/2014/main" id="{70F0D354-2E21-7BF5-9A33-4CB46D05A3D3}"/>
              </a:ext>
            </a:extLst>
          </p:cNvPr>
          <p:cNvSpPr/>
          <p:nvPr/>
        </p:nvSpPr>
        <p:spPr>
          <a:xfrm>
            <a:off x="3413746" y="2455513"/>
            <a:ext cx="2316508" cy="647710"/>
          </a:xfrm>
          <a:prstGeom prst="roundRect">
            <a:avLst/>
          </a:prstGeom>
          <a:solidFill>
            <a:schemeClr val="bg1">
              <a:alpha val="61632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105C1E71-F45A-366A-F369-0DC01B6348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29575" y="2548905"/>
            <a:ext cx="1092200" cy="48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9384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E2B3FC92-AC3A-1FDB-4577-73022DE607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" b="-1"/>
          <a:stretch>
            <a:fillRect/>
          </a:stretch>
        </p:blipFill>
        <p:spPr>
          <a:xfrm>
            <a:off x="-2470" y="5"/>
            <a:ext cx="9148941" cy="5148252"/>
          </a:xfrm>
          <a:prstGeom prst="rect">
            <a:avLst/>
          </a:prstGeom>
        </p:spPr>
      </p:pic>
      <p:sp>
        <p:nvSpPr>
          <p:cNvPr id="6" name="Subtítulo 2">
            <a:extLst>
              <a:ext uri="{FF2B5EF4-FFF2-40B4-BE49-F238E27FC236}">
                <a16:creationId xmlns:a16="http://schemas.microsoft.com/office/drawing/2014/main" id="{A1786FC9-E7DD-A3C0-38A5-CB4583ACE14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7" y="598116"/>
            <a:ext cx="3835337" cy="425597"/>
          </a:xfrm>
          <a:prstGeom prst="rect">
            <a:avLst/>
          </a:prstGeom>
        </p:spPr>
        <p:txBody>
          <a:bodyPr vert="horz" lIns="68516" tIns="34259" rIns="68516" bIns="34259" rtlCol="0">
            <a:no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199"/>
              </a:lnSpc>
            </a:pPr>
            <a:r>
              <a:rPr lang="es-CO" sz="1199">
                <a:solidFill>
                  <a:srgbClr val="333333"/>
                </a:solidFill>
              </a:rPr>
              <a:t>Alcanzamos resultados gracias a nuestra experiencia, capacidad analítica y enfoque en el equipo humano.</a:t>
            </a:r>
          </a:p>
        </p:txBody>
      </p:sp>
      <p:grpSp>
        <p:nvGrpSpPr>
          <p:cNvPr id="55" name="Grupo 54">
            <a:extLst>
              <a:ext uri="{FF2B5EF4-FFF2-40B4-BE49-F238E27FC236}">
                <a16:creationId xmlns:a16="http://schemas.microsoft.com/office/drawing/2014/main" id="{2146C6C9-D45D-82D2-47DD-B60E104DF70D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84178" y="1173562"/>
            <a:ext cx="4536875" cy="617003"/>
            <a:chOff x="84178" y="1255156"/>
            <a:chExt cx="4536875" cy="617003"/>
          </a:xfrm>
        </p:grpSpPr>
        <p:cxnSp>
          <p:nvCxnSpPr>
            <p:cNvPr id="7" name="Conector recto 6">
              <a:extLst>
                <a:ext uri="{FF2B5EF4-FFF2-40B4-BE49-F238E27FC236}">
                  <a16:creationId xmlns:a16="http://schemas.microsoft.com/office/drawing/2014/main" id="{20576C5B-34FD-31A8-24AD-E32876E7C886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1745685" y="1255156"/>
              <a:ext cx="5536" cy="567752"/>
            </a:xfrm>
            <a:prstGeom prst="line">
              <a:avLst/>
            </a:prstGeom>
            <a:ln w="9525">
              <a:solidFill>
                <a:srgbClr val="212121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2" name="Grupo 51">
              <a:extLst>
                <a:ext uri="{FF2B5EF4-FFF2-40B4-BE49-F238E27FC236}">
                  <a16:creationId xmlns:a16="http://schemas.microsoft.com/office/drawing/2014/main" id="{8F056D6D-94B0-989F-2146-19EE665974D9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84178" y="1279734"/>
              <a:ext cx="1618201" cy="592425"/>
              <a:chOff x="84178" y="1279734"/>
              <a:chExt cx="1618201" cy="592425"/>
            </a:xfrm>
          </p:grpSpPr>
          <p:sp>
            <p:nvSpPr>
              <p:cNvPr id="8" name="Subtítulo 2">
                <a:extLst>
                  <a:ext uri="{FF2B5EF4-FFF2-40B4-BE49-F238E27FC236}">
                    <a16:creationId xmlns:a16="http://schemas.microsoft.com/office/drawing/2014/main" id="{6563484A-96C8-073F-BE54-1C4448F94BAF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02138" y="1446561"/>
                <a:ext cx="1292762" cy="425598"/>
              </a:xfrm>
              <a:prstGeom prst="rect">
                <a:avLst/>
              </a:prstGeom>
            </p:spPr>
            <p:txBody>
              <a:bodyPr vert="horz" lIns="68516" tIns="34259" rIns="68516" bIns="34259" rtlCol="0">
                <a:normAutofit/>
              </a:bodyPr>
              <a:lstStyle>
                <a:defPPr>
                  <a:defRPr lang="es-CO"/>
                </a:defPPr>
                <a:lvl1pPr marL="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91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983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974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966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957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949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94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932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ts val="1199"/>
                  </a:lnSpc>
                </a:pPr>
                <a:r>
                  <a:rPr lang="es-CO" sz="899">
                    <a:solidFill>
                      <a:srgbClr val="333333"/>
                    </a:solidFill>
                  </a:rPr>
                  <a:t>de Periferia IT </a:t>
                </a:r>
                <a:r>
                  <a:rPr lang="es-CO" sz="899" err="1">
                    <a:solidFill>
                      <a:srgbClr val="333333"/>
                    </a:solidFill>
                  </a:rPr>
                  <a:t>Group</a:t>
                </a:r>
                <a:r>
                  <a:rPr lang="es-CO" sz="899">
                    <a:solidFill>
                      <a:srgbClr val="333333"/>
                    </a:solidFill>
                  </a:rPr>
                  <a:t> en todo el mundo.</a:t>
                </a:r>
              </a:p>
            </p:txBody>
          </p:sp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B1680AFA-D7AB-8BC7-92FE-8C3065D037B7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84178" y="1279734"/>
                <a:ext cx="1618201" cy="2467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s-CO"/>
                </a:defPPr>
                <a:lvl1pPr marL="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91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983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974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966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957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949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94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932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ts val="1199"/>
                  </a:lnSpc>
                </a:pPr>
                <a:r>
                  <a:rPr lang="es-CO" sz="1099" b="1">
                    <a:solidFill>
                      <a:srgbClr val="15601D"/>
                    </a:solidFill>
                  </a:rPr>
                  <a:t>+ de 1300 colaboradores </a:t>
                </a:r>
              </a:p>
            </p:txBody>
          </p:sp>
        </p:grpSp>
        <p:grpSp>
          <p:nvGrpSpPr>
            <p:cNvPr id="53" name="Grupo 52">
              <a:extLst>
                <a:ext uri="{FF2B5EF4-FFF2-40B4-BE49-F238E27FC236}">
                  <a16:creationId xmlns:a16="http://schemas.microsoft.com/office/drawing/2014/main" id="{2DC36EA6-D21F-B38C-C514-7926874E000B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1820265" y="1289196"/>
              <a:ext cx="1129815" cy="553459"/>
              <a:chOff x="1820265" y="1289196"/>
              <a:chExt cx="1129815" cy="553459"/>
            </a:xfrm>
          </p:grpSpPr>
          <p:sp>
            <p:nvSpPr>
              <p:cNvPr id="10" name="Subtítulo 2">
                <a:extLst>
                  <a:ext uri="{FF2B5EF4-FFF2-40B4-BE49-F238E27FC236}">
                    <a16:creationId xmlns:a16="http://schemas.microsoft.com/office/drawing/2014/main" id="{06F13B96-B259-F046-3A5B-DC3C851C928D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1838706" y="1446562"/>
                <a:ext cx="1088492" cy="396093"/>
              </a:xfrm>
              <a:prstGeom prst="rect">
                <a:avLst/>
              </a:prstGeom>
            </p:spPr>
            <p:txBody>
              <a:bodyPr vert="horz" lIns="68516" tIns="34259" rIns="68516" bIns="34259" rtlCol="0">
                <a:noAutofit/>
              </a:bodyPr>
              <a:lstStyle>
                <a:defPPr>
                  <a:defRPr lang="es-CO"/>
                </a:defPPr>
                <a:lvl1pPr marL="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91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983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974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966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957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949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94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932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ts val="1199"/>
                  </a:lnSpc>
                </a:pPr>
                <a:r>
                  <a:rPr lang="es-CO" sz="899">
                    <a:solidFill>
                      <a:srgbClr val="333333"/>
                    </a:solidFill>
                  </a:rPr>
                  <a:t>como proveedores de servicios.</a:t>
                </a:r>
              </a:p>
            </p:txBody>
          </p:sp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4DEAD53E-7125-496A-8F8D-7FA366A1BB03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1820265" y="1289196"/>
                <a:ext cx="1129815" cy="2467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s-CO"/>
                </a:defPPr>
                <a:lvl1pPr marL="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91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983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974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966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957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949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94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932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ts val="1199"/>
                  </a:lnSpc>
                </a:pPr>
                <a:r>
                  <a:rPr lang="es-CO" sz="1099" b="1">
                    <a:solidFill>
                      <a:srgbClr val="15601D"/>
                    </a:solidFill>
                  </a:rPr>
                  <a:t>Calificación AA+</a:t>
                </a:r>
              </a:p>
            </p:txBody>
          </p:sp>
        </p:grpSp>
        <p:grpSp>
          <p:nvGrpSpPr>
            <p:cNvPr id="54" name="Grupo 53">
              <a:extLst>
                <a:ext uri="{FF2B5EF4-FFF2-40B4-BE49-F238E27FC236}">
                  <a16:creationId xmlns:a16="http://schemas.microsoft.com/office/drawing/2014/main" id="{739B6164-7945-4E7F-E5C9-A545B0F581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78157" y="1289196"/>
              <a:ext cx="1542896" cy="547278"/>
              <a:chOff x="3078157" y="1289196"/>
              <a:chExt cx="1542896" cy="547278"/>
            </a:xfrm>
          </p:grpSpPr>
          <p:sp>
            <p:nvSpPr>
              <p:cNvPr id="12" name="Subtítulo 2">
                <a:extLst>
                  <a:ext uri="{FF2B5EF4-FFF2-40B4-BE49-F238E27FC236}">
                    <a16:creationId xmlns:a16="http://schemas.microsoft.com/office/drawing/2014/main" id="{3069327B-3D18-C597-63E6-8DB3AE87F296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15774" y="1446562"/>
                <a:ext cx="1382246" cy="389912"/>
              </a:xfrm>
              <a:prstGeom prst="rect">
                <a:avLst/>
              </a:prstGeom>
            </p:spPr>
            <p:txBody>
              <a:bodyPr vert="horz" lIns="68516" tIns="34259" rIns="68516" bIns="34259" rtlCol="0">
                <a:noAutofit/>
              </a:bodyPr>
              <a:lstStyle>
                <a:defPPr>
                  <a:defRPr lang="es-CO"/>
                </a:defPPr>
                <a:lvl1pPr marL="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91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983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974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966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957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949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94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932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ts val="1199"/>
                  </a:lnSpc>
                </a:pPr>
                <a:r>
                  <a:rPr lang="es-CO" sz="899">
                    <a:solidFill>
                      <a:srgbClr val="333333"/>
                    </a:solidFill>
                  </a:rPr>
                  <a:t>Incrementan el consumo de nuestros servicios.</a:t>
                </a:r>
              </a:p>
            </p:txBody>
          </p:sp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2DD3B11A-88F7-A077-27EB-911A3F8E156E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78157" y="1289196"/>
                <a:ext cx="1542896" cy="2467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s-CO"/>
                </a:defPPr>
                <a:lvl1pPr marL="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91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983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974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966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957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949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94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932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ts val="1199"/>
                  </a:lnSpc>
                </a:pPr>
                <a:r>
                  <a:rPr lang="es-CO" sz="1099" b="1">
                    <a:solidFill>
                      <a:srgbClr val="15601D"/>
                    </a:solidFill>
                  </a:rPr>
                  <a:t>+ del 89% de clientes</a:t>
                </a:r>
              </a:p>
            </p:txBody>
          </p:sp>
        </p:grpSp>
        <p:cxnSp>
          <p:nvCxnSpPr>
            <p:cNvPr id="14" name="Conector recto 13">
              <a:extLst>
                <a:ext uri="{FF2B5EF4-FFF2-40B4-BE49-F238E27FC236}">
                  <a16:creationId xmlns:a16="http://schemas.microsoft.com/office/drawing/2014/main" id="{8023CFBF-4B2B-2A23-CC54-34116C6FE983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3012319" y="1255156"/>
              <a:ext cx="5536" cy="567752"/>
            </a:xfrm>
            <a:prstGeom prst="line">
              <a:avLst/>
            </a:prstGeom>
            <a:ln w="9525">
              <a:solidFill>
                <a:srgbClr val="212121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8" name="Grupo 67">
            <a:extLst>
              <a:ext uri="{FF2B5EF4-FFF2-40B4-BE49-F238E27FC236}">
                <a16:creationId xmlns:a16="http://schemas.microsoft.com/office/drawing/2014/main" id="{EF77B67F-C25F-CC31-66CD-B4F9FCE6929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47101" y="1923963"/>
            <a:ext cx="5050405" cy="724416"/>
            <a:chOff x="310711" y="1717309"/>
            <a:chExt cx="5050405" cy="724416"/>
          </a:xfrm>
        </p:grpSpPr>
        <p:sp>
          <p:nvSpPr>
            <p:cNvPr id="15" name="Subtítulo 2">
              <a:extLst>
                <a:ext uri="{FF2B5EF4-FFF2-40B4-BE49-F238E27FC236}">
                  <a16:creationId xmlns:a16="http://schemas.microsoft.com/office/drawing/2014/main" id="{C795CA70-38AA-3170-80A7-983569CC095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10711" y="1717309"/>
              <a:ext cx="3257254" cy="263334"/>
            </a:xfrm>
            <a:prstGeom prst="rect">
              <a:avLst/>
            </a:prstGeom>
          </p:spPr>
          <p:txBody>
            <a:bodyPr vert="horz" lIns="68516" tIns="34259" rIns="68516" bIns="34259" rtlCol="0">
              <a:normAutofit/>
            </a:bodyPr>
            <a:lstStyle>
              <a:defPPr>
                <a:defRPr lang="es-CO"/>
              </a:defPPr>
              <a:lvl1pPr marL="0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91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983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974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966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957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949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940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932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ts val="1199"/>
                </a:lnSpc>
              </a:pPr>
              <a:r>
                <a:rPr lang="es-CO" sz="1199" b="1">
                  <a:solidFill>
                    <a:srgbClr val="15601D"/>
                  </a:solidFill>
                </a:rPr>
                <a:t>Expertos en tecnología de vanguardia</a:t>
              </a:r>
              <a:endParaRPr lang="es-CO" sz="1199">
                <a:solidFill>
                  <a:srgbClr val="15601D"/>
                </a:solidFill>
              </a:endParaRPr>
            </a:p>
          </p:txBody>
        </p:sp>
        <p:grpSp>
          <p:nvGrpSpPr>
            <p:cNvPr id="62" name="Grupo 61">
              <a:extLst>
                <a:ext uri="{FF2B5EF4-FFF2-40B4-BE49-F238E27FC236}">
                  <a16:creationId xmlns:a16="http://schemas.microsoft.com/office/drawing/2014/main" id="{9F0CF8C6-0385-53DA-C446-B21AFD3BC1A4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61796" y="1980060"/>
              <a:ext cx="4999320" cy="461665"/>
              <a:chOff x="202138" y="1960396"/>
              <a:chExt cx="4999320" cy="461665"/>
            </a:xfrm>
          </p:grpSpPr>
          <p:grpSp>
            <p:nvGrpSpPr>
              <p:cNvPr id="58" name="Grupo 57">
                <a:extLst>
                  <a:ext uri="{FF2B5EF4-FFF2-40B4-BE49-F238E27FC236}">
                    <a16:creationId xmlns:a16="http://schemas.microsoft.com/office/drawing/2014/main" id="{D5523CC0-1548-B3DE-4C88-B87B923C0301}"/>
                  </a:ext>
                </a:extLst>
              </p:cNvPr>
              <p:cNvGrpSpPr>
                <a:grpSpLocks noGrp="1" noUngrp="1" noRot="1" noMove="1" noResize="1"/>
              </p:cNvGrpSpPr>
              <p:nvPr/>
            </p:nvGrpSpPr>
            <p:grpSpPr>
              <a:xfrm>
                <a:off x="202138" y="2052729"/>
                <a:ext cx="1113355" cy="276999"/>
                <a:chOff x="202138" y="2052729"/>
                <a:chExt cx="1113355" cy="276999"/>
              </a:xfrm>
            </p:grpSpPr>
            <p:sp>
              <p:nvSpPr>
                <p:cNvPr id="16" name="CuadroTexto 15">
                  <a:extLst>
                    <a:ext uri="{FF2B5EF4-FFF2-40B4-BE49-F238E27FC236}">
                      <a16:creationId xmlns:a16="http://schemas.microsoft.com/office/drawing/2014/main" id="{322F6C58-3B1D-D213-9222-3AB62F8A3B2F}"/>
                    </a:ext>
                  </a:extLst>
                </p:cNvPr>
                <p:cNvSpPr txBox="1"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>
                  <a:off x="496287" y="2052729"/>
                  <a:ext cx="819206" cy="276999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>
                  <a:defPPr>
                    <a:defRPr lang="es-CO"/>
                  </a:defPPr>
                  <a:lvl1pPr marL="0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91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983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974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966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957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949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940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932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s-ES" sz="1200">
                      <a:solidFill>
                        <a:srgbClr val="212121"/>
                      </a:solidFill>
                    </a:rPr>
                    <a:t>IT </a:t>
                  </a:r>
                  <a:r>
                    <a:rPr lang="es-ES" sz="1200" err="1">
                      <a:solidFill>
                        <a:srgbClr val="212121"/>
                      </a:solidFill>
                    </a:rPr>
                    <a:t>Staffing</a:t>
                  </a:r>
                  <a:endParaRPr lang="es-ES" sz="1200">
                    <a:solidFill>
                      <a:srgbClr val="212121"/>
                    </a:solidFill>
                  </a:endParaRPr>
                </a:p>
              </p:txBody>
            </p:sp>
            <p:pic>
              <p:nvPicPr>
                <p:cNvPr id="18" name="Gráfico 17">
                  <a:extLst>
                    <a:ext uri="{FF2B5EF4-FFF2-40B4-BE49-F238E27FC236}">
                      <a16:creationId xmlns:a16="http://schemas.microsoft.com/office/drawing/2014/main" id="{64C4E768-6A19-1327-506F-80BE59B0D4C5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cstate="email">
                  <a:extLst>
                    <a:ext uri="{28A0092B-C50C-407E-A947-70E740481C1C}">
                      <a14:useLocalDpi xmlns:a14="http://schemas.microsoft.com/office/drawing/2010/main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02138" y="2071000"/>
                  <a:ext cx="327021" cy="240457"/>
                </a:xfrm>
                <a:prstGeom prst="rect">
                  <a:avLst/>
                </a:prstGeom>
              </p:spPr>
            </p:pic>
          </p:grpSp>
          <p:grpSp>
            <p:nvGrpSpPr>
              <p:cNvPr id="59" name="Grupo 58">
                <a:extLst>
                  <a:ext uri="{FF2B5EF4-FFF2-40B4-BE49-F238E27FC236}">
                    <a16:creationId xmlns:a16="http://schemas.microsoft.com/office/drawing/2014/main" id="{F9AB90C2-CA86-CD7F-26E5-5CFF9368DF5B}"/>
                  </a:ext>
                </a:extLst>
              </p:cNvPr>
              <p:cNvGrpSpPr>
                <a:grpSpLocks noGrp="1" noUngrp="1" noRot="1" noMove="1" noResize="1"/>
              </p:cNvGrpSpPr>
              <p:nvPr/>
            </p:nvGrpSpPr>
            <p:grpSpPr>
              <a:xfrm>
                <a:off x="1393847" y="1960396"/>
                <a:ext cx="1197968" cy="461665"/>
                <a:chOff x="1423343" y="1960396"/>
                <a:chExt cx="1197968" cy="461665"/>
              </a:xfrm>
            </p:grpSpPr>
            <p:sp>
              <p:nvSpPr>
                <p:cNvPr id="21" name="CuadroTexto 20">
                  <a:extLst>
                    <a:ext uri="{FF2B5EF4-FFF2-40B4-BE49-F238E27FC236}">
                      <a16:creationId xmlns:a16="http://schemas.microsoft.com/office/drawing/2014/main" id="{A8AEF274-AF72-586C-393D-4A0BABD5C0AC}"/>
                    </a:ext>
                  </a:extLst>
                </p:cNvPr>
                <p:cNvSpPr txBox="1"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>
                  <a:off x="1880193" y="1960396"/>
                  <a:ext cx="741118" cy="461665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>
                  <a:defPPr>
                    <a:defRPr lang="es-CO"/>
                  </a:defPPr>
                  <a:lvl1pPr marL="0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91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983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974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966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957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949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940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932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s-ES" sz="1200">
                      <a:solidFill>
                        <a:srgbClr val="212121"/>
                      </a:solidFill>
                    </a:rPr>
                    <a:t>Software </a:t>
                  </a:r>
                  <a:r>
                    <a:rPr lang="es-ES" sz="1200" err="1">
                      <a:solidFill>
                        <a:srgbClr val="212121"/>
                      </a:solidFill>
                    </a:rPr>
                    <a:t>factory</a:t>
                  </a:r>
                  <a:endParaRPr lang="es-ES" sz="1200">
                    <a:solidFill>
                      <a:srgbClr val="212121"/>
                    </a:solidFill>
                  </a:endParaRPr>
                </a:p>
              </p:txBody>
            </p:sp>
            <p:pic>
              <p:nvPicPr>
                <p:cNvPr id="20" name="Gráfico 19">
                  <a:extLst>
                    <a:ext uri="{FF2B5EF4-FFF2-40B4-BE49-F238E27FC236}">
                      <a16:creationId xmlns:a16="http://schemas.microsoft.com/office/drawing/2014/main" id="{457B1EDA-9D73-E556-321A-DA9F8078551F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cstate="email">
                  <a:extLst>
                    <a:ext uri="{28A0092B-C50C-407E-A947-70E740481C1C}">
                      <a14:useLocalDpi xmlns:a14="http://schemas.microsoft.com/office/drawing/2010/main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423343" y="2045588"/>
                  <a:ext cx="463890" cy="291280"/>
                </a:xfrm>
                <a:prstGeom prst="rect">
                  <a:avLst/>
                </a:prstGeom>
              </p:spPr>
            </p:pic>
          </p:grpSp>
          <p:grpSp>
            <p:nvGrpSpPr>
              <p:cNvPr id="60" name="Grupo 59">
                <a:extLst>
                  <a:ext uri="{FF2B5EF4-FFF2-40B4-BE49-F238E27FC236}">
                    <a16:creationId xmlns:a16="http://schemas.microsoft.com/office/drawing/2014/main" id="{34ADF1C2-2901-8E1C-88D2-08E5DDEE87C2}"/>
                  </a:ext>
                </a:extLst>
              </p:cNvPr>
              <p:cNvGrpSpPr>
                <a:grpSpLocks noGrp="1" noUngrp="1" noRot="1" noMove="1" noResize="1"/>
              </p:cNvGrpSpPr>
              <p:nvPr/>
            </p:nvGrpSpPr>
            <p:grpSpPr>
              <a:xfrm>
                <a:off x="2684750" y="1960396"/>
                <a:ext cx="1206249" cy="461665"/>
                <a:chOff x="2714246" y="1960396"/>
                <a:chExt cx="1206249" cy="461665"/>
              </a:xfrm>
            </p:grpSpPr>
            <p:sp>
              <p:nvSpPr>
                <p:cNvPr id="24" name="CuadroTexto 23">
                  <a:extLst>
                    <a:ext uri="{FF2B5EF4-FFF2-40B4-BE49-F238E27FC236}">
                      <a16:creationId xmlns:a16="http://schemas.microsoft.com/office/drawing/2014/main" id="{6DCF996F-4A8B-C06B-2BEA-42ADD4DA659A}"/>
                    </a:ext>
                  </a:extLst>
                </p:cNvPr>
                <p:cNvSpPr txBox="1"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>
                  <a:off x="2965767" y="1960396"/>
                  <a:ext cx="954728" cy="461665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>
                  <a:defPPr>
                    <a:defRPr lang="es-CO"/>
                  </a:defPPr>
                  <a:lvl1pPr marL="0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91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983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974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966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957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949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940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932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s-ES" sz="1200" err="1">
                      <a:solidFill>
                        <a:srgbClr val="212121"/>
                      </a:solidFill>
                    </a:rPr>
                    <a:t>Quality</a:t>
                  </a:r>
                  <a:r>
                    <a:rPr lang="es-ES" sz="1200">
                      <a:solidFill>
                        <a:srgbClr val="212121"/>
                      </a:solidFill>
                    </a:rPr>
                    <a:t> </a:t>
                  </a:r>
                  <a:r>
                    <a:rPr lang="es-ES" sz="1200" err="1">
                      <a:solidFill>
                        <a:srgbClr val="212121"/>
                      </a:solidFill>
                    </a:rPr>
                    <a:t>engineering</a:t>
                  </a:r>
                  <a:endParaRPr lang="es-ES" sz="1200">
                    <a:solidFill>
                      <a:srgbClr val="212121"/>
                    </a:solidFill>
                  </a:endParaRPr>
                </a:p>
              </p:txBody>
            </p:sp>
            <p:pic>
              <p:nvPicPr>
                <p:cNvPr id="23" name="Gráfico 22">
                  <a:extLst>
                    <a:ext uri="{FF2B5EF4-FFF2-40B4-BE49-F238E27FC236}">
                      <a16:creationId xmlns:a16="http://schemas.microsoft.com/office/drawing/2014/main" id="{5A7344EF-FEBF-D9B5-3040-12EA25D71332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cstate="email">
                  <a:extLst>
                    <a:ext uri="{28A0092B-C50C-407E-A947-70E740481C1C}">
                      <a14:useLocalDpi xmlns:a14="http://schemas.microsoft.com/office/drawing/2010/main"/>
                    </a:ex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714246" y="2034800"/>
                  <a:ext cx="248127" cy="312856"/>
                </a:xfrm>
                <a:prstGeom prst="rect">
                  <a:avLst/>
                </a:prstGeom>
              </p:spPr>
            </p:pic>
          </p:grpSp>
          <p:grpSp>
            <p:nvGrpSpPr>
              <p:cNvPr id="61" name="Grupo 60">
                <a:extLst>
                  <a:ext uri="{FF2B5EF4-FFF2-40B4-BE49-F238E27FC236}">
                    <a16:creationId xmlns:a16="http://schemas.microsoft.com/office/drawing/2014/main" id="{501F26BC-822D-64B0-0EB9-AF6B56E9307F}"/>
                  </a:ext>
                </a:extLst>
              </p:cNvPr>
              <p:cNvGrpSpPr>
                <a:grpSpLocks noGrp="1" noUngrp="1" noRot="1" noMove="1" noResize="1"/>
              </p:cNvGrpSpPr>
              <p:nvPr/>
            </p:nvGrpSpPr>
            <p:grpSpPr>
              <a:xfrm>
                <a:off x="3926495" y="1960396"/>
                <a:ext cx="1274963" cy="461665"/>
                <a:chOff x="3975655" y="1960396"/>
                <a:chExt cx="1274963" cy="461665"/>
              </a:xfrm>
            </p:grpSpPr>
            <p:pic>
              <p:nvPicPr>
                <p:cNvPr id="26" name="Gráfico 25">
                  <a:extLst>
                    <a:ext uri="{FF2B5EF4-FFF2-40B4-BE49-F238E27FC236}">
                      <a16:creationId xmlns:a16="http://schemas.microsoft.com/office/drawing/2014/main" id="{AE41ADF6-DA02-C5F9-1ED8-11DCD5D91CA2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cstate="email">
                  <a:extLst>
                    <a:ext uri="{28A0092B-C50C-407E-A947-70E740481C1C}">
                      <a14:useLocalDpi xmlns:a14="http://schemas.microsoft.com/office/drawing/2010/main"/>
                    </a:ex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975655" y="2034800"/>
                  <a:ext cx="302068" cy="312856"/>
                </a:xfrm>
                <a:prstGeom prst="rect">
                  <a:avLst/>
                </a:prstGeom>
              </p:spPr>
            </p:pic>
            <p:sp>
              <p:nvSpPr>
                <p:cNvPr id="27" name="CuadroTexto 26">
                  <a:extLst>
                    <a:ext uri="{FF2B5EF4-FFF2-40B4-BE49-F238E27FC236}">
                      <a16:creationId xmlns:a16="http://schemas.microsoft.com/office/drawing/2014/main" id="{686D89CF-E697-5318-F1FF-7F6049C81CFE}"/>
                    </a:ext>
                  </a:extLst>
                </p:cNvPr>
                <p:cNvSpPr txBox="1"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>
                  <a:off x="4277723" y="1960396"/>
                  <a:ext cx="972895" cy="461665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>
                  <a:defPPr>
                    <a:defRPr lang="es-CO"/>
                  </a:defPPr>
                  <a:lvl1pPr marL="0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91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983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974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966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957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949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940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932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s-ES" sz="1200" dirty="0" err="1">
                      <a:solidFill>
                        <a:srgbClr val="212121"/>
                      </a:solidFill>
                    </a:rPr>
                    <a:t>Technology</a:t>
                  </a:r>
                  <a:r>
                    <a:rPr lang="es-ES" sz="1200" dirty="0">
                      <a:solidFill>
                        <a:srgbClr val="212121"/>
                      </a:solidFill>
                    </a:rPr>
                    <a:t> </a:t>
                  </a:r>
                  <a:r>
                    <a:rPr lang="es-ES" sz="1200" dirty="0" err="1">
                      <a:solidFill>
                        <a:srgbClr val="212121"/>
                      </a:solidFill>
                    </a:rPr>
                    <a:t>accelerators</a:t>
                  </a:r>
                  <a:endParaRPr lang="es-ES" sz="1200" dirty="0">
                    <a:solidFill>
                      <a:srgbClr val="212121"/>
                    </a:solidFill>
                  </a:endParaRPr>
                </a:p>
              </p:txBody>
            </p:sp>
          </p:grpSp>
        </p:grpSp>
      </p:grpSp>
      <p:grpSp>
        <p:nvGrpSpPr>
          <p:cNvPr id="66" name="Grupo 65">
            <a:extLst>
              <a:ext uri="{FF2B5EF4-FFF2-40B4-BE49-F238E27FC236}">
                <a16:creationId xmlns:a16="http://schemas.microsoft.com/office/drawing/2014/main" id="{76D3D8C9-DA0B-F7E9-E009-0B9178B978AB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47101" y="2942714"/>
            <a:ext cx="3669057" cy="654597"/>
            <a:chOff x="133453" y="2707395"/>
            <a:chExt cx="3669057" cy="654597"/>
          </a:xfrm>
        </p:grpSpPr>
        <p:sp>
          <p:nvSpPr>
            <p:cNvPr id="29" name="Subtítulo 2">
              <a:extLst>
                <a:ext uri="{FF2B5EF4-FFF2-40B4-BE49-F238E27FC236}">
                  <a16:creationId xmlns:a16="http://schemas.microsoft.com/office/drawing/2014/main" id="{D6608BC5-F45B-1F1B-89E6-0E5720CEBDB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33453" y="2707395"/>
              <a:ext cx="1260394" cy="263334"/>
            </a:xfrm>
            <a:prstGeom prst="rect">
              <a:avLst/>
            </a:prstGeom>
          </p:spPr>
          <p:txBody>
            <a:bodyPr vert="horz" lIns="68516" tIns="34259" rIns="68516" bIns="34259" rtlCol="0">
              <a:normAutofit/>
            </a:bodyPr>
            <a:lstStyle>
              <a:defPPr>
                <a:defRPr lang="es-CO"/>
              </a:defPPr>
              <a:lvl1pPr marL="0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91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983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974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966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957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949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940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932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ts val="1199"/>
                </a:lnSpc>
              </a:pPr>
              <a:r>
                <a:rPr lang="es-ES" sz="1199" b="1">
                  <a:solidFill>
                    <a:srgbClr val="15601D"/>
                  </a:solidFill>
                </a:rPr>
                <a:t>C</a:t>
              </a:r>
              <a:r>
                <a:rPr lang="es-CO" sz="1199" b="1" err="1">
                  <a:solidFill>
                    <a:srgbClr val="15601D"/>
                  </a:solidFill>
                </a:rPr>
                <a:t>ertificaciones</a:t>
              </a:r>
              <a:endParaRPr lang="es-CO" sz="1199">
                <a:solidFill>
                  <a:srgbClr val="15601D"/>
                </a:solidFill>
              </a:endParaRPr>
            </a:p>
          </p:txBody>
        </p:sp>
        <p:grpSp>
          <p:nvGrpSpPr>
            <p:cNvPr id="65" name="Grupo 64">
              <a:extLst>
                <a:ext uri="{FF2B5EF4-FFF2-40B4-BE49-F238E27FC236}">
                  <a16:creationId xmlns:a16="http://schemas.microsoft.com/office/drawing/2014/main" id="{6C1626F9-81C9-4877-BB73-425C2630DC80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02138" y="2992917"/>
              <a:ext cx="1178887" cy="369075"/>
              <a:chOff x="202138" y="3120734"/>
              <a:chExt cx="1178887" cy="369075"/>
            </a:xfrm>
          </p:grpSpPr>
          <p:pic>
            <p:nvPicPr>
              <p:cNvPr id="3" name="Imagen 2">
                <a:extLst>
                  <a:ext uri="{FF2B5EF4-FFF2-40B4-BE49-F238E27FC236}">
                    <a16:creationId xmlns:a16="http://schemas.microsoft.com/office/drawing/2014/main" id="{FD68354C-9B1B-059D-490C-BDEE700F8FD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02138" y="3132242"/>
                <a:ext cx="417305" cy="346058"/>
              </a:xfrm>
              <a:prstGeom prst="rect">
                <a:avLst/>
              </a:prstGeom>
            </p:spPr>
          </p:pic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2B035C53-B191-1A6C-175F-FA90982AACF5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744" y="3120734"/>
                <a:ext cx="781281" cy="369075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>
                <a:defPPr>
                  <a:defRPr lang="es-CO"/>
                </a:defPPr>
                <a:lvl1pPr marL="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91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983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974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966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957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949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94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932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s-ES" sz="899">
                    <a:solidFill>
                      <a:srgbClr val="212121"/>
                    </a:solidFill>
                  </a:rPr>
                  <a:t>ISO</a:t>
                </a:r>
              </a:p>
              <a:p>
                <a:r>
                  <a:rPr lang="es-ES" sz="899">
                    <a:solidFill>
                      <a:srgbClr val="212121"/>
                    </a:solidFill>
                  </a:rPr>
                  <a:t>27001:2022</a:t>
                </a:r>
              </a:p>
            </p:txBody>
          </p:sp>
        </p:grpSp>
        <p:grpSp>
          <p:nvGrpSpPr>
            <p:cNvPr id="64" name="Grupo 63">
              <a:extLst>
                <a:ext uri="{FF2B5EF4-FFF2-40B4-BE49-F238E27FC236}">
                  <a16:creationId xmlns:a16="http://schemas.microsoft.com/office/drawing/2014/main" id="{7C980B06-58F0-92BC-EDA9-F8DEBE7E864E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1431171" y="2992917"/>
              <a:ext cx="1173763" cy="369075"/>
              <a:chOff x="1460667" y="3120734"/>
              <a:chExt cx="1173763" cy="369075"/>
            </a:xfrm>
          </p:grpSpPr>
          <p:pic>
            <p:nvPicPr>
              <p:cNvPr id="17" name="Imagen 16">
                <a:extLst>
                  <a:ext uri="{FF2B5EF4-FFF2-40B4-BE49-F238E27FC236}">
                    <a16:creationId xmlns:a16="http://schemas.microsoft.com/office/drawing/2014/main" id="{ADBAE6E2-3C17-4CAB-AC41-FE3E0950DE7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460667" y="3132242"/>
                <a:ext cx="417305" cy="346058"/>
              </a:xfrm>
              <a:prstGeom prst="rect">
                <a:avLst/>
              </a:prstGeom>
            </p:spPr>
          </p:pic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DEE6A90A-062D-F494-CCC6-FB9BC6A99F87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1853149" y="3120734"/>
                <a:ext cx="781281" cy="369075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>
                <a:defPPr>
                  <a:defRPr lang="es-CO"/>
                </a:defPPr>
                <a:lvl1pPr marL="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91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983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974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966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957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949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94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932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s-ES" sz="899">
                    <a:solidFill>
                      <a:srgbClr val="212121"/>
                    </a:solidFill>
                  </a:rPr>
                  <a:t>ISO</a:t>
                </a:r>
              </a:p>
              <a:p>
                <a:r>
                  <a:rPr lang="es-ES" sz="899">
                    <a:solidFill>
                      <a:srgbClr val="212121"/>
                    </a:solidFill>
                  </a:rPr>
                  <a:t>9001:2015</a:t>
                </a:r>
              </a:p>
            </p:txBody>
          </p:sp>
        </p:grpSp>
        <p:grpSp>
          <p:nvGrpSpPr>
            <p:cNvPr id="63" name="Grupo 62">
              <a:extLst>
                <a:ext uri="{FF2B5EF4-FFF2-40B4-BE49-F238E27FC236}">
                  <a16:creationId xmlns:a16="http://schemas.microsoft.com/office/drawing/2014/main" id="{0580AA48-7A3C-47E6-9EB4-6D3B6EAB8428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0707" y="2992917"/>
              <a:ext cx="1171803" cy="369075"/>
              <a:chOff x="2699531" y="3120734"/>
              <a:chExt cx="1171803" cy="369075"/>
            </a:xfrm>
          </p:grpSpPr>
          <p:pic>
            <p:nvPicPr>
              <p:cNvPr id="22" name="Imagen 21">
                <a:extLst>
                  <a:ext uri="{FF2B5EF4-FFF2-40B4-BE49-F238E27FC236}">
                    <a16:creationId xmlns:a16="http://schemas.microsoft.com/office/drawing/2014/main" id="{C87D3374-C136-2F87-4CDA-A0E9242D239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699531" y="3132242"/>
                <a:ext cx="417305" cy="346058"/>
              </a:xfrm>
              <a:prstGeom prst="rect">
                <a:avLst/>
              </a:prstGeom>
            </p:spPr>
          </p:pic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3D3E6686-7229-6F83-C1D3-E5EDE1CF4898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053" y="3120734"/>
                <a:ext cx="781281" cy="369075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>
                <a:defPPr>
                  <a:defRPr lang="es-CO"/>
                </a:defPPr>
                <a:lvl1pPr marL="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91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983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974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966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957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949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94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932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s-ES" sz="899">
                    <a:solidFill>
                      <a:srgbClr val="212121"/>
                    </a:solidFill>
                  </a:rPr>
                  <a:t>ISO/IEC</a:t>
                </a:r>
              </a:p>
              <a:p>
                <a:r>
                  <a:rPr lang="es-ES" sz="899">
                    <a:solidFill>
                      <a:srgbClr val="212121"/>
                    </a:solidFill>
                  </a:rPr>
                  <a:t>27032:2023</a:t>
                </a:r>
              </a:p>
            </p:txBody>
          </p:sp>
        </p:grpSp>
      </p:grpSp>
      <p:grpSp>
        <p:nvGrpSpPr>
          <p:cNvPr id="67" name="Grupo 66">
            <a:extLst>
              <a:ext uri="{FF2B5EF4-FFF2-40B4-BE49-F238E27FC236}">
                <a16:creationId xmlns:a16="http://schemas.microsoft.com/office/drawing/2014/main" id="{8B7D4922-2582-7F22-8496-EEAD4DFF84BE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33453" y="3886440"/>
            <a:ext cx="4775558" cy="1058448"/>
            <a:chOff x="133453" y="3886440"/>
            <a:chExt cx="4775558" cy="1058448"/>
          </a:xfrm>
        </p:grpSpPr>
        <p:sp>
          <p:nvSpPr>
            <p:cNvPr id="30" name="Subtítulo 2">
              <a:extLst>
                <a:ext uri="{FF2B5EF4-FFF2-40B4-BE49-F238E27FC236}">
                  <a16:creationId xmlns:a16="http://schemas.microsoft.com/office/drawing/2014/main" id="{24C0C7BF-C30D-298F-3F0C-E986C727431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33453" y="3886440"/>
              <a:ext cx="3059505" cy="414731"/>
            </a:xfrm>
            <a:prstGeom prst="rect">
              <a:avLst/>
            </a:prstGeom>
          </p:spPr>
          <p:txBody>
            <a:bodyPr vert="horz" lIns="68516" tIns="34259" rIns="68516" bIns="34259" rtlCol="0">
              <a:noAutofit/>
            </a:bodyPr>
            <a:lstStyle>
              <a:defPPr>
                <a:defRPr lang="es-CO"/>
              </a:defPPr>
              <a:lvl1pPr marL="0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91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983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974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966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957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949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940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932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1199"/>
                </a:lnSpc>
              </a:pPr>
              <a:r>
                <a:rPr lang="es-CO" sz="1199" b="1">
                  <a:solidFill>
                    <a:srgbClr val="15601D"/>
                  </a:solidFill>
                </a:rPr>
                <a:t>Forma parte de este grupo de clientes que evoluciona sus empresas</a:t>
              </a:r>
            </a:p>
          </p:txBody>
        </p:sp>
        <p:grpSp>
          <p:nvGrpSpPr>
            <p:cNvPr id="31" name="Grupo 30">
              <a:extLst>
                <a:ext uri="{FF2B5EF4-FFF2-40B4-BE49-F238E27FC236}">
                  <a16:creationId xmlns:a16="http://schemas.microsoft.com/office/drawing/2014/main" id="{E0FE7441-031C-3259-72A3-179B33718C39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185289" y="4306410"/>
              <a:ext cx="4723722" cy="638478"/>
              <a:chOff x="224972" y="4221577"/>
              <a:chExt cx="4676550" cy="724444"/>
            </a:xfrm>
          </p:grpSpPr>
          <p:pic>
            <p:nvPicPr>
              <p:cNvPr id="32" name="Imagen 31">
                <a:extLst>
                  <a:ext uri="{FF2B5EF4-FFF2-40B4-BE49-F238E27FC236}">
                    <a16:creationId xmlns:a16="http://schemas.microsoft.com/office/drawing/2014/main" id="{054ECC65-CBA0-5D45-7BEF-92196219233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8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24972" y="4341726"/>
                <a:ext cx="706116" cy="96289"/>
              </a:xfrm>
              <a:prstGeom prst="rect">
                <a:avLst/>
              </a:prstGeom>
            </p:spPr>
          </p:pic>
          <p:pic>
            <p:nvPicPr>
              <p:cNvPr id="33" name="Imagen 32">
                <a:extLst>
                  <a:ext uri="{FF2B5EF4-FFF2-40B4-BE49-F238E27FC236}">
                    <a16:creationId xmlns:a16="http://schemas.microsoft.com/office/drawing/2014/main" id="{4ADA94B0-4E60-BC5A-AE51-9362B42525A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9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4392208" y="4313670"/>
                <a:ext cx="485775" cy="152400"/>
              </a:xfrm>
              <a:prstGeom prst="rect">
                <a:avLst/>
              </a:prstGeom>
            </p:spPr>
          </p:pic>
          <p:pic>
            <p:nvPicPr>
              <p:cNvPr id="34" name="Imagen 33" descr="Texto&#10;&#10;Descripción generada automáticamente">
                <a:extLst>
                  <a:ext uri="{FF2B5EF4-FFF2-40B4-BE49-F238E27FC236}">
                    <a16:creationId xmlns:a16="http://schemas.microsoft.com/office/drawing/2014/main" id="{B388922D-4876-935C-940E-49FBE8D4642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3605954" y="4632605"/>
                <a:ext cx="471180" cy="173974"/>
              </a:xfrm>
              <a:prstGeom prst="rect">
                <a:avLst/>
              </a:prstGeom>
            </p:spPr>
          </p:pic>
          <p:pic>
            <p:nvPicPr>
              <p:cNvPr id="35" name="Imagen 34">
                <a:extLst>
                  <a:ext uri="{FF2B5EF4-FFF2-40B4-BE49-F238E27FC236}">
                    <a16:creationId xmlns:a16="http://schemas.microsoft.com/office/drawing/2014/main" id="{1C5ECEAC-3F41-9D80-2EAB-AFEFD9EED59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1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800765" y="4303925"/>
                <a:ext cx="485775" cy="171890"/>
              </a:xfrm>
              <a:prstGeom prst="rect">
                <a:avLst/>
              </a:prstGeom>
            </p:spPr>
          </p:pic>
          <p:pic>
            <p:nvPicPr>
              <p:cNvPr id="36" name="Imagen 35">
                <a:extLst>
                  <a:ext uri="{FF2B5EF4-FFF2-40B4-BE49-F238E27FC236}">
                    <a16:creationId xmlns:a16="http://schemas.microsoft.com/office/drawing/2014/main" id="{CCF1CC28-2252-72BF-86A2-346370327FF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070135" y="4327307"/>
                <a:ext cx="693005" cy="125126"/>
              </a:xfrm>
              <a:prstGeom prst="rect">
                <a:avLst/>
              </a:prstGeom>
            </p:spPr>
          </p:pic>
          <p:pic>
            <p:nvPicPr>
              <p:cNvPr id="37" name="Imagen 36">
                <a:extLst>
                  <a:ext uri="{FF2B5EF4-FFF2-40B4-BE49-F238E27FC236}">
                    <a16:creationId xmlns:a16="http://schemas.microsoft.com/office/drawing/2014/main" id="{617F3E92-6323-B46E-97EC-3DA27FCF001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924369" y="4291996"/>
                <a:ext cx="630742" cy="195748"/>
              </a:xfrm>
              <a:prstGeom prst="rect">
                <a:avLst/>
              </a:prstGeom>
            </p:spPr>
          </p:pic>
          <p:pic>
            <p:nvPicPr>
              <p:cNvPr id="38" name="Imagen 37" descr="Logotipo&#10;&#10;Descripción generada automáticamente">
                <a:extLst>
                  <a:ext uri="{FF2B5EF4-FFF2-40B4-BE49-F238E27FC236}">
                    <a16:creationId xmlns:a16="http://schemas.microsoft.com/office/drawing/2014/main" id="{F3E06ACC-1A38-5E05-C4B8-7C8ACAAEA11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4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3539095" y="4310390"/>
                <a:ext cx="604898" cy="158960"/>
              </a:xfrm>
              <a:prstGeom prst="rect">
                <a:avLst/>
              </a:prstGeom>
            </p:spPr>
          </p:pic>
          <p:pic>
            <p:nvPicPr>
              <p:cNvPr id="39" name="Imagen 38" descr="Logotipo&#10;&#10;Descripción generada automáticamente con confianza media">
                <a:extLst>
                  <a:ext uri="{FF2B5EF4-FFF2-40B4-BE49-F238E27FC236}">
                    <a16:creationId xmlns:a16="http://schemas.microsoft.com/office/drawing/2014/main" id="{886030E8-9803-7942-AB14-37925FD3F4A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5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65399" y="4609373"/>
                <a:ext cx="625262" cy="220439"/>
              </a:xfrm>
              <a:prstGeom prst="rect">
                <a:avLst/>
              </a:prstGeom>
            </p:spPr>
          </p:pic>
          <p:pic>
            <p:nvPicPr>
              <p:cNvPr id="40" name="Imagen 39">
                <a:extLst>
                  <a:ext uri="{FF2B5EF4-FFF2-40B4-BE49-F238E27FC236}">
                    <a16:creationId xmlns:a16="http://schemas.microsoft.com/office/drawing/2014/main" id="{E9EE6FBC-EB79-F5FE-C380-FD2E883EAF7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6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263887" y="4582921"/>
                <a:ext cx="305500" cy="273342"/>
              </a:xfrm>
              <a:prstGeom prst="rect">
                <a:avLst/>
              </a:prstGeom>
            </p:spPr>
          </p:pic>
          <p:pic>
            <p:nvPicPr>
              <p:cNvPr id="41" name="Imagen 40">
                <a:extLst>
                  <a:ext uri="{FF2B5EF4-FFF2-40B4-BE49-F238E27FC236}">
                    <a16:creationId xmlns:a16="http://schemas.microsoft.com/office/drawing/2014/main" id="{926C8D51-90C0-1F70-2996-D1A6A76F2E8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7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961505" y="4633243"/>
                <a:ext cx="556470" cy="172698"/>
              </a:xfrm>
              <a:prstGeom prst="rect">
                <a:avLst/>
              </a:prstGeom>
            </p:spPr>
          </p:pic>
          <p:pic>
            <p:nvPicPr>
              <p:cNvPr id="42" name="Imagen 41">
                <a:extLst>
                  <a:ext uri="{FF2B5EF4-FFF2-40B4-BE49-F238E27FC236}">
                    <a16:creationId xmlns:a16="http://schemas.microsoft.com/office/drawing/2014/main" id="{76C1F26E-DC38-5D8D-B52D-29AA87A8A67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8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890902" y="4619515"/>
                <a:ext cx="305500" cy="200155"/>
              </a:xfrm>
              <a:prstGeom prst="rect">
                <a:avLst/>
              </a:prstGeom>
            </p:spPr>
          </p:pic>
          <p:pic>
            <p:nvPicPr>
              <p:cNvPr id="43" name="Imagen 42">
                <a:extLst>
                  <a:ext uri="{FF2B5EF4-FFF2-40B4-BE49-F238E27FC236}">
                    <a16:creationId xmlns:a16="http://schemas.microsoft.com/office/drawing/2014/main" id="{DB066898-FE04-7C18-681D-9B283331C0A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9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4368669" y="4655968"/>
                <a:ext cx="532853" cy="127248"/>
              </a:xfrm>
              <a:prstGeom prst="rect">
                <a:avLst/>
              </a:prstGeom>
            </p:spPr>
          </p:pic>
          <p:cxnSp>
            <p:nvCxnSpPr>
              <p:cNvPr id="44" name="Conector recto 43">
                <a:extLst>
                  <a:ext uri="{FF2B5EF4-FFF2-40B4-BE49-F238E27FC236}">
                    <a16:creationId xmlns:a16="http://schemas.microsoft.com/office/drawing/2014/main" id="{DF404E1B-2BA7-53A7-4B0D-A80D343C1863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>
                <a:off x="1007942" y="4221577"/>
                <a:ext cx="0" cy="724444"/>
              </a:xfrm>
              <a:prstGeom prst="line">
                <a:avLst/>
              </a:prstGeom>
              <a:ln w="6350">
                <a:solidFill>
                  <a:schemeClr val="tx1">
                    <a:lumMod val="50000"/>
                    <a:lumOff val="50000"/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Conector recto 44">
                <a:extLst>
                  <a:ext uri="{FF2B5EF4-FFF2-40B4-BE49-F238E27FC236}">
                    <a16:creationId xmlns:a16="http://schemas.microsoft.com/office/drawing/2014/main" id="{09983206-0556-C4AC-14D3-16853D204665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>
                <a:off x="1828557" y="4221577"/>
                <a:ext cx="0" cy="724444"/>
              </a:xfrm>
              <a:prstGeom prst="line">
                <a:avLst/>
              </a:prstGeom>
              <a:ln w="6350">
                <a:solidFill>
                  <a:schemeClr val="tx1">
                    <a:lumMod val="50000"/>
                    <a:lumOff val="50000"/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Conector recto 45">
                <a:extLst>
                  <a:ext uri="{FF2B5EF4-FFF2-40B4-BE49-F238E27FC236}">
                    <a16:creationId xmlns:a16="http://schemas.microsoft.com/office/drawing/2014/main" id="{CA9085DD-1AFE-72E0-93AD-944BF31D3390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>
                <a:off x="2654197" y="4221577"/>
                <a:ext cx="0" cy="724444"/>
              </a:xfrm>
              <a:prstGeom prst="line">
                <a:avLst/>
              </a:prstGeom>
              <a:ln w="6350">
                <a:solidFill>
                  <a:schemeClr val="tx1">
                    <a:lumMod val="50000"/>
                    <a:lumOff val="50000"/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Conector recto 46">
                <a:extLst>
                  <a:ext uri="{FF2B5EF4-FFF2-40B4-BE49-F238E27FC236}">
                    <a16:creationId xmlns:a16="http://schemas.microsoft.com/office/drawing/2014/main" id="{D7EB1D0E-3BA0-3909-878E-B1F57325BA14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>
                <a:off x="3420384" y="4221577"/>
                <a:ext cx="0" cy="724444"/>
              </a:xfrm>
              <a:prstGeom prst="line">
                <a:avLst/>
              </a:prstGeom>
              <a:ln w="6350">
                <a:solidFill>
                  <a:schemeClr val="tx1">
                    <a:lumMod val="50000"/>
                    <a:lumOff val="50000"/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Conector recto 47">
                <a:extLst>
                  <a:ext uri="{FF2B5EF4-FFF2-40B4-BE49-F238E27FC236}">
                    <a16:creationId xmlns:a16="http://schemas.microsoft.com/office/drawing/2014/main" id="{5B838F8B-ACAB-678D-B73F-B0E6363319FF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>
                <a:off x="4256072" y="4221577"/>
                <a:ext cx="0" cy="724444"/>
              </a:xfrm>
              <a:prstGeom prst="line">
                <a:avLst/>
              </a:prstGeom>
              <a:ln w="6350">
                <a:solidFill>
                  <a:schemeClr val="tx1">
                    <a:lumMod val="50000"/>
                    <a:lumOff val="50000"/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9" name="CuadroTexto 48">
            <a:extLst>
              <a:ext uri="{FF2B5EF4-FFF2-40B4-BE49-F238E27FC236}">
                <a16:creationId xmlns:a16="http://schemas.microsoft.com/office/drawing/2014/main" id="{F1D894EB-BF9B-4DFE-27C4-CAE58F19FCB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503747" y="4063912"/>
            <a:ext cx="2418232" cy="402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ts val="1199"/>
              </a:lnSpc>
            </a:pPr>
            <a:r>
              <a:rPr lang="es-CO" sz="1199" b="1">
                <a:solidFill>
                  <a:srgbClr val="15601D"/>
                </a:solidFill>
              </a:rPr>
              <a:t>Desafiamos barreras, </a:t>
            </a:r>
          </a:p>
          <a:p>
            <a:pPr algn="r">
              <a:lnSpc>
                <a:spcPts val="1199"/>
              </a:lnSpc>
            </a:pPr>
            <a:r>
              <a:rPr lang="es-CO" sz="1199" b="1">
                <a:solidFill>
                  <a:srgbClr val="15601D"/>
                </a:solidFill>
              </a:rPr>
              <a:t>brindando respaldo internacional </a:t>
            </a:r>
          </a:p>
        </p:txBody>
      </p:sp>
      <p:pic>
        <p:nvPicPr>
          <p:cNvPr id="51" name="Imagen 50">
            <a:extLst>
              <a:ext uri="{FF2B5EF4-FFF2-40B4-BE49-F238E27FC236}">
                <a16:creationId xmlns:a16="http://schemas.microsoft.com/office/drawing/2014/main" id="{BAD37AEA-30C9-8653-4491-30E60AB2E3E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87273" y="4562897"/>
            <a:ext cx="3034706" cy="381991"/>
          </a:xfrm>
          <a:prstGeom prst="rect">
            <a:avLst/>
          </a:prstGeom>
        </p:spPr>
      </p:pic>
      <p:pic>
        <p:nvPicPr>
          <p:cNvPr id="56" name="Picture 2">
            <a:extLst>
              <a:ext uri="{FF2B5EF4-FFF2-40B4-BE49-F238E27FC236}">
                <a16:creationId xmlns:a16="http://schemas.microsoft.com/office/drawing/2014/main" id="{E7328759-C5C6-218A-BC08-C1CCC6627F6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03888" y="154936"/>
            <a:ext cx="758098" cy="256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Subtítulo 2">
            <a:extLst>
              <a:ext uri="{FF2B5EF4-FFF2-40B4-BE49-F238E27FC236}">
                <a16:creationId xmlns:a16="http://schemas.microsoft.com/office/drawing/2014/main" id="{43B76E3A-ECA9-8AE0-63C6-3803AC4D269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454553" y="2573338"/>
            <a:ext cx="2418232" cy="763002"/>
          </a:xfrm>
          <a:prstGeom prst="rect">
            <a:avLst/>
          </a:prstGeom>
        </p:spPr>
        <p:txBody>
          <a:bodyPr vert="horz" lIns="68516" tIns="34259" rIns="68516" bIns="34259" rtlCol="0">
            <a:no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600"/>
              </a:lnSpc>
            </a:pPr>
            <a:r>
              <a:rPr lang="es-CO" sz="1700" b="1">
                <a:solidFill>
                  <a:schemeClr val="bg1"/>
                </a:solidFill>
              </a:rPr>
              <a:t>+ de 20 años brindando soluciones de tecnología a proyectos y negocios.</a:t>
            </a:r>
          </a:p>
        </p:txBody>
      </p:sp>
    </p:spTree>
    <p:extLst>
      <p:ext uri="{BB962C8B-B14F-4D97-AF65-F5344CB8AC3E}">
        <p14:creationId xmlns:p14="http://schemas.microsoft.com/office/powerpoint/2010/main" val="14028560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D416AEF1-A44E-8640-8F31-AE08F933AA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9999" y="-8869"/>
            <a:ext cx="9183999" cy="5166000"/>
          </a:xfrm>
        </p:spPr>
      </p:pic>
      <p:sp>
        <p:nvSpPr>
          <p:cNvPr id="6" name="Marcador de contenido 6">
            <a:extLst>
              <a:ext uri="{FF2B5EF4-FFF2-40B4-BE49-F238E27FC236}">
                <a16:creationId xmlns:a16="http://schemas.microsoft.com/office/drawing/2014/main" id="{144E798A-E2D6-13E4-90EB-A3218F2EC31A}"/>
              </a:ext>
            </a:extLst>
          </p:cNvPr>
          <p:cNvSpPr txBox="1">
            <a:spLocks/>
          </p:cNvSpPr>
          <p:nvPr/>
        </p:nvSpPr>
        <p:spPr>
          <a:xfrm>
            <a:off x="356790" y="1307939"/>
            <a:ext cx="3758009" cy="6944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es-CO" sz="2000" b="1">
                <a:solidFill>
                  <a:srgbClr val="15601D"/>
                </a:solidFill>
                <a:latin typeface="Arial Black" panose="020B0604020202020204" pitchFamily="34" charset="0"/>
                <a:cs typeface="Calibri" panose="020F0502020204030204" pitchFamily="34" charset="0"/>
              </a:rPr>
              <a:t>Confidencialidad de la Propuesta</a:t>
            </a:r>
            <a:endParaRPr lang="es-CO" sz="2200" b="1">
              <a:solidFill>
                <a:srgbClr val="15601D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169E2F9-926E-6AB7-3FA3-6F585771A333}"/>
              </a:ext>
            </a:extLst>
          </p:cNvPr>
          <p:cNvSpPr txBox="1"/>
          <p:nvPr/>
        </p:nvSpPr>
        <p:spPr>
          <a:xfrm>
            <a:off x="356790" y="2155454"/>
            <a:ext cx="397011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1600"/>
              <a:t>El contenido de la presente propuesta es de carácter confidencial entre </a:t>
            </a:r>
            <a:r>
              <a:rPr lang="es-MX" sz="1600" b="1"/>
              <a:t>PERIFERIA IT CORP </a:t>
            </a:r>
            <a:r>
              <a:rPr lang="es-MX" sz="1600"/>
              <a:t>y </a:t>
            </a:r>
            <a:r>
              <a:rPr lang="es-MX" sz="1600">
                <a:solidFill>
                  <a:schemeClr val="accent1"/>
                </a:solidFill>
              </a:rPr>
              <a:t>XXXXXXXXXX</a:t>
            </a:r>
            <a:r>
              <a:rPr lang="es-MX" sz="1600"/>
              <a:t>; en caso de utilizar o disponer de la solución, es indispensable una autorización previa firma por el representante legal de </a:t>
            </a:r>
            <a:r>
              <a:rPr lang="es-MX" sz="1600" b="1"/>
              <a:t>PERIFERIA IT CORP</a:t>
            </a:r>
            <a:r>
              <a:rPr lang="es-MX" sz="1600"/>
              <a:t>.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CC260966-5B8A-9E59-9B62-C9E15ECA89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023" y="100760"/>
            <a:ext cx="758098" cy="256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9542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51E77E99-5208-D6E4-C69F-40C5F1BE37B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2381"/>
            <a:ext cx="9148234" cy="5145882"/>
          </a:xfrm>
          <a:prstGeom prst="rect">
            <a:avLst/>
          </a:prstGeom>
        </p:spPr>
      </p:pic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B868673C-19F4-1216-9FA8-0F63E54501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649" y="613117"/>
            <a:ext cx="5950523" cy="383183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s-CO" sz="22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Objetivo del Servicio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8398096-7B7E-6303-C785-CF7C90685067}"/>
              </a:ext>
            </a:extLst>
          </p:cNvPr>
          <p:cNvSpPr txBox="1"/>
          <p:nvPr/>
        </p:nvSpPr>
        <p:spPr>
          <a:xfrm>
            <a:off x="431649" y="996300"/>
            <a:ext cx="84106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1200"/>
              <a:t>Presentar a </a:t>
            </a:r>
            <a:r>
              <a:rPr lang="es-CO" sz="1200">
                <a:solidFill>
                  <a:schemeClr val="accent1"/>
                </a:solidFill>
              </a:rPr>
              <a:t>XXXXXX</a:t>
            </a:r>
            <a:r>
              <a:rPr lang="es-CO" sz="1200"/>
              <a:t>  los servicios de xxxxxxxxxxxxxxxxxxxxxxxxxxxxxxxxxxxxxxxxxxxxxxxxxxxxxxxxxxxxxxxxxxxxxxxxxxxxxxxxxxxxxxxxxxxxxxxxxxxxxxxxxxxxxxxxxxxxxxxxxxxxxxxxxxxxxxxxxxxxxxxxxxxxxxxxxxxxxxxxxxxxxxxxxxxxx. </a:t>
            </a:r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EB60FE6F-5678-0B74-1614-DC26AFA14005}"/>
              </a:ext>
            </a:extLst>
          </p:cNvPr>
          <p:cNvCxnSpPr>
            <a:cxnSpLocks/>
          </p:cNvCxnSpPr>
          <p:nvPr/>
        </p:nvCxnSpPr>
        <p:spPr>
          <a:xfrm>
            <a:off x="868101" y="311789"/>
            <a:ext cx="7057423" cy="0"/>
          </a:xfrm>
          <a:prstGeom prst="line">
            <a:avLst/>
          </a:prstGeom>
          <a:ln w="12700" cap="rnd">
            <a:gradFill>
              <a:gsLst>
                <a:gs pos="0">
                  <a:srgbClr val="15601D"/>
                </a:gs>
                <a:gs pos="100000">
                  <a:srgbClr val="15601D">
                    <a:alpha val="0"/>
                  </a:srgbClr>
                </a:gs>
              </a:gsLst>
              <a:lin ang="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AFC1753C-561B-AF63-A7FA-2964B2A0677A}"/>
              </a:ext>
            </a:extLst>
          </p:cNvPr>
          <p:cNvSpPr/>
          <p:nvPr/>
        </p:nvSpPr>
        <p:spPr>
          <a:xfrm>
            <a:off x="431649" y="1693264"/>
            <a:ext cx="8141835" cy="1091661"/>
          </a:xfrm>
          <a:prstGeom prst="roundRect">
            <a:avLst>
              <a:gd name="adj" fmla="val 3508"/>
            </a:avLst>
          </a:prstGeom>
          <a:gradFill>
            <a:gsLst>
              <a:gs pos="0">
                <a:srgbClr val="02AE3E"/>
              </a:gs>
              <a:gs pos="100000">
                <a:srgbClr val="1D5180"/>
              </a:gs>
            </a:gsLst>
            <a:lin ang="14400000" scaled="0"/>
          </a:gradFill>
          <a:ln>
            <a:noFill/>
          </a:ln>
          <a:effectLst>
            <a:outerShdw blurRad="1016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0" rIns="91440" bIns="0" rtlCol="0" anchor="ctr"/>
          <a:lstStyle/>
          <a:p>
            <a:pPr algn="just"/>
            <a:r>
              <a:rPr lang="es-ES" sz="1200">
                <a:solidFill>
                  <a:schemeClr val="bg1"/>
                </a:solidFill>
                <a:cs typeface="Arial"/>
              </a:rPr>
              <a:t>Xxxxxxxxxxxxxxxxxxxxxxxxxxxxxxxxxxxxxxxxxxxxxxxxxxxxxxxxxxxxxxxxxxxxxxxxxxxxxxxxxxxxxxxxxxxxxxxxxxxxxxxxxxxxxxxxxxxxxxxxxxxxxxxxxxxxxxxxxxxxxxxxxxxxxxxxxxxxxxxxxxxxx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DFA14E07-A4E0-B347-0E2E-49421AC8FEB5}"/>
              </a:ext>
            </a:extLst>
          </p:cNvPr>
          <p:cNvSpPr txBox="1">
            <a:spLocks/>
          </p:cNvSpPr>
          <p:nvPr/>
        </p:nvSpPr>
        <p:spPr>
          <a:xfrm>
            <a:off x="564836" y="2229044"/>
            <a:ext cx="597187" cy="366178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s-ES" sz="16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AS-IS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A1E79CC-8F60-76AF-6830-85B9BFCF0671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25000"/>
          </a:blip>
          <a:srcRect/>
          <a:stretch/>
        </p:blipFill>
        <p:spPr>
          <a:xfrm>
            <a:off x="667153" y="1813738"/>
            <a:ext cx="366178" cy="364785"/>
          </a:xfrm>
          <a:prstGeom prst="rect">
            <a:avLst/>
          </a:prstGeom>
        </p:spPr>
      </p:pic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3B1B0C7C-1FE4-2C33-FE39-9E3E47247903}"/>
              </a:ext>
            </a:extLst>
          </p:cNvPr>
          <p:cNvSpPr/>
          <p:nvPr/>
        </p:nvSpPr>
        <p:spPr>
          <a:xfrm>
            <a:off x="431650" y="2901061"/>
            <a:ext cx="8141834" cy="1262970"/>
          </a:xfrm>
          <a:prstGeom prst="roundRect">
            <a:avLst>
              <a:gd name="adj" fmla="val 3508"/>
            </a:avLst>
          </a:prstGeom>
          <a:gradFill>
            <a:gsLst>
              <a:gs pos="0">
                <a:srgbClr val="02AE3E"/>
              </a:gs>
              <a:gs pos="100000">
                <a:srgbClr val="1D5180"/>
              </a:gs>
            </a:gsLst>
            <a:lin ang="14400000" scaled="0"/>
          </a:gradFill>
          <a:ln>
            <a:noFill/>
          </a:ln>
          <a:effectLst>
            <a:outerShdw blurRad="1016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0" rIns="91440" bIns="0" rtlCol="0" anchor="ctr"/>
          <a:lstStyle/>
          <a:p>
            <a:pPr algn="just"/>
            <a:r>
              <a:rPr lang="es-ES" sz="1200">
                <a:solidFill>
                  <a:schemeClr val="bg1"/>
                </a:solidFill>
                <a:cs typeface="Arial"/>
              </a:rPr>
              <a:t>Xxxxxxxxxxxxxxxxxxxxxxxxxxxxxxxxxxxxxxxxxxxxxxxxxxxxxxxxxxxxxxxxxxxxxxxxxxxxxxxxxxxxxxxxxxxxxxxxxxxxxxxxxxxxxxxxxxxxxxxxxxxxxxxxxxxxxxxxxxxxxxxxxxxxxxxxxxxxxxxxxxxxx</a:t>
            </a:r>
            <a:endParaRPr lang="en-US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6E2A7BBE-6717-2741-7BCA-E132F550A6DB}"/>
              </a:ext>
            </a:extLst>
          </p:cNvPr>
          <p:cNvSpPr txBox="1">
            <a:spLocks/>
          </p:cNvSpPr>
          <p:nvPr/>
        </p:nvSpPr>
        <p:spPr>
          <a:xfrm>
            <a:off x="564836" y="3350638"/>
            <a:ext cx="608165" cy="366178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s-ES" sz="1600" b="1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es-ES" sz="16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-Be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ED3E04A2-40E9-99B2-53DE-A3CBF3CE9CEF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25000"/>
          </a:blip>
          <a:srcRect/>
          <a:stretch/>
        </p:blipFill>
        <p:spPr>
          <a:xfrm>
            <a:off x="638747" y="2984460"/>
            <a:ext cx="354022" cy="366178"/>
          </a:xfrm>
          <a:prstGeom prst="rect">
            <a:avLst/>
          </a:prstGeom>
        </p:spPr>
      </p:pic>
      <p:sp>
        <p:nvSpPr>
          <p:cNvPr id="14" name="Redondear rectángulo de esquina diagonal 14">
            <a:extLst>
              <a:ext uri="{FF2B5EF4-FFF2-40B4-BE49-F238E27FC236}">
                <a16:creationId xmlns:a16="http://schemas.microsoft.com/office/drawing/2014/main" id="{F18425BF-0899-A0F2-EC0C-CD7814FE84EB}"/>
              </a:ext>
            </a:extLst>
          </p:cNvPr>
          <p:cNvSpPr/>
          <p:nvPr/>
        </p:nvSpPr>
        <p:spPr>
          <a:xfrm>
            <a:off x="4173270" y="4535953"/>
            <a:ext cx="4899660" cy="568047"/>
          </a:xfrm>
          <a:prstGeom prst="round2DiagRect">
            <a:avLst>
              <a:gd name="adj1" fmla="val 13848"/>
              <a:gd name="adj2" fmla="val 25414"/>
            </a:avLst>
          </a:prstGeom>
          <a:gradFill>
            <a:gsLst>
              <a:gs pos="0">
                <a:schemeClr val="bg1"/>
              </a:gs>
              <a:gs pos="100000">
                <a:srgbClr val="E4EFD9"/>
              </a:gs>
            </a:gsLst>
            <a:lin ang="0" scaled="0"/>
          </a:gradFill>
          <a:ln>
            <a:noFill/>
          </a:ln>
          <a:effectLst>
            <a:outerShdw blurRad="190500" dist="38100" dir="8100000" algn="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504000" tIns="0" rIns="0" bIns="0" rtlCol="0" anchor="ctr"/>
          <a:lstStyle/>
          <a:p>
            <a:r>
              <a:rPr lang="es-ES" sz="1050" i="1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 propuesta se presenta de acuerdo con xxxxxxxxxxxxxxxxxxxxxxxxxxxxxxxxxxxxxxxxxxxxxxxxxxxxxxxxxxxxxxxxxxxxxxxxxxxxxxxxxxxxxxxxxxxxxxxxxxxxxxxxxxxxxxxxxxxxxxxxxx.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19655519-03E0-240F-4305-8C33670AFF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8563" y="4658257"/>
            <a:ext cx="323437" cy="323437"/>
          </a:xfrm>
          <a:prstGeom prst="rect">
            <a:avLst/>
          </a:prstGeom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B139B831-2F51-C907-4BD8-0F86C34042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9676" y="183264"/>
            <a:ext cx="758098" cy="256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23411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EAA813-2605-A80A-A94A-E3C96DC63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12B37F35-F63F-8AE3-2FB3-FBBB3364B1C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2381"/>
            <a:ext cx="9148234" cy="5145882"/>
          </a:xfrm>
          <a:prstGeom prst="rect">
            <a:avLst/>
          </a:prstGeom>
        </p:spPr>
      </p:pic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C0C4613F-2E18-238C-9B63-2D5E4D9C41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293" y="476623"/>
            <a:ext cx="5950523" cy="383183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s-CO" sz="2200" b="1" err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Roadmap</a:t>
            </a:r>
            <a:r>
              <a:rPr lang="es-CO" sz="22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 del Servicio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47AB9324-39EC-66EE-CD8A-EAFD4B7B92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6782" y="672810"/>
            <a:ext cx="346983" cy="281835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3ECA2C06-4A33-5C34-2E14-96679C9479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7098" y="1121910"/>
            <a:ext cx="1603457" cy="803316"/>
          </a:xfrm>
          <a:prstGeom prst="rect">
            <a:avLst/>
          </a:prstGeom>
        </p:spPr>
      </p:pic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0F281D83-41F3-123F-4448-02C680A7A732}"/>
              </a:ext>
            </a:extLst>
          </p:cNvPr>
          <p:cNvCxnSpPr>
            <a:cxnSpLocks/>
          </p:cNvCxnSpPr>
          <p:nvPr/>
        </p:nvCxnSpPr>
        <p:spPr>
          <a:xfrm>
            <a:off x="1359937" y="1968088"/>
            <a:ext cx="0" cy="2941535"/>
          </a:xfrm>
          <a:prstGeom prst="line">
            <a:avLst/>
          </a:prstGeom>
          <a:ln w="38100">
            <a:solidFill>
              <a:srgbClr val="1D527F"/>
            </a:solidFill>
            <a:prstDash val="sys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DF6F71DF-5EB6-683A-C176-44E9E6CFF486}"/>
              </a:ext>
            </a:extLst>
          </p:cNvPr>
          <p:cNvCxnSpPr>
            <a:cxnSpLocks/>
          </p:cNvCxnSpPr>
          <p:nvPr/>
        </p:nvCxnSpPr>
        <p:spPr>
          <a:xfrm>
            <a:off x="2927895" y="1968087"/>
            <a:ext cx="12660" cy="1385185"/>
          </a:xfrm>
          <a:prstGeom prst="line">
            <a:avLst/>
          </a:prstGeom>
          <a:ln w="38100">
            <a:solidFill>
              <a:srgbClr val="00AB38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Imagen 7">
            <a:extLst>
              <a:ext uri="{FF2B5EF4-FFF2-40B4-BE49-F238E27FC236}">
                <a16:creationId xmlns:a16="http://schemas.microsoft.com/office/drawing/2014/main" id="{F4D375AC-7C2C-548B-23F6-61AE048E0C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2921545" y="3396133"/>
            <a:ext cx="1603457" cy="803316"/>
          </a:xfrm>
          <a:prstGeom prst="rect">
            <a:avLst/>
          </a:prstGeom>
        </p:spPr>
      </p:pic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F5135B70-81F4-3209-36F6-904A8854A8DB}"/>
              </a:ext>
            </a:extLst>
          </p:cNvPr>
          <p:cNvCxnSpPr>
            <a:cxnSpLocks/>
          </p:cNvCxnSpPr>
          <p:nvPr/>
        </p:nvCxnSpPr>
        <p:spPr>
          <a:xfrm>
            <a:off x="4473664" y="1925226"/>
            <a:ext cx="12660" cy="1385185"/>
          </a:xfrm>
          <a:prstGeom prst="line">
            <a:avLst/>
          </a:prstGeom>
          <a:ln w="38100">
            <a:solidFill>
              <a:srgbClr val="1D527F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Imagen 13">
            <a:extLst>
              <a:ext uri="{FF2B5EF4-FFF2-40B4-BE49-F238E27FC236}">
                <a16:creationId xmlns:a16="http://schemas.microsoft.com/office/drawing/2014/main" id="{AB39F647-74D8-2FE1-D614-CCBC594F87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4123" y="1079049"/>
            <a:ext cx="1603457" cy="803316"/>
          </a:xfrm>
          <a:prstGeom prst="rect">
            <a:avLst/>
          </a:prstGeom>
        </p:spPr>
      </p:pic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C2793418-4326-95D3-6FD5-250D3DACF286}"/>
              </a:ext>
            </a:extLst>
          </p:cNvPr>
          <p:cNvCxnSpPr>
            <a:cxnSpLocks/>
          </p:cNvCxnSpPr>
          <p:nvPr/>
        </p:nvCxnSpPr>
        <p:spPr>
          <a:xfrm>
            <a:off x="6044920" y="1925226"/>
            <a:ext cx="12660" cy="1385185"/>
          </a:xfrm>
          <a:prstGeom prst="line">
            <a:avLst/>
          </a:prstGeom>
          <a:ln w="38100">
            <a:solidFill>
              <a:srgbClr val="00AB38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Imagen 15">
            <a:extLst>
              <a:ext uri="{FF2B5EF4-FFF2-40B4-BE49-F238E27FC236}">
                <a16:creationId xmlns:a16="http://schemas.microsoft.com/office/drawing/2014/main" id="{B7468F45-3B20-E2AF-CEF7-1F175B57CC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6038570" y="3353272"/>
            <a:ext cx="1603457" cy="803316"/>
          </a:xfrm>
          <a:prstGeom prst="rect">
            <a:avLst/>
          </a:prstGeom>
        </p:spPr>
      </p:pic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1D7EB486-B6DC-55F5-C9F3-A8DDB0F8E851}"/>
              </a:ext>
            </a:extLst>
          </p:cNvPr>
          <p:cNvCxnSpPr>
            <a:cxnSpLocks/>
          </p:cNvCxnSpPr>
          <p:nvPr/>
        </p:nvCxnSpPr>
        <p:spPr>
          <a:xfrm flipH="1">
            <a:off x="7603349" y="1121910"/>
            <a:ext cx="12827" cy="2145640"/>
          </a:xfrm>
          <a:prstGeom prst="line">
            <a:avLst/>
          </a:prstGeom>
          <a:ln w="38100">
            <a:solidFill>
              <a:srgbClr val="1D527F"/>
            </a:solidFill>
            <a:prstDash val="sysDash"/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ángulo 17">
            <a:extLst>
              <a:ext uri="{FF2B5EF4-FFF2-40B4-BE49-F238E27FC236}">
                <a16:creationId xmlns:a16="http://schemas.microsoft.com/office/drawing/2014/main" id="{DD203157-30F8-E8DC-4A8A-229EA350DBD6}"/>
              </a:ext>
            </a:extLst>
          </p:cNvPr>
          <p:cNvSpPr/>
          <p:nvPr/>
        </p:nvSpPr>
        <p:spPr>
          <a:xfrm rot="16200000">
            <a:off x="7308467" y="1490622"/>
            <a:ext cx="1215481" cy="304800"/>
          </a:xfrm>
          <a:prstGeom prst="rect">
            <a:avLst/>
          </a:prstGeom>
          <a:gradFill flip="none" rotWithShape="1">
            <a:gsLst>
              <a:gs pos="0">
                <a:srgbClr val="1C557D"/>
              </a:gs>
              <a:gs pos="100000">
                <a:srgbClr val="02A842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b="1"/>
              <a:t>FINISH</a:t>
            </a:r>
            <a:endParaRPr lang="es-CO" sz="1400" b="1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891418C9-46BB-5F16-E273-2D446B09388A}"/>
              </a:ext>
            </a:extLst>
          </p:cNvPr>
          <p:cNvSpPr/>
          <p:nvPr/>
        </p:nvSpPr>
        <p:spPr>
          <a:xfrm>
            <a:off x="1528586" y="2465418"/>
            <a:ext cx="1215481" cy="304800"/>
          </a:xfrm>
          <a:prstGeom prst="rect">
            <a:avLst/>
          </a:prstGeom>
          <a:gradFill flip="none" rotWithShape="1">
            <a:gsLst>
              <a:gs pos="0">
                <a:srgbClr val="1C557D"/>
              </a:gs>
              <a:gs pos="100000">
                <a:srgbClr val="02A842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1400" b="1">
                <a:cs typeface="Arial"/>
              </a:rPr>
              <a:t>XXXXXXX</a:t>
            </a:r>
            <a:endParaRPr lang="es-CO" sz="1400" b="1">
              <a:cs typeface="Arial"/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A8AEF0B8-5C09-4F6E-364C-C6FFCFE8C754}"/>
              </a:ext>
            </a:extLst>
          </p:cNvPr>
          <p:cNvSpPr/>
          <p:nvPr/>
        </p:nvSpPr>
        <p:spPr>
          <a:xfrm rot="16200000">
            <a:off x="472718" y="4194849"/>
            <a:ext cx="1215481" cy="304800"/>
          </a:xfrm>
          <a:prstGeom prst="rect">
            <a:avLst/>
          </a:prstGeom>
          <a:gradFill flip="none" rotWithShape="1">
            <a:gsLst>
              <a:gs pos="0">
                <a:srgbClr val="1C557D"/>
              </a:gs>
              <a:gs pos="100000">
                <a:srgbClr val="02A842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b="1"/>
              <a:t>START</a:t>
            </a:r>
            <a:endParaRPr lang="es-CO" sz="1400" b="1"/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0159C56C-0FC4-F334-58A7-D4DC8C939F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9464" y="2958036"/>
            <a:ext cx="762000" cy="774700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22F9DB47-4CE4-048C-E64A-E00BC97DA8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4454" y="1580737"/>
            <a:ext cx="762000" cy="774700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E5A8AC6A-04C9-4ECA-D83A-F8ECB046659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33812" y="2965922"/>
            <a:ext cx="762000" cy="774700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833D8CC7-5317-9ED2-23E9-D2742691058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41188" y="1509260"/>
            <a:ext cx="762000" cy="774700"/>
          </a:xfrm>
          <a:prstGeom prst="rect">
            <a:avLst/>
          </a:prstGeom>
        </p:spPr>
      </p:pic>
      <p:sp>
        <p:nvSpPr>
          <p:cNvPr id="25" name="Marcador de contenido 2">
            <a:extLst>
              <a:ext uri="{FF2B5EF4-FFF2-40B4-BE49-F238E27FC236}">
                <a16:creationId xmlns:a16="http://schemas.microsoft.com/office/drawing/2014/main" id="{2792F362-0262-6161-B298-52F208E4B473}"/>
              </a:ext>
            </a:extLst>
          </p:cNvPr>
          <p:cNvSpPr txBox="1">
            <a:spLocks/>
          </p:cNvSpPr>
          <p:nvPr/>
        </p:nvSpPr>
        <p:spPr>
          <a:xfrm>
            <a:off x="1444125" y="2821854"/>
            <a:ext cx="1377394" cy="51253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669933"/>
              </a:buClr>
              <a:buSzPct val="100000"/>
              <a:buNone/>
            </a:pPr>
            <a:r>
              <a:rPr lang="es-CO" sz="1200" b="1">
                <a:solidFill>
                  <a:srgbClr val="333333"/>
                </a:solidFill>
                <a:cs typeface="Arial"/>
              </a:rPr>
              <a:t>XXXXXXXXXXXXXXXXXXXXXXXXXXXX</a:t>
            </a:r>
          </a:p>
        </p:txBody>
      </p:sp>
      <p:sp>
        <p:nvSpPr>
          <p:cNvPr id="26" name="Marcador de contenido 2">
            <a:extLst>
              <a:ext uri="{FF2B5EF4-FFF2-40B4-BE49-F238E27FC236}">
                <a16:creationId xmlns:a16="http://schemas.microsoft.com/office/drawing/2014/main" id="{90CAA353-1DC2-7FA0-6A24-B31BA001B09B}"/>
              </a:ext>
            </a:extLst>
          </p:cNvPr>
          <p:cNvSpPr txBox="1">
            <a:spLocks/>
          </p:cNvSpPr>
          <p:nvPr/>
        </p:nvSpPr>
        <p:spPr>
          <a:xfrm>
            <a:off x="1435882" y="3614334"/>
            <a:ext cx="1377394" cy="117635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669933"/>
              </a:buClr>
              <a:buSzPct val="100000"/>
              <a:buNone/>
            </a:pPr>
            <a:r>
              <a:rPr lang="es-CO" sz="1200">
                <a:solidFill>
                  <a:srgbClr val="333333"/>
                </a:solidFill>
                <a:cs typeface="Arial"/>
              </a:rPr>
              <a:t>XXXXXXXXXXXXXXXXXXXXXXXXXXXX </a:t>
            </a:r>
            <a:r>
              <a:rPr lang="es-CO" sz="1200" err="1">
                <a:solidFill>
                  <a:srgbClr val="333333"/>
                </a:solidFill>
                <a:cs typeface="Arial"/>
              </a:rPr>
              <a:t>XXXXXXXXXXXXXXXXXXXXXXXXXXXX</a:t>
            </a:r>
            <a:endParaRPr lang="es-CO" sz="1200">
              <a:solidFill>
                <a:srgbClr val="333333"/>
              </a:solidFill>
              <a:cs typeface="Arial"/>
            </a:endParaRPr>
          </a:p>
          <a:p>
            <a:pPr marL="0" indent="0" algn="just">
              <a:buClr>
                <a:srgbClr val="669933"/>
              </a:buClr>
              <a:buSzPct val="100000"/>
              <a:buNone/>
            </a:pPr>
            <a:r>
              <a:rPr lang="es-CO" sz="1200">
                <a:solidFill>
                  <a:srgbClr val="333333"/>
                </a:solidFill>
                <a:cs typeface="Arial"/>
              </a:rPr>
              <a:t>XXXXXXXXXXXXXXXXXXXXXXXXXXXX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9018B0CA-5B52-69C6-1004-BAEF7C4FCBBC}"/>
              </a:ext>
            </a:extLst>
          </p:cNvPr>
          <p:cNvSpPr/>
          <p:nvPr/>
        </p:nvSpPr>
        <p:spPr>
          <a:xfrm>
            <a:off x="3103354" y="875850"/>
            <a:ext cx="1215481" cy="304800"/>
          </a:xfrm>
          <a:prstGeom prst="rect">
            <a:avLst/>
          </a:prstGeom>
          <a:gradFill flip="none" rotWithShape="1">
            <a:gsLst>
              <a:gs pos="0">
                <a:srgbClr val="1C557D"/>
              </a:gs>
              <a:gs pos="100000">
                <a:srgbClr val="02A842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1400" b="1">
                <a:cs typeface="Arial"/>
              </a:rPr>
              <a:t>XXXXXXX</a:t>
            </a:r>
            <a:endParaRPr lang="es-CO" sz="1400" b="1">
              <a:cs typeface="Arial"/>
            </a:endParaRPr>
          </a:p>
        </p:txBody>
      </p:sp>
      <p:sp>
        <p:nvSpPr>
          <p:cNvPr id="28" name="Marcador de contenido 2">
            <a:extLst>
              <a:ext uri="{FF2B5EF4-FFF2-40B4-BE49-F238E27FC236}">
                <a16:creationId xmlns:a16="http://schemas.microsoft.com/office/drawing/2014/main" id="{8FCFAE28-9A0C-C469-37CD-7A8FAF9EDF47}"/>
              </a:ext>
            </a:extLst>
          </p:cNvPr>
          <p:cNvSpPr txBox="1">
            <a:spLocks/>
          </p:cNvSpPr>
          <p:nvPr/>
        </p:nvSpPr>
        <p:spPr>
          <a:xfrm>
            <a:off x="3018893" y="1232286"/>
            <a:ext cx="1377394" cy="51253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669933"/>
              </a:buClr>
              <a:buSzPct val="100000"/>
              <a:buNone/>
            </a:pPr>
            <a:r>
              <a:rPr lang="es-CO" sz="1200" b="1">
                <a:solidFill>
                  <a:srgbClr val="333333"/>
                </a:solidFill>
              </a:rPr>
              <a:t>XXXXXXXXXXXXXXXXXXXXXXXXXXXX</a:t>
            </a:r>
          </a:p>
        </p:txBody>
      </p:sp>
      <p:sp>
        <p:nvSpPr>
          <p:cNvPr id="29" name="Marcador de contenido 2">
            <a:extLst>
              <a:ext uri="{FF2B5EF4-FFF2-40B4-BE49-F238E27FC236}">
                <a16:creationId xmlns:a16="http://schemas.microsoft.com/office/drawing/2014/main" id="{6A0AA77A-9500-5009-A8C7-E4B9D9623C7D}"/>
              </a:ext>
            </a:extLst>
          </p:cNvPr>
          <p:cNvSpPr txBox="1">
            <a:spLocks/>
          </p:cNvSpPr>
          <p:nvPr/>
        </p:nvSpPr>
        <p:spPr>
          <a:xfrm>
            <a:off x="3034206" y="1875566"/>
            <a:ext cx="1377394" cy="117635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669933"/>
              </a:buClr>
              <a:buSzPct val="100000"/>
              <a:buNone/>
            </a:pPr>
            <a:r>
              <a:rPr lang="es-CO" sz="1200">
                <a:solidFill>
                  <a:srgbClr val="333333"/>
                </a:solidFill>
                <a:cs typeface="Arial"/>
              </a:rPr>
              <a:t>XXXXXXXXXXXXXXXXXXXXXXXXXXXX </a:t>
            </a:r>
            <a:r>
              <a:rPr lang="es-CO" sz="1200" err="1">
                <a:solidFill>
                  <a:srgbClr val="333333"/>
                </a:solidFill>
                <a:cs typeface="Arial"/>
              </a:rPr>
              <a:t>XXXXXXXXXXXXXXXXXXXXXXXXXXXX</a:t>
            </a:r>
            <a:endParaRPr lang="es-CO" sz="1200">
              <a:solidFill>
                <a:srgbClr val="333333"/>
              </a:solidFill>
              <a:cs typeface="Arial"/>
            </a:endParaRPr>
          </a:p>
          <a:p>
            <a:pPr marL="0" indent="0" algn="just">
              <a:buClr>
                <a:srgbClr val="669933"/>
              </a:buClr>
              <a:buSzPct val="100000"/>
              <a:buNone/>
            </a:pPr>
            <a:endParaRPr lang="es-CO" sz="1200">
              <a:solidFill>
                <a:srgbClr val="333333"/>
              </a:solidFill>
              <a:cs typeface="Arial"/>
            </a:endParaRP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595D5A9E-E540-2B62-F20E-2E071365AA41}"/>
              </a:ext>
            </a:extLst>
          </p:cNvPr>
          <p:cNvSpPr/>
          <p:nvPr/>
        </p:nvSpPr>
        <p:spPr>
          <a:xfrm>
            <a:off x="4656461" y="2472449"/>
            <a:ext cx="1215481" cy="304800"/>
          </a:xfrm>
          <a:prstGeom prst="rect">
            <a:avLst/>
          </a:prstGeom>
          <a:gradFill flip="none" rotWithShape="1">
            <a:gsLst>
              <a:gs pos="0">
                <a:srgbClr val="1C557D"/>
              </a:gs>
              <a:gs pos="100000">
                <a:srgbClr val="02A842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1400" b="1">
                <a:cs typeface="Arial"/>
              </a:rPr>
              <a:t>XXXXXXX</a:t>
            </a:r>
            <a:endParaRPr lang="es-CO" sz="1400" b="1">
              <a:cs typeface="Arial"/>
            </a:endParaRPr>
          </a:p>
        </p:txBody>
      </p:sp>
      <p:sp>
        <p:nvSpPr>
          <p:cNvPr id="31" name="Marcador de contenido 2">
            <a:extLst>
              <a:ext uri="{FF2B5EF4-FFF2-40B4-BE49-F238E27FC236}">
                <a16:creationId xmlns:a16="http://schemas.microsoft.com/office/drawing/2014/main" id="{FB571E55-C4D6-0929-A7B8-F4E3DE04DE41}"/>
              </a:ext>
            </a:extLst>
          </p:cNvPr>
          <p:cNvSpPr txBox="1">
            <a:spLocks/>
          </p:cNvSpPr>
          <p:nvPr/>
        </p:nvSpPr>
        <p:spPr>
          <a:xfrm>
            <a:off x="4572000" y="2828885"/>
            <a:ext cx="1377394" cy="51253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669933"/>
              </a:buClr>
              <a:buSzPct val="100000"/>
              <a:buNone/>
            </a:pPr>
            <a:r>
              <a:rPr lang="es-CO" sz="1200" b="1">
                <a:solidFill>
                  <a:srgbClr val="333333"/>
                </a:solidFill>
                <a:cs typeface="Arial"/>
              </a:rPr>
              <a:t>XXXXXXXXXXXXXXXXXXXXXXXXXXXX</a:t>
            </a:r>
          </a:p>
        </p:txBody>
      </p:sp>
      <p:sp>
        <p:nvSpPr>
          <p:cNvPr id="32" name="Marcador de contenido 2">
            <a:extLst>
              <a:ext uri="{FF2B5EF4-FFF2-40B4-BE49-F238E27FC236}">
                <a16:creationId xmlns:a16="http://schemas.microsoft.com/office/drawing/2014/main" id="{A7642A37-B25D-5FF7-05B0-211B089224F0}"/>
              </a:ext>
            </a:extLst>
          </p:cNvPr>
          <p:cNvSpPr txBox="1">
            <a:spLocks/>
          </p:cNvSpPr>
          <p:nvPr/>
        </p:nvSpPr>
        <p:spPr>
          <a:xfrm>
            <a:off x="4579461" y="3566396"/>
            <a:ext cx="1377394" cy="117635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669933"/>
              </a:buClr>
              <a:buSzPct val="100000"/>
              <a:buNone/>
            </a:pPr>
            <a:r>
              <a:rPr lang="es-CO" sz="1200">
                <a:solidFill>
                  <a:srgbClr val="333333"/>
                </a:solidFill>
                <a:cs typeface="Arial"/>
              </a:rPr>
              <a:t>XXXXXXXXXXXXXXXXXXXXXXXXXXXX </a:t>
            </a:r>
            <a:r>
              <a:rPr lang="es-CO" sz="1200" err="1">
                <a:solidFill>
                  <a:srgbClr val="333333"/>
                </a:solidFill>
                <a:cs typeface="Arial"/>
              </a:rPr>
              <a:t>XXXXXXXXXXXXXXXXXXXXXXXXXXXX</a:t>
            </a:r>
            <a:endParaRPr lang="es-CO" sz="1200">
              <a:solidFill>
                <a:srgbClr val="333333"/>
              </a:solidFill>
              <a:cs typeface="Arial"/>
            </a:endParaRP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143B9D30-7465-DFEC-5E6B-8DEE1845E25D}"/>
              </a:ext>
            </a:extLst>
          </p:cNvPr>
          <p:cNvSpPr/>
          <p:nvPr/>
        </p:nvSpPr>
        <p:spPr>
          <a:xfrm>
            <a:off x="6216715" y="882881"/>
            <a:ext cx="1215481" cy="304800"/>
          </a:xfrm>
          <a:prstGeom prst="rect">
            <a:avLst/>
          </a:prstGeom>
          <a:gradFill flip="none" rotWithShape="1">
            <a:gsLst>
              <a:gs pos="0">
                <a:srgbClr val="1C557D"/>
              </a:gs>
              <a:gs pos="100000">
                <a:srgbClr val="02A842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1400" b="1">
                <a:cs typeface="Arial"/>
              </a:rPr>
              <a:t>XXXXXXX</a:t>
            </a:r>
            <a:endParaRPr lang="es-CO" sz="1400" b="1">
              <a:cs typeface="Arial"/>
            </a:endParaRPr>
          </a:p>
        </p:txBody>
      </p:sp>
      <p:sp>
        <p:nvSpPr>
          <p:cNvPr id="34" name="Marcador de contenido 2">
            <a:extLst>
              <a:ext uri="{FF2B5EF4-FFF2-40B4-BE49-F238E27FC236}">
                <a16:creationId xmlns:a16="http://schemas.microsoft.com/office/drawing/2014/main" id="{52521EB4-6580-7EDF-F989-786F5C2F40FF}"/>
              </a:ext>
            </a:extLst>
          </p:cNvPr>
          <p:cNvSpPr txBox="1">
            <a:spLocks/>
          </p:cNvSpPr>
          <p:nvPr/>
        </p:nvSpPr>
        <p:spPr>
          <a:xfrm>
            <a:off x="6132254" y="1239317"/>
            <a:ext cx="1377394" cy="51253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669933"/>
              </a:buClr>
              <a:buSzPct val="100000"/>
              <a:buNone/>
            </a:pPr>
            <a:r>
              <a:rPr lang="es-CO" sz="1200" b="1">
                <a:solidFill>
                  <a:srgbClr val="333333"/>
                </a:solidFill>
                <a:cs typeface="Arial"/>
              </a:rPr>
              <a:t>XXXXXXXXXXXXXXXXXXXXXXXXXXXX</a:t>
            </a:r>
          </a:p>
        </p:txBody>
      </p:sp>
      <p:sp>
        <p:nvSpPr>
          <p:cNvPr id="35" name="Marcador de contenido 2">
            <a:extLst>
              <a:ext uri="{FF2B5EF4-FFF2-40B4-BE49-F238E27FC236}">
                <a16:creationId xmlns:a16="http://schemas.microsoft.com/office/drawing/2014/main" id="{27875719-3634-20B1-7D99-01828EA1E3BD}"/>
              </a:ext>
            </a:extLst>
          </p:cNvPr>
          <p:cNvSpPr txBox="1">
            <a:spLocks/>
          </p:cNvSpPr>
          <p:nvPr/>
        </p:nvSpPr>
        <p:spPr>
          <a:xfrm>
            <a:off x="6139715" y="1709840"/>
            <a:ext cx="1377394" cy="117635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669933"/>
              </a:buClr>
              <a:buSzPct val="100000"/>
              <a:buNone/>
            </a:pPr>
            <a:r>
              <a:rPr lang="es-CO" sz="1200">
                <a:solidFill>
                  <a:srgbClr val="333333"/>
                </a:solidFill>
                <a:cs typeface="Arial"/>
              </a:rPr>
              <a:t>XXXXXXXXXXXXXXXXXXXXXXXXXXXX XXXXXXXXXXXXXXXXXXXXXXXXXXX</a:t>
            </a:r>
          </a:p>
        </p:txBody>
      </p:sp>
      <p:pic>
        <p:nvPicPr>
          <p:cNvPr id="36" name="Imagen 35">
            <a:extLst>
              <a:ext uri="{FF2B5EF4-FFF2-40B4-BE49-F238E27FC236}">
                <a16:creationId xmlns:a16="http://schemas.microsoft.com/office/drawing/2014/main" id="{A6BBECF3-0BAC-5FDE-C1C7-E3454640B0E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1092" y="4596197"/>
            <a:ext cx="533427" cy="358793"/>
          </a:xfrm>
          <a:prstGeom prst="rect">
            <a:avLst/>
          </a:prstGeom>
        </p:spPr>
      </p:pic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BF0987C7-FF1D-7C79-CC01-7A4CE195D021}"/>
              </a:ext>
            </a:extLst>
          </p:cNvPr>
          <p:cNvCxnSpPr>
            <a:cxnSpLocks/>
          </p:cNvCxnSpPr>
          <p:nvPr/>
        </p:nvCxnSpPr>
        <p:spPr>
          <a:xfrm>
            <a:off x="868101" y="311789"/>
            <a:ext cx="7057423" cy="0"/>
          </a:xfrm>
          <a:prstGeom prst="line">
            <a:avLst/>
          </a:prstGeom>
          <a:ln w="12700" cap="rnd">
            <a:gradFill>
              <a:gsLst>
                <a:gs pos="0">
                  <a:srgbClr val="15601D"/>
                </a:gs>
                <a:gs pos="100000">
                  <a:srgbClr val="15601D">
                    <a:alpha val="0"/>
                  </a:srgbClr>
                </a:gs>
              </a:gsLst>
              <a:lin ang="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2">
            <a:extLst>
              <a:ext uri="{FF2B5EF4-FFF2-40B4-BE49-F238E27FC236}">
                <a16:creationId xmlns:a16="http://schemas.microsoft.com/office/drawing/2014/main" id="{8781C91E-DB91-4508-E83B-2CA3945BDD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9676" y="183264"/>
            <a:ext cx="758098" cy="256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95751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E4D7FD38-55FA-548A-7EB5-CAACD1533E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81869" y="-75860"/>
            <a:ext cx="9183999" cy="5166000"/>
          </a:xfrm>
        </p:spPr>
      </p:pic>
      <p:sp>
        <p:nvSpPr>
          <p:cNvPr id="6" name="Marcador de contenido 6">
            <a:extLst>
              <a:ext uri="{FF2B5EF4-FFF2-40B4-BE49-F238E27FC236}">
                <a16:creationId xmlns:a16="http://schemas.microsoft.com/office/drawing/2014/main" id="{C3A768F4-1CAA-9E53-9DB7-8CFF0B0103BB}"/>
              </a:ext>
            </a:extLst>
          </p:cNvPr>
          <p:cNvSpPr txBox="1">
            <a:spLocks/>
          </p:cNvSpPr>
          <p:nvPr/>
        </p:nvSpPr>
        <p:spPr>
          <a:xfrm>
            <a:off x="1596738" y="418634"/>
            <a:ext cx="5950523" cy="38318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s-CO" sz="22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Alcance Técnico del Servicio</a:t>
            </a:r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0A5A9FC9-D911-056D-9337-A687BC8C6E74}"/>
              </a:ext>
            </a:extLst>
          </p:cNvPr>
          <p:cNvCxnSpPr>
            <a:cxnSpLocks/>
          </p:cNvCxnSpPr>
          <p:nvPr/>
        </p:nvCxnSpPr>
        <p:spPr>
          <a:xfrm>
            <a:off x="868101" y="311789"/>
            <a:ext cx="7057423" cy="0"/>
          </a:xfrm>
          <a:prstGeom prst="line">
            <a:avLst/>
          </a:prstGeom>
          <a:ln w="12700" cap="rnd">
            <a:gradFill>
              <a:gsLst>
                <a:gs pos="0">
                  <a:srgbClr val="15601D"/>
                </a:gs>
                <a:gs pos="100000">
                  <a:srgbClr val="15601D">
                    <a:alpha val="0"/>
                  </a:srgbClr>
                </a:gs>
              </a:gsLst>
              <a:lin ang="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uadroTexto 1">
            <a:extLst>
              <a:ext uri="{FF2B5EF4-FFF2-40B4-BE49-F238E27FC236}">
                <a16:creationId xmlns:a16="http://schemas.microsoft.com/office/drawing/2014/main" id="{36F34E4C-6B01-ABEF-DCFF-9A69E883C059}"/>
              </a:ext>
            </a:extLst>
          </p:cNvPr>
          <p:cNvSpPr txBox="1"/>
          <p:nvPr/>
        </p:nvSpPr>
        <p:spPr>
          <a:xfrm>
            <a:off x="315532" y="907803"/>
            <a:ext cx="8253356" cy="10156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s-MX" sz="1200" b="1">
                <a:solidFill>
                  <a:srgbClr val="333333"/>
                </a:solidFill>
                <a:cs typeface="Calibri"/>
              </a:rPr>
              <a:t>PERIFERIA IT CORP </a:t>
            </a:r>
            <a:r>
              <a:rPr lang="es-MX" sz="1200">
                <a:solidFill>
                  <a:srgbClr val="333333"/>
                </a:solidFill>
                <a:cs typeface="Calibri"/>
              </a:rPr>
              <a:t>considerará las siguientes funcionalidades</a:t>
            </a:r>
            <a:r>
              <a:rPr lang="es-CO" sz="1200">
                <a:solidFill>
                  <a:srgbClr val="333333"/>
                </a:solidFill>
                <a:cs typeface="Calibri"/>
              </a:rPr>
              <a:t>:</a:t>
            </a:r>
            <a:endParaRPr lang="es-MX" sz="1200">
              <a:solidFill>
                <a:srgbClr val="333333"/>
              </a:solidFill>
              <a:cs typeface="Calibri"/>
            </a:endParaRPr>
          </a:p>
          <a:p>
            <a:pPr algn="just"/>
            <a:endParaRPr lang="es-MX" sz="1200">
              <a:solidFill>
                <a:srgbClr val="333333"/>
              </a:solidFill>
              <a:cs typeface="Calibri" panose="020F0502020204030204" pitchFamily="34" charset="0"/>
            </a:endParaRPr>
          </a:p>
          <a:p>
            <a:pPr marL="228600" indent="-228600" algn="just">
              <a:buAutoNum type="alphaUcPeriod"/>
            </a:pPr>
            <a:r>
              <a:rPr lang="es-MX" sz="1200" b="1" err="1">
                <a:solidFill>
                  <a:srgbClr val="333333"/>
                </a:solidFill>
                <a:cs typeface="Calibri"/>
              </a:rPr>
              <a:t>Xxxxxxxxxxxxxxxxxxxxxxxxxxxxxxxxxxxxxxxxxxxxxx</a:t>
            </a:r>
            <a:endParaRPr lang="es-MX" sz="1200" b="1">
              <a:solidFill>
                <a:srgbClr val="333333"/>
              </a:solidFill>
              <a:cs typeface="Calibri"/>
            </a:endParaRPr>
          </a:p>
          <a:p>
            <a:pPr algn="just"/>
            <a:endParaRPr lang="es-MX" sz="1200" b="1">
              <a:solidFill>
                <a:srgbClr val="333333"/>
              </a:solidFill>
              <a:cs typeface="Calibri" panose="020F0502020204030204" pitchFamily="3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s-MX" sz="1200" b="1">
                <a:solidFill>
                  <a:srgbClr val="333333"/>
                </a:solidFill>
                <a:cs typeface="Calibri"/>
              </a:rPr>
              <a:t>Actividades a realizar por PERIFERIA IT CORP:</a:t>
            </a: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DF038376-B2F1-C37F-5512-A2F21AF34F7C}"/>
              </a:ext>
            </a:extLst>
          </p:cNvPr>
          <p:cNvGrpSpPr/>
          <p:nvPr/>
        </p:nvGrpSpPr>
        <p:grpSpPr>
          <a:xfrm>
            <a:off x="315532" y="2062070"/>
            <a:ext cx="8512934" cy="1201341"/>
            <a:chOff x="261994" y="1984164"/>
            <a:chExt cx="8512934" cy="1201341"/>
          </a:xfrm>
        </p:grpSpPr>
        <p:grpSp>
          <p:nvGrpSpPr>
            <p:cNvPr id="4" name="Grupo 3">
              <a:extLst>
                <a:ext uri="{FF2B5EF4-FFF2-40B4-BE49-F238E27FC236}">
                  <a16:creationId xmlns:a16="http://schemas.microsoft.com/office/drawing/2014/main" id="{A56B1BF8-862B-0D04-6578-B4C8B47135A2}"/>
                </a:ext>
              </a:extLst>
            </p:cNvPr>
            <p:cNvGrpSpPr/>
            <p:nvPr/>
          </p:nvGrpSpPr>
          <p:grpSpPr>
            <a:xfrm>
              <a:off x="261994" y="1984164"/>
              <a:ext cx="8512934" cy="717255"/>
              <a:chOff x="-204003" y="1247475"/>
              <a:chExt cx="8512934" cy="717255"/>
            </a:xfrm>
          </p:grpSpPr>
          <p:sp>
            <p:nvSpPr>
              <p:cNvPr id="13" name="Rectángulo 12">
                <a:extLst>
                  <a:ext uri="{FF2B5EF4-FFF2-40B4-BE49-F238E27FC236}">
                    <a16:creationId xmlns:a16="http://schemas.microsoft.com/office/drawing/2014/main" id="{DB39C54D-DCE8-75BA-AF10-5FC15F73240B}"/>
                  </a:ext>
                </a:extLst>
              </p:cNvPr>
              <p:cNvSpPr/>
              <p:nvPr/>
            </p:nvSpPr>
            <p:spPr>
              <a:xfrm>
                <a:off x="-132263" y="1255096"/>
                <a:ext cx="8441194" cy="70963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25400" sx="102000" sy="102000" algn="ctr" rotWithShape="0">
                  <a:prstClr val="black">
                    <a:alpha val="5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80000" rIns="91440" bIns="45720" rtlCol="0" anchor="ctr"/>
              <a:lstStyle/>
              <a:p>
                <a:pPr algn="just"/>
                <a:r>
                  <a:rPr kumimoji="0" lang="es-ES" sz="1200" i="0" u="none" strike="noStrike" kern="1200" cap="none" spc="0" normalizeH="0" baseline="0" noProof="0" err="1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cs typeface="Arial"/>
                  </a:rPr>
                  <a:t>XXXXXxxxxxxxxxxxxxxxxxxxxxxxxxxxxxxxxxxxxxxxxxxxxxxxxxx</a:t>
                </a:r>
                <a:endParaRPr lang="es-ES" sz="120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cs typeface="Arial"/>
                </a:endParaRPr>
              </a:p>
              <a:p>
                <a:pPr marL="171450" indent="-171450" algn="just">
                  <a:buFont typeface="Arial" panose="020B0604020202020204" pitchFamily="34" charset="0"/>
                  <a:buChar char="•"/>
                </a:pPr>
                <a:r>
                  <a:rPr kumimoji="0" lang="es-ES" sz="1200" i="0" u="none" strike="noStrike" kern="1200" cap="none" spc="0" normalizeH="0" baseline="0" noProof="0" err="1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cs typeface="Arial"/>
                  </a:rPr>
                  <a:t>Xxxxxxxxxxxxxxxxxxxxxxxxxxxxxxxxxxxxxxxxxxxxxxxxx</a:t>
                </a:r>
                <a:endParaRPr kumimoji="0" lang="es-ES" sz="120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cs typeface="Arial"/>
                </a:endParaRPr>
              </a:p>
            </p:txBody>
          </p:sp>
          <p:sp>
            <p:nvSpPr>
              <p:cNvPr id="14" name="Rectángulo 13">
                <a:extLst>
                  <a:ext uri="{FF2B5EF4-FFF2-40B4-BE49-F238E27FC236}">
                    <a16:creationId xmlns:a16="http://schemas.microsoft.com/office/drawing/2014/main" id="{E56A94A8-F23E-F74F-6F61-091C3D66FAA7}"/>
                  </a:ext>
                </a:extLst>
              </p:cNvPr>
              <p:cNvSpPr/>
              <p:nvPr/>
            </p:nvSpPr>
            <p:spPr>
              <a:xfrm>
                <a:off x="-204003" y="1247475"/>
                <a:ext cx="71740" cy="709633"/>
              </a:xfrm>
              <a:prstGeom prst="rect">
                <a:avLst/>
              </a:prstGeom>
              <a:solidFill>
                <a:srgbClr val="01B03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</p:grpSp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0E174530-3125-F415-03A5-B3726B04F1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9043" y="2073080"/>
              <a:ext cx="230226" cy="149160"/>
            </a:xfrm>
            <a:prstGeom prst="rect">
              <a:avLst/>
            </a:prstGeom>
          </p:spPr>
        </p:pic>
        <p:grpSp>
          <p:nvGrpSpPr>
            <p:cNvPr id="9" name="Grupo 8">
              <a:extLst>
                <a:ext uri="{FF2B5EF4-FFF2-40B4-BE49-F238E27FC236}">
                  <a16:creationId xmlns:a16="http://schemas.microsoft.com/office/drawing/2014/main" id="{2D659DFF-947D-27FC-3651-D089BD64A58E}"/>
                </a:ext>
              </a:extLst>
            </p:cNvPr>
            <p:cNvGrpSpPr/>
            <p:nvPr/>
          </p:nvGrpSpPr>
          <p:grpSpPr>
            <a:xfrm>
              <a:off x="345822" y="2656653"/>
              <a:ext cx="8405856" cy="528852"/>
              <a:chOff x="357447" y="2565343"/>
              <a:chExt cx="8405856" cy="528852"/>
            </a:xfrm>
          </p:grpSpPr>
          <p:sp>
            <p:nvSpPr>
              <p:cNvPr id="10" name="Rectángulo: esquinas redondeadas 9">
                <a:extLst>
                  <a:ext uri="{FF2B5EF4-FFF2-40B4-BE49-F238E27FC236}">
                    <a16:creationId xmlns:a16="http://schemas.microsoft.com/office/drawing/2014/main" id="{097DBA00-3389-A4E2-DEDB-6563DDD6D271}"/>
                  </a:ext>
                </a:extLst>
              </p:cNvPr>
              <p:cNvSpPr/>
              <p:nvPr/>
            </p:nvSpPr>
            <p:spPr>
              <a:xfrm>
                <a:off x="357447" y="2565343"/>
                <a:ext cx="8405856" cy="528852"/>
              </a:xfrm>
              <a:prstGeom prst="roundRect">
                <a:avLst>
                  <a:gd name="adj" fmla="val 30126"/>
                </a:avLst>
              </a:prstGeom>
              <a:gradFill>
                <a:gsLst>
                  <a:gs pos="0">
                    <a:srgbClr val="02AE3E"/>
                  </a:gs>
                  <a:gs pos="100000">
                    <a:srgbClr val="1D5180"/>
                  </a:gs>
                </a:gsLst>
                <a:lin ang="14400000" scaled="0"/>
              </a:gradFill>
              <a:ln>
                <a:noFill/>
              </a:ln>
              <a:effectLst>
                <a:outerShdw blurRad="101600" sx="102000" sy="102000" algn="ctr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pic>
            <p:nvPicPr>
              <p:cNvPr id="11" name="Imagen 10">
                <a:extLst>
                  <a:ext uri="{FF2B5EF4-FFF2-40B4-BE49-F238E27FC236}">
                    <a16:creationId xmlns:a16="http://schemas.microsoft.com/office/drawing/2014/main" id="{A5F68104-2CE8-8A70-F314-860B2467B5C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biLevel thresh="25000"/>
              </a:blip>
              <a:stretch>
                <a:fillRect/>
              </a:stretch>
            </p:blipFill>
            <p:spPr>
              <a:xfrm>
                <a:off x="476164" y="2712450"/>
                <a:ext cx="182094" cy="234638"/>
              </a:xfrm>
              <a:prstGeom prst="rect">
                <a:avLst/>
              </a:prstGeom>
            </p:spPr>
          </p:pic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4C1E827A-7D85-FBD7-3326-44964AD76550}"/>
                  </a:ext>
                </a:extLst>
              </p:cNvPr>
              <p:cNvSpPr txBox="1"/>
              <p:nvPr/>
            </p:nvSpPr>
            <p:spPr>
              <a:xfrm>
                <a:off x="705069" y="2675880"/>
                <a:ext cx="7962767" cy="276999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>
                <a:spAutoFit/>
              </a:bodyPr>
              <a:lstStyle/>
              <a:p>
                <a:pPr algn="just"/>
                <a:r>
                  <a:rPr lang="es-MX" sz="1200" err="1">
                    <a:solidFill>
                      <a:srgbClr val="FEFEFE"/>
                    </a:solidFill>
                    <a:ea typeface="Calibri"/>
                    <a:cs typeface="Calibri"/>
                  </a:rPr>
                  <a:t>Xxxxxxxxxxxxxxxxxxxxxxxxxxxxxxxxxxxxxxxxxxx</a:t>
                </a:r>
                <a:endParaRPr lang="es-MX" sz="1200">
                  <a:solidFill>
                    <a:srgbClr val="FEFEFE"/>
                  </a:solidFill>
                  <a:ea typeface="Calibri"/>
                  <a:cs typeface="Calibri"/>
                </a:endParaRPr>
              </a:p>
            </p:txBody>
          </p:sp>
        </p:grpSp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5BB06428-4984-00E5-6F34-4BF79650AB08}"/>
              </a:ext>
            </a:extLst>
          </p:cNvPr>
          <p:cNvGrpSpPr/>
          <p:nvPr/>
        </p:nvGrpSpPr>
        <p:grpSpPr>
          <a:xfrm>
            <a:off x="315532" y="3455049"/>
            <a:ext cx="8512934" cy="1201341"/>
            <a:chOff x="261994" y="1984164"/>
            <a:chExt cx="8512934" cy="1201341"/>
          </a:xfrm>
        </p:grpSpPr>
        <p:grpSp>
          <p:nvGrpSpPr>
            <p:cNvPr id="19" name="Grupo 18">
              <a:extLst>
                <a:ext uri="{FF2B5EF4-FFF2-40B4-BE49-F238E27FC236}">
                  <a16:creationId xmlns:a16="http://schemas.microsoft.com/office/drawing/2014/main" id="{595E00B4-1512-273C-FDAF-40AC30B79572}"/>
                </a:ext>
              </a:extLst>
            </p:cNvPr>
            <p:cNvGrpSpPr/>
            <p:nvPr/>
          </p:nvGrpSpPr>
          <p:grpSpPr>
            <a:xfrm>
              <a:off x="261994" y="1984164"/>
              <a:ext cx="8512934" cy="717255"/>
              <a:chOff x="-204003" y="1247475"/>
              <a:chExt cx="8512934" cy="717255"/>
            </a:xfrm>
          </p:grpSpPr>
          <p:sp>
            <p:nvSpPr>
              <p:cNvPr id="25" name="Rectángulo 24">
                <a:extLst>
                  <a:ext uri="{FF2B5EF4-FFF2-40B4-BE49-F238E27FC236}">
                    <a16:creationId xmlns:a16="http://schemas.microsoft.com/office/drawing/2014/main" id="{47B1BF94-CAAB-59CD-502C-7AF865119243}"/>
                  </a:ext>
                </a:extLst>
              </p:cNvPr>
              <p:cNvSpPr/>
              <p:nvPr/>
            </p:nvSpPr>
            <p:spPr>
              <a:xfrm>
                <a:off x="-132263" y="1255096"/>
                <a:ext cx="8441194" cy="70963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25400" sx="102000" sy="102000" algn="ctr" rotWithShape="0">
                  <a:prstClr val="black">
                    <a:alpha val="5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80000" rIns="91440" bIns="45720" rtlCol="0" anchor="ctr"/>
              <a:lstStyle/>
              <a:p>
                <a:pPr algn="just"/>
                <a:r>
                  <a:rPr kumimoji="0" lang="es-ES" sz="1200" i="0" u="none" strike="noStrike" kern="1200" cap="none" spc="0" normalizeH="0" baseline="0" noProof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cs typeface="Arial"/>
                  </a:rPr>
                  <a:t>Xxxxxxxxxxxxxxxxxxxxxxxxxxxxxxxxxxxxxxxxxxxxxxxxxxxxxxxxxxxxxxxxxxxxxxxx</a:t>
                </a:r>
                <a:endParaRPr lang="es-ES" sz="120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cs typeface="Arial"/>
                </a:endParaRPr>
              </a:p>
              <a:p>
                <a:pPr marL="171450" indent="-171450" algn="just">
                  <a:buFont typeface="Arial" panose="020B0604020202020204" pitchFamily="34" charset="0"/>
                  <a:buChar char="•"/>
                </a:pPr>
                <a:r>
                  <a:rPr kumimoji="0" lang="es-ES" sz="1200" i="0" u="none" strike="noStrike" kern="1200" cap="none" spc="0" normalizeH="0" baseline="0" noProof="0" err="1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cs typeface="Arial"/>
                  </a:rPr>
                  <a:t>Xxxxxxxxxxxxxxxxxxxxxxxxxxxxxxxxxxxxxxxxxxxxxxxxxx</a:t>
                </a:r>
                <a:endParaRPr kumimoji="0" lang="es-ES" sz="120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cs typeface="Arial"/>
                </a:endParaRPr>
              </a:p>
            </p:txBody>
          </p:sp>
          <p:sp>
            <p:nvSpPr>
              <p:cNvPr id="26" name="Rectángulo 25">
                <a:extLst>
                  <a:ext uri="{FF2B5EF4-FFF2-40B4-BE49-F238E27FC236}">
                    <a16:creationId xmlns:a16="http://schemas.microsoft.com/office/drawing/2014/main" id="{3672A9B2-3E62-1836-3899-55B166DF10AF}"/>
                  </a:ext>
                </a:extLst>
              </p:cNvPr>
              <p:cNvSpPr/>
              <p:nvPr/>
            </p:nvSpPr>
            <p:spPr>
              <a:xfrm>
                <a:off x="-204003" y="1247475"/>
                <a:ext cx="71740" cy="709633"/>
              </a:xfrm>
              <a:prstGeom prst="rect">
                <a:avLst/>
              </a:prstGeom>
              <a:solidFill>
                <a:srgbClr val="01B03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</p:grpSp>
        <p:pic>
          <p:nvPicPr>
            <p:cNvPr id="20" name="Imagen 19">
              <a:extLst>
                <a:ext uri="{FF2B5EF4-FFF2-40B4-BE49-F238E27FC236}">
                  <a16:creationId xmlns:a16="http://schemas.microsoft.com/office/drawing/2014/main" id="{54D45196-C43B-2337-A4AC-D323648CD95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9043" y="2073080"/>
              <a:ext cx="230226" cy="149160"/>
            </a:xfrm>
            <a:prstGeom prst="rect">
              <a:avLst/>
            </a:prstGeom>
          </p:spPr>
        </p:pic>
        <p:grpSp>
          <p:nvGrpSpPr>
            <p:cNvPr id="21" name="Grupo 20">
              <a:extLst>
                <a:ext uri="{FF2B5EF4-FFF2-40B4-BE49-F238E27FC236}">
                  <a16:creationId xmlns:a16="http://schemas.microsoft.com/office/drawing/2014/main" id="{238ECF0B-C148-1AE7-6CE4-03A3FCED8BF6}"/>
                </a:ext>
              </a:extLst>
            </p:cNvPr>
            <p:cNvGrpSpPr/>
            <p:nvPr/>
          </p:nvGrpSpPr>
          <p:grpSpPr>
            <a:xfrm>
              <a:off x="345822" y="2656653"/>
              <a:ext cx="8405856" cy="528852"/>
              <a:chOff x="357447" y="2565343"/>
              <a:chExt cx="8405856" cy="528852"/>
            </a:xfrm>
          </p:grpSpPr>
          <p:sp>
            <p:nvSpPr>
              <p:cNvPr id="22" name="Rectángulo: esquinas redondeadas 21">
                <a:extLst>
                  <a:ext uri="{FF2B5EF4-FFF2-40B4-BE49-F238E27FC236}">
                    <a16:creationId xmlns:a16="http://schemas.microsoft.com/office/drawing/2014/main" id="{82C93978-E422-02E8-59BC-F35017009B8E}"/>
                  </a:ext>
                </a:extLst>
              </p:cNvPr>
              <p:cNvSpPr/>
              <p:nvPr/>
            </p:nvSpPr>
            <p:spPr>
              <a:xfrm>
                <a:off x="357447" y="2565343"/>
                <a:ext cx="8405856" cy="528852"/>
              </a:xfrm>
              <a:prstGeom prst="roundRect">
                <a:avLst>
                  <a:gd name="adj" fmla="val 30126"/>
                </a:avLst>
              </a:prstGeom>
              <a:gradFill>
                <a:gsLst>
                  <a:gs pos="0">
                    <a:srgbClr val="02AE3E"/>
                  </a:gs>
                  <a:gs pos="100000">
                    <a:srgbClr val="1D5180"/>
                  </a:gs>
                </a:gsLst>
                <a:lin ang="14400000" scaled="0"/>
              </a:gradFill>
              <a:ln>
                <a:noFill/>
              </a:ln>
              <a:effectLst>
                <a:outerShdw blurRad="101600" sx="102000" sy="102000" algn="ctr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pic>
            <p:nvPicPr>
              <p:cNvPr id="23" name="Imagen 22">
                <a:extLst>
                  <a:ext uri="{FF2B5EF4-FFF2-40B4-BE49-F238E27FC236}">
                    <a16:creationId xmlns:a16="http://schemas.microsoft.com/office/drawing/2014/main" id="{2243BA0E-E8CA-B7C6-272E-69ED534CBFA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biLevel thresh="25000"/>
              </a:blip>
              <a:stretch>
                <a:fillRect/>
              </a:stretch>
            </p:blipFill>
            <p:spPr>
              <a:xfrm>
                <a:off x="476164" y="2712450"/>
                <a:ext cx="182094" cy="234638"/>
              </a:xfrm>
              <a:prstGeom prst="rect">
                <a:avLst/>
              </a:prstGeom>
            </p:spPr>
          </p:pic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21DD819C-1076-9A87-9361-8EB02474F2DF}"/>
                  </a:ext>
                </a:extLst>
              </p:cNvPr>
              <p:cNvSpPr txBox="1"/>
              <p:nvPr/>
            </p:nvSpPr>
            <p:spPr>
              <a:xfrm>
                <a:off x="705069" y="2675880"/>
                <a:ext cx="7962767" cy="276999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>
                <a:spAutoFit/>
              </a:bodyPr>
              <a:lstStyle/>
              <a:p>
                <a:pPr algn="just"/>
                <a:r>
                  <a:rPr lang="es-MX" sz="1200" err="1">
                    <a:solidFill>
                      <a:srgbClr val="FEFEFE"/>
                    </a:solidFill>
                    <a:cs typeface="Calibri"/>
                  </a:rPr>
                  <a:t>Xxxxxxxxxxxxxxxxxxxxxxxxxxxxxxxxxxxxxxxxxxx</a:t>
                </a:r>
                <a:endParaRPr lang="es-MX" sz="1200">
                  <a:solidFill>
                    <a:srgbClr val="FEFEFE"/>
                  </a:solidFill>
                  <a:cs typeface="Calibri"/>
                </a:endParaRPr>
              </a:p>
            </p:txBody>
          </p:sp>
        </p:grpSp>
      </p:grpSp>
      <p:pic>
        <p:nvPicPr>
          <p:cNvPr id="7" name="Picture 2">
            <a:extLst>
              <a:ext uri="{FF2B5EF4-FFF2-40B4-BE49-F238E27FC236}">
                <a16:creationId xmlns:a16="http://schemas.microsoft.com/office/drawing/2014/main" id="{0D143264-6A0F-6E36-0C44-3A36AC7D39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9676" y="183264"/>
            <a:ext cx="758098" cy="256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64404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DB06EA-78B4-70E9-D7A0-95C6A77C6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50F32524-0263-3704-9480-1600ECAF3C1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2381"/>
            <a:ext cx="9148234" cy="5145882"/>
          </a:xfrm>
          <a:prstGeom prst="rect">
            <a:avLst/>
          </a:prstGeom>
        </p:spPr>
      </p:pic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1EC39243-A870-C3B9-DE54-B8A2B2B47A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6738" y="401837"/>
            <a:ext cx="5950523" cy="383183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s-CO" sz="22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Entregables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221FD3A-AA86-C1EC-E687-BD9EA6C650EC}"/>
              </a:ext>
            </a:extLst>
          </p:cNvPr>
          <p:cNvSpPr txBox="1"/>
          <p:nvPr/>
        </p:nvSpPr>
        <p:spPr>
          <a:xfrm>
            <a:off x="136374" y="739614"/>
            <a:ext cx="8815150" cy="74892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 defTabSz="685800">
              <a:spcBef>
                <a:spcPts val="750"/>
              </a:spcBef>
              <a:defRPr/>
            </a:pPr>
            <a:r>
              <a:rPr lang="es-CO" sz="1200" dirty="0">
                <a:solidFill>
                  <a:srgbClr val="333333"/>
                </a:solidFill>
                <a:cs typeface="Arial"/>
              </a:rPr>
              <a:t>Toda la documentación, informes y avances generados durante la gestión del proyecto se entregan mediante la herramienta Azure </a:t>
            </a:r>
            <a:r>
              <a:rPr lang="es-CO" sz="1200" dirty="0" err="1">
                <a:solidFill>
                  <a:srgbClr val="333333"/>
                </a:solidFill>
                <a:cs typeface="Arial"/>
              </a:rPr>
              <a:t>Devops</a:t>
            </a:r>
            <a:r>
              <a:rPr lang="es-CO" sz="1200" dirty="0">
                <a:solidFill>
                  <a:srgbClr val="333333"/>
                </a:solidFill>
                <a:cs typeface="Arial"/>
              </a:rPr>
              <a:t>, el código fuente y demás artefactos quedan en el repositorio establecido por </a:t>
            </a:r>
            <a:r>
              <a:rPr lang="es-CO" sz="1200" b="1" dirty="0">
                <a:solidFill>
                  <a:schemeClr val="accent1"/>
                </a:solidFill>
                <a:cs typeface="Arial"/>
              </a:rPr>
              <a:t>XXXXXXX</a:t>
            </a:r>
            <a:r>
              <a:rPr lang="es-CO" sz="1200" dirty="0">
                <a:solidFill>
                  <a:srgbClr val="333333"/>
                </a:solidFill>
                <a:cs typeface="Arial"/>
              </a:rPr>
              <a:t>. </a:t>
            </a:r>
          </a:p>
          <a:p>
            <a:pPr algn="just" defTabSz="685800">
              <a:spcBef>
                <a:spcPts val="750"/>
              </a:spcBef>
              <a:defRPr/>
            </a:pPr>
            <a:r>
              <a:rPr lang="es-CO" sz="1200" b="1">
                <a:solidFill>
                  <a:schemeClr val="accent1"/>
                </a:solidFill>
                <a:cs typeface="Arial"/>
              </a:rPr>
              <a:t>XXXXXXXXXXXX</a:t>
            </a:r>
            <a:r>
              <a:rPr lang="es-CO" sz="1200" b="1">
                <a:solidFill>
                  <a:srgbClr val="333333"/>
                </a:solidFill>
                <a:cs typeface="Arial"/>
              </a:rPr>
              <a:t> </a:t>
            </a:r>
            <a:r>
              <a:rPr lang="es-MX" sz="1200" b="1">
                <a:solidFill>
                  <a:srgbClr val="333333"/>
                </a:solidFill>
                <a:cs typeface="Arial"/>
              </a:rPr>
              <a:t> </a:t>
            </a:r>
            <a:r>
              <a:rPr lang="es-MX" sz="1200">
                <a:solidFill>
                  <a:srgbClr val="333333"/>
                </a:solidFill>
                <a:cs typeface="Arial"/>
              </a:rPr>
              <a:t>y </a:t>
            </a:r>
            <a:r>
              <a:rPr lang="es-MX" sz="1200" b="1">
                <a:solidFill>
                  <a:srgbClr val="333333"/>
                </a:solidFill>
                <a:cs typeface="Arial"/>
              </a:rPr>
              <a:t>PERIFERIA IT CORP </a:t>
            </a:r>
            <a:r>
              <a:rPr lang="es-MX" sz="1200">
                <a:solidFill>
                  <a:srgbClr val="333333"/>
                </a:solidFill>
                <a:cs typeface="Arial"/>
              </a:rPr>
              <a:t>acordarán los formatos que deben seguir los entregables.</a:t>
            </a:r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2DAEDE91-EE19-22FD-055D-47FEAD325E8E}"/>
              </a:ext>
            </a:extLst>
          </p:cNvPr>
          <p:cNvSpPr/>
          <p:nvPr/>
        </p:nvSpPr>
        <p:spPr>
          <a:xfrm>
            <a:off x="446877" y="1674605"/>
            <a:ext cx="2560844" cy="3280385"/>
          </a:xfrm>
          <a:prstGeom prst="roundRect">
            <a:avLst>
              <a:gd name="adj" fmla="val 3508"/>
            </a:avLst>
          </a:prstGeom>
          <a:gradFill>
            <a:gsLst>
              <a:gs pos="0">
                <a:srgbClr val="E9E9E9"/>
              </a:gs>
              <a:gs pos="100000">
                <a:srgbClr val="FEFEFE"/>
              </a:gs>
            </a:gsLst>
            <a:lin ang="14400000" scaled="0"/>
          </a:gradFill>
          <a:ln>
            <a:noFill/>
          </a:ln>
          <a:effectLst>
            <a:outerShdw blurRad="1016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29D92BB4-5930-5734-E7A2-3C15FABE6180}"/>
              </a:ext>
            </a:extLst>
          </p:cNvPr>
          <p:cNvSpPr txBox="1">
            <a:spLocks/>
          </p:cNvSpPr>
          <p:nvPr/>
        </p:nvSpPr>
        <p:spPr>
          <a:xfrm>
            <a:off x="537492" y="2196178"/>
            <a:ext cx="2725809" cy="366178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s-CO" sz="1200" b="1">
                <a:solidFill>
                  <a:srgbClr val="1D1B80"/>
                </a:solidFill>
                <a:latin typeface="Arial"/>
                <a:cs typeface="Calibri"/>
              </a:rPr>
              <a:t>Entregables de </a:t>
            </a:r>
            <a:r>
              <a:rPr lang="es-CO" sz="1200" b="1" dirty="0" err="1">
                <a:solidFill>
                  <a:srgbClr val="00B0F0"/>
                </a:solidFill>
                <a:latin typeface="Arial"/>
                <a:cs typeface="Calibri"/>
              </a:rPr>
              <a:t>Xxxxxx</a:t>
            </a:r>
            <a:endParaRPr lang="es-CO" sz="1200" b="1">
              <a:solidFill>
                <a:srgbClr val="00B0F0"/>
              </a:solidFill>
              <a:latin typeface="Arial"/>
              <a:cs typeface="Calibri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69614BA-4C66-1E9F-BEEF-33EF5F512964}"/>
              </a:ext>
            </a:extLst>
          </p:cNvPr>
          <p:cNvSpPr txBox="1"/>
          <p:nvPr/>
        </p:nvSpPr>
        <p:spPr>
          <a:xfrm>
            <a:off x="552827" y="2623250"/>
            <a:ext cx="2300506" cy="138499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err="1">
                <a:solidFill>
                  <a:srgbClr val="333333"/>
                </a:solidFill>
                <a:cs typeface="Arial"/>
              </a:rPr>
              <a:t>Xxxxxxx</a:t>
            </a:r>
            <a:endParaRPr lang="es-ES" sz="120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err="1">
                <a:solidFill>
                  <a:srgbClr val="333333"/>
                </a:solidFill>
                <a:cs typeface="Arial"/>
              </a:rPr>
              <a:t>Xxxxxxx</a:t>
            </a:r>
            <a:endParaRPr lang="es-ES" sz="120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err="1">
                <a:solidFill>
                  <a:srgbClr val="333333"/>
                </a:solidFill>
                <a:cs typeface="Arial"/>
              </a:rPr>
              <a:t>Xxxxxxx</a:t>
            </a:r>
            <a:endParaRPr lang="es-ES" sz="120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err="1">
                <a:solidFill>
                  <a:srgbClr val="333333"/>
                </a:solidFill>
                <a:cs typeface="Arial"/>
              </a:rPr>
              <a:t>Xxxxxxx</a:t>
            </a:r>
            <a:endParaRPr lang="es-ES" sz="120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err="1">
                <a:solidFill>
                  <a:srgbClr val="333333"/>
                </a:solidFill>
                <a:cs typeface="Arial"/>
              </a:rPr>
              <a:t>Xxxxxxx</a:t>
            </a:r>
            <a:endParaRPr lang="es-ES" sz="120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err="1">
                <a:solidFill>
                  <a:srgbClr val="333333"/>
                </a:solidFill>
                <a:cs typeface="Arial"/>
              </a:rPr>
              <a:t>Xxxxxxx</a:t>
            </a:r>
            <a:endParaRPr lang="es-ES" sz="120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err="1">
                <a:solidFill>
                  <a:srgbClr val="333333"/>
                </a:solidFill>
                <a:cs typeface="Arial"/>
              </a:rPr>
              <a:t>Xxxxxxx</a:t>
            </a:r>
            <a:endParaRPr lang="es-ES" sz="1200">
              <a:solidFill>
                <a:srgbClr val="333333"/>
              </a:solidFill>
              <a:cs typeface="Arial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967A6A2-CBF1-97A3-7EC1-4F0433B99FF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36466" y="1856241"/>
            <a:ext cx="412266" cy="402001"/>
          </a:xfrm>
          <a:prstGeom prst="rect">
            <a:avLst/>
          </a:prstGeom>
        </p:spPr>
      </p:pic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AAF70BED-6B8A-3B40-76F1-9B43D2381FF8}"/>
              </a:ext>
            </a:extLst>
          </p:cNvPr>
          <p:cNvSpPr/>
          <p:nvPr/>
        </p:nvSpPr>
        <p:spPr>
          <a:xfrm>
            <a:off x="3197310" y="1674605"/>
            <a:ext cx="2560844" cy="3280385"/>
          </a:xfrm>
          <a:prstGeom prst="roundRect">
            <a:avLst>
              <a:gd name="adj" fmla="val 3508"/>
            </a:avLst>
          </a:prstGeom>
          <a:gradFill>
            <a:gsLst>
              <a:gs pos="0">
                <a:srgbClr val="E9E9E9"/>
              </a:gs>
              <a:gs pos="100000">
                <a:srgbClr val="FEFEFE"/>
              </a:gs>
            </a:gsLst>
            <a:lin ang="14400000" scaled="0"/>
          </a:gradFill>
          <a:ln>
            <a:noFill/>
          </a:ln>
          <a:effectLst>
            <a:outerShdw blurRad="1016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68040AED-0742-18FA-8AA8-9A822BE552AB}"/>
              </a:ext>
            </a:extLst>
          </p:cNvPr>
          <p:cNvSpPr txBox="1">
            <a:spLocks/>
          </p:cNvSpPr>
          <p:nvPr/>
        </p:nvSpPr>
        <p:spPr>
          <a:xfrm>
            <a:off x="3287925" y="2196178"/>
            <a:ext cx="2320669" cy="366178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s-CO" sz="1200" b="1" dirty="0">
                <a:solidFill>
                  <a:srgbClr val="1D1B80"/>
                </a:solidFill>
                <a:latin typeface="Arial"/>
                <a:cs typeface="Calibri"/>
              </a:rPr>
              <a:t>Entregables de </a:t>
            </a:r>
            <a:r>
              <a:rPr lang="es-CO" sz="1200" b="1" dirty="0" err="1">
                <a:solidFill>
                  <a:srgbClr val="00B0F0"/>
                </a:solidFill>
                <a:latin typeface="Arial"/>
                <a:cs typeface="Calibri"/>
              </a:rPr>
              <a:t>Xxxxxxxx</a:t>
            </a:r>
            <a:endParaRPr lang="es-CO" sz="1200" b="1">
              <a:solidFill>
                <a:srgbClr val="00B0F0"/>
              </a:solidFill>
              <a:latin typeface="Arial"/>
              <a:cs typeface="Calibri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56F59CF-31E9-31A3-AEFE-607448936085}"/>
              </a:ext>
            </a:extLst>
          </p:cNvPr>
          <p:cNvSpPr txBox="1"/>
          <p:nvPr/>
        </p:nvSpPr>
        <p:spPr>
          <a:xfrm>
            <a:off x="3325064" y="2623250"/>
            <a:ext cx="2305334" cy="10156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err="1">
                <a:solidFill>
                  <a:srgbClr val="333333"/>
                </a:solidFill>
                <a:cs typeface="Arial"/>
              </a:rPr>
              <a:t>Xxxxxxx</a:t>
            </a:r>
            <a:endParaRPr lang="es-ES" sz="120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err="1">
                <a:solidFill>
                  <a:srgbClr val="333333"/>
                </a:solidFill>
                <a:cs typeface="Arial"/>
              </a:rPr>
              <a:t>Xxxxxxx</a:t>
            </a:r>
            <a:endParaRPr lang="es-ES" sz="120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err="1">
                <a:solidFill>
                  <a:srgbClr val="333333"/>
                </a:solidFill>
                <a:cs typeface="Arial"/>
              </a:rPr>
              <a:t>Xxxxxxx</a:t>
            </a:r>
            <a:endParaRPr lang="es-ES" sz="120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err="1">
                <a:solidFill>
                  <a:srgbClr val="333333"/>
                </a:solidFill>
                <a:cs typeface="Arial"/>
              </a:rPr>
              <a:t>Xxxxxxx</a:t>
            </a:r>
            <a:endParaRPr lang="es-ES" sz="120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err="1">
                <a:solidFill>
                  <a:srgbClr val="333333"/>
                </a:solidFill>
                <a:cs typeface="Arial"/>
              </a:rPr>
              <a:t>Xxxxxxx</a:t>
            </a:r>
            <a:endParaRPr lang="es-ES" sz="1200">
              <a:solidFill>
                <a:srgbClr val="333333"/>
              </a:solidFill>
              <a:cs typeface="Arial"/>
            </a:endParaRP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7ED20777-8B07-C193-94DF-CF0BB96B1BF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418844" y="1843809"/>
            <a:ext cx="398488" cy="333758"/>
          </a:xfrm>
          <a:prstGeom prst="rect">
            <a:avLst/>
          </a:prstGeom>
        </p:spPr>
      </p:pic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C95487D0-955E-0D02-955C-E42E28AFF808}"/>
              </a:ext>
            </a:extLst>
          </p:cNvPr>
          <p:cNvSpPr/>
          <p:nvPr/>
        </p:nvSpPr>
        <p:spPr>
          <a:xfrm>
            <a:off x="5974893" y="1674605"/>
            <a:ext cx="2560844" cy="3280385"/>
          </a:xfrm>
          <a:prstGeom prst="roundRect">
            <a:avLst>
              <a:gd name="adj" fmla="val 3508"/>
            </a:avLst>
          </a:prstGeom>
          <a:gradFill>
            <a:gsLst>
              <a:gs pos="0">
                <a:srgbClr val="E9E9E9"/>
              </a:gs>
              <a:gs pos="100000">
                <a:srgbClr val="FEFEFE"/>
              </a:gs>
            </a:gsLst>
            <a:lin ang="14400000" scaled="0"/>
          </a:gradFill>
          <a:ln>
            <a:noFill/>
          </a:ln>
          <a:effectLst>
            <a:outerShdw blurRad="1016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Título 1">
            <a:extLst>
              <a:ext uri="{FF2B5EF4-FFF2-40B4-BE49-F238E27FC236}">
                <a16:creationId xmlns:a16="http://schemas.microsoft.com/office/drawing/2014/main" id="{3F4CA937-25F3-5D96-B9B5-6A45B129847B}"/>
              </a:ext>
            </a:extLst>
          </p:cNvPr>
          <p:cNvSpPr txBox="1">
            <a:spLocks/>
          </p:cNvSpPr>
          <p:nvPr/>
        </p:nvSpPr>
        <p:spPr>
          <a:xfrm>
            <a:off x="6065508" y="2196178"/>
            <a:ext cx="2320669" cy="366178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s-CO" sz="1200" b="1" dirty="0">
                <a:solidFill>
                  <a:srgbClr val="1D1B80"/>
                </a:solidFill>
                <a:latin typeface="Arial"/>
                <a:cs typeface="Calibri"/>
              </a:rPr>
              <a:t>Entregables de </a:t>
            </a:r>
            <a:r>
              <a:rPr lang="es-CO" sz="1200" b="1" dirty="0" err="1">
                <a:solidFill>
                  <a:srgbClr val="00B0F0"/>
                </a:solidFill>
                <a:latin typeface="Arial"/>
                <a:cs typeface="Calibri"/>
              </a:rPr>
              <a:t>Xxxxxxxx</a:t>
            </a:r>
            <a:endParaRPr lang="es-CO" sz="1200" b="1">
              <a:solidFill>
                <a:srgbClr val="00B0F0"/>
              </a:solidFill>
              <a:latin typeface="Arial"/>
              <a:cs typeface="Calibri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22F9B0EA-D219-F658-7AEB-E335DC9C1C36}"/>
              </a:ext>
            </a:extLst>
          </p:cNvPr>
          <p:cNvSpPr txBox="1"/>
          <p:nvPr/>
        </p:nvSpPr>
        <p:spPr>
          <a:xfrm>
            <a:off x="6097303" y="2623250"/>
            <a:ext cx="2305334" cy="175432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err="1">
                <a:solidFill>
                  <a:srgbClr val="333333"/>
                </a:solidFill>
                <a:cs typeface="Arial"/>
              </a:rPr>
              <a:t>Xxxxxxxxxx</a:t>
            </a:r>
            <a:endParaRPr lang="es-ES" sz="120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err="1">
                <a:solidFill>
                  <a:srgbClr val="333333"/>
                </a:solidFill>
                <a:cs typeface="Arial"/>
              </a:rPr>
              <a:t>Xxxxxxxxxx</a:t>
            </a:r>
            <a:endParaRPr lang="es-ES" sz="120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err="1">
                <a:solidFill>
                  <a:srgbClr val="333333"/>
                </a:solidFill>
                <a:cs typeface="Arial"/>
              </a:rPr>
              <a:t>Xxxxxxxxxx</a:t>
            </a:r>
            <a:endParaRPr lang="es-ES" sz="120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err="1">
                <a:solidFill>
                  <a:srgbClr val="333333"/>
                </a:solidFill>
                <a:cs typeface="Arial"/>
              </a:rPr>
              <a:t>Xxxxxxxxxx</a:t>
            </a:r>
            <a:endParaRPr lang="es-ES" sz="120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err="1">
                <a:solidFill>
                  <a:srgbClr val="333333"/>
                </a:solidFill>
                <a:cs typeface="Arial"/>
              </a:rPr>
              <a:t>Xxxxxxxxxx</a:t>
            </a:r>
            <a:endParaRPr lang="es-ES" sz="120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err="1">
                <a:solidFill>
                  <a:srgbClr val="333333"/>
                </a:solidFill>
                <a:cs typeface="Arial"/>
              </a:rPr>
              <a:t>Xxxxxxxxxx</a:t>
            </a:r>
            <a:endParaRPr lang="es-ES" sz="120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err="1">
                <a:solidFill>
                  <a:srgbClr val="333333"/>
                </a:solidFill>
                <a:cs typeface="Arial"/>
              </a:rPr>
              <a:t>Xxxxxxxxxx</a:t>
            </a:r>
            <a:endParaRPr lang="es-ES" sz="120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err="1">
                <a:solidFill>
                  <a:srgbClr val="333333"/>
                </a:solidFill>
                <a:cs typeface="Arial"/>
              </a:rPr>
              <a:t>Xxxxxxxxxx</a:t>
            </a:r>
            <a:endParaRPr lang="es-ES" sz="120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err="1">
                <a:solidFill>
                  <a:srgbClr val="333333"/>
                </a:solidFill>
                <a:cs typeface="Arial"/>
              </a:rPr>
              <a:t>Xxxxxxxxxx</a:t>
            </a:r>
            <a:endParaRPr lang="es-ES" sz="1200">
              <a:solidFill>
                <a:srgbClr val="333333"/>
              </a:solidFill>
              <a:cs typeface="Arial"/>
            </a:endParaRP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818F63F8-117A-5F37-87B6-BCF751DF971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196427" y="1827211"/>
            <a:ext cx="287813" cy="366178"/>
          </a:xfrm>
          <a:prstGeom prst="rect">
            <a:avLst/>
          </a:prstGeom>
        </p:spPr>
      </p:pic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18D46CA2-02E3-2D32-8B08-8AB0B06F9D57}"/>
              </a:ext>
            </a:extLst>
          </p:cNvPr>
          <p:cNvCxnSpPr>
            <a:cxnSpLocks/>
          </p:cNvCxnSpPr>
          <p:nvPr/>
        </p:nvCxnSpPr>
        <p:spPr>
          <a:xfrm>
            <a:off x="868101" y="311789"/>
            <a:ext cx="7057423" cy="0"/>
          </a:xfrm>
          <a:prstGeom prst="line">
            <a:avLst/>
          </a:prstGeom>
          <a:ln w="12700" cap="rnd">
            <a:gradFill>
              <a:gsLst>
                <a:gs pos="0">
                  <a:srgbClr val="15601D"/>
                </a:gs>
                <a:gs pos="100000">
                  <a:srgbClr val="15601D">
                    <a:alpha val="0"/>
                  </a:srgbClr>
                </a:gs>
              </a:gsLst>
              <a:lin ang="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2">
            <a:extLst>
              <a:ext uri="{FF2B5EF4-FFF2-40B4-BE49-F238E27FC236}">
                <a16:creationId xmlns:a16="http://schemas.microsoft.com/office/drawing/2014/main" id="{9DF1407A-FC8A-AD4E-08E7-8E35908B52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9676" y="183264"/>
            <a:ext cx="758098" cy="256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85911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64DFF4EC-CDB8-A07B-81B5-678EADD4FBE1}"/>
              </a:ext>
            </a:extLst>
          </p:cNvPr>
          <p:cNvSpPr/>
          <p:nvPr/>
        </p:nvSpPr>
        <p:spPr>
          <a:xfrm>
            <a:off x="0" y="0"/>
            <a:ext cx="9144000" cy="5148263"/>
          </a:xfrm>
          <a:prstGeom prst="rect">
            <a:avLst/>
          </a:prstGeom>
          <a:solidFill>
            <a:srgbClr val="CCFFD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24" name="Grupo 23">
            <a:extLst>
              <a:ext uri="{FF2B5EF4-FFF2-40B4-BE49-F238E27FC236}">
                <a16:creationId xmlns:a16="http://schemas.microsoft.com/office/drawing/2014/main" id="{7A58C86A-CF46-45FE-7599-15943B52FA9C}"/>
              </a:ext>
            </a:extLst>
          </p:cNvPr>
          <p:cNvGrpSpPr/>
          <p:nvPr/>
        </p:nvGrpSpPr>
        <p:grpSpPr>
          <a:xfrm>
            <a:off x="445717" y="1331253"/>
            <a:ext cx="1550783" cy="3542912"/>
            <a:chOff x="445717" y="1331253"/>
            <a:chExt cx="1550783" cy="3542912"/>
          </a:xfrm>
        </p:grpSpPr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AE23CC87-550F-1D3C-CCAA-B7BF3E7A2FD5}"/>
                </a:ext>
              </a:extLst>
            </p:cNvPr>
            <p:cNvGrpSpPr/>
            <p:nvPr/>
          </p:nvGrpSpPr>
          <p:grpSpPr>
            <a:xfrm>
              <a:off x="445717" y="1331253"/>
              <a:ext cx="1550783" cy="3542912"/>
              <a:chOff x="175950" y="763296"/>
              <a:chExt cx="2854960" cy="4172669"/>
            </a:xfrm>
          </p:grpSpPr>
          <p:sp>
            <p:nvSpPr>
              <p:cNvPr id="9" name="Rectángulo redondeado 8">
                <a:extLst>
                  <a:ext uri="{FF2B5EF4-FFF2-40B4-BE49-F238E27FC236}">
                    <a16:creationId xmlns:a16="http://schemas.microsoft.com/office/drawing/2014/main" id="{1977E006-F282-56F1-1443-1E3DFD20C1D9}"/>
                  </a:ext>
                </a:extLst>
              </p:cNvPr>
              <p:cNvSpPr/>
              <p:nvPr/>
            </p:nvSpPr>
            <p:spPr>
              <a:xfrm>
                <a:off x="175950" y="1349282"/>
                <a:ext cx="2854960" cy="3586683"/>
              </a:xfrm>
              <a:prstGeom prst="roundRect">
                <a:avLst>
                  <a:gd name="adj" fmla="val 7414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1007999" rtlCol="0" anchor="t" anchorCtr="0"/>
              <a:lstStyle/>
              <a:p>
                <a:pPr algn="ctr"/>
                <a:endParaRPr lang="es-CO" sz="1400" b="1">
                  <a:solidFill>
                    <a:srgbClr val="15601D"/>
                  </a:solidFill>
                </a:endParaRPr>
              </a:p>
            </p:txBody>
          </p:sp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B20D9EAF-B9CB-F4FB-DA94-F60C5337A13D}"/>
                  </a:ext>
                </a:extLst>
              </p:cNvPr>
              <p:cNvSpPr txBox="1"/>
              <p:nvPr/>
            </p:nvSpPr>
            <p:spPr>
              <a:xfrm>
                <a:off x="327249" y="1974956"/>
                <a:ext cx="2551119" cy="4552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1100"/>
                  </a:lnSpc>
                </a:pPr>
                <a:r>
                  <a:rPr lang="es-CO" sz="1400" b="1" err="1">
                    <a:solidFill>
                      <a:srgbClr val="15601D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xxxxxxxxxxxxxxxxxxxxxxx</a:t>
                </a:r>
                <a:endParaRPr lang="es-CO" sz="1400" b="1">
                  <a:solidFill>
                    <a:srgbClr val="15601D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" name="Elipse 4">
                <a:extLst>
                  <a:ext uri="{FF2B5EF4-FFF2-40B4-BE49-F238E27FC236}">
                    <a16:creationId xmlns:a16="http://schemas.microsoft.com/office/drawing/2014/main" id="{8BB44342-A5D6-9B69-84D5-142F080B01C9}"/>
                  </a:ext>
                </a:extLst>
              </p:cNvPr>
              <p:cNvSpPr/>
              <p:nvPr/>
            </p:nvSpPr>
            <p:spPr>
              <a:xfrm>
                <a:off x="669993" y="763296"/>
                <a:ext cx="1854424" cy="1171972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sz="1400">
                  <a:solidFill>
                    <a:srgbClr val="212121"/>
                  </a:solidFill>
                </a:endParaRPr>
              </a:p>
            </p:txBody>
          </p:sp>
        </p:grp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36A8EAC7-B13A-7318-8CF6-B9CD50F17807}"/>
                </a:ext>
              </a:extLst>
            </p:cNvPr>
            <p:cNvSpPr txBox="1"/>
            <p:nvPr/>
          </p:nvSpPr>
          <p:spPr>
            <a:xfrm>
              <a:off x="532049" y="2876757"/>
              <a:ext cx="1385740" cy="15083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100"/>
                </a:lnSpc>
              </a:pPr>
              <a:r>
                <a:rPr lang="es-CO" sz="1200">
                  <a:solidFill>
                    <a:srgbClr val="15601D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xxxxxxxxxxxxxxxxxxxxxxxxxxxxxxxxxxxxxxxxxxxxxxxxxxxxxxxxxxxxxxxxxxxxxxxxxxxxxxxxxxxxxxxxxxxxxxxxxxxxxxxxxxxxxxxxxxxxxxxxxxxxxxxxxxxxxxxxxxxxxxxxxxxxxxxxxxxxxxxxxxx</a:t>
              </a: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33CDA744-3030-39AF-02EC-7EDC60529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/>
              <a:t> </a:t>
            </a:r>
          </a:p>
        </p:txBody>
      </p:sp>
      <p:sp>
        <p:nvSpPr>
          <p:cNvPr id="3" name="Marcador de contenido 6">
            <a:extLst>
              <a:ext uri="{FF2B5EF4-FFF2-40B4-BE49-F238E27FC236}">
                <a16:creationId xmlns:a16="http://schemas.microsoft.com/office/drawing/2014/main" id="{C497BE85-B93E-3D43-8C1A-C3FBF9AF45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308" y="508624"/>
            <a:ext cx="5950523" cy="383183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s-CO" sz="22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Perfiles</a:t>
            </a:r>
          </a:p>
        </p:txBody>
      </p:sp>
      <p:pic>
        <p:nvPicPr>
          <p:cNvPr id="8" name="Picture 5">
            <a:extLst>
              <a:ext uri="{FF2B5EF4-FFF2-40B4-BE49-F238E27FC236}">
                <a16:creationId xmlns:a16="http://schemas.microsoft.com/office/drawing/2014/main" id="{FA7465B8-2467-A46D-0494-9654654983F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74919" y="1376315"/>
            <a:ext cx="900000" cy="900000"/>
          </a:xfrm>
          <a:prstGeom prst="rect">
            <a:avLst/>
          </a:prstGeom>
        </p:spPr>
      </p:pic>
      <p:grpSp>
        <p:nvGrpSpPr>
          <p:cNvPr id="25" name="Grupo 24">
            <a:extLst>
              <a:ext uri="{FF2B5EF4-FFF2-40B4-BE49-F238E27FC236}">
                <a16:creationId xmlns:a16="http://schemas.microsoft.com/office/drawing/2014/main" id="{0F357688-9109-2D2C-6751-40D5AF535341}"/>
              </a:ext>
            </a:extLst>
          </p:cNvPr>
          <p:cNvGrpSpPr/>
          <p:nvPr/>
        </p:nvGrpSpPr>
        <p:grpSpPr>
          <a:xfrm>
            <a:off x="2435455" y="1331253"/>
            <a:ext cx="1550783" cy="3542912"/>
            <a:chOff x="445717" y="1331253"/>
            <a:chExt cx="1550783" cy="3542912"/>
          </a:xfrm>
        </p:grpSpPr>
        <p:grpSp>
          <p:nvGrpSpPr>
            <p:cNvPr id="28" name="Grupo 27">
              <a:extLst>
                <a:ext uri="{FF2B5EF4-FFF2-40B4-BE49-F238E27FC236}">
                  <a16:creationId xmlns:a16="http://schemas.microsoft.com/office/drawing/2014/main" id="{78134B0E-144B-37DB-CB22-21F96314C3EC}"/>
                </a:ext>
              </a:extLst>
            </p:cNvPr>
            <p:cNvGrpSpPr/>
            <p:nvPr/>
          </p:nvGrpSpPr>
          <p:grpSpPr>
            <a:xfrm>
              <a:off x="445717" y="1331253"/>
              <a:ext cx="1550783" cy="3542912"/>
              <a:chOff x="175950" y="763296"/>
              <a:chExt cx="2854960" cy="4172669"/>
            </a:xfrm>
          </p:grpSpPr>
          <p:sp>
            <p:nvSpPr>
              <p:cNvPr id="30" name="Rectángulo redondeado 8">
                <a:extLst>
                  <a:ext uri="{FF2B5EF4-FFF2-40B4-BE49-F238E27FC236}">
                    <a16:creationId xmlns:a16="http://schemas.microsoft.com/office/drawing/2014/main" id="{1256C092-F364-6FC4-16FA-95E498AA167C}"/>
                  </a:ext>
                </a:extLst>
              </p:cNvPr>
              <p:cNvSpPr/>
              <p:nvPr/>
            </p:nvSpPr>
            <p:spPr>
              <a:xfrm>
                <a:off x="175950" y="1349282"/>
                <a:ext cx="2854960" cy="3586683"/>
              </a:xfrm>
              <a:prstGeom prst="roundRect">
                <a:avLst>
                  <a:gd name="adj" fmla="val 7414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1007999" rtlCol="0" anchor="t" anchorCtr="0"/>
              <a:lstStyle/>
              <a:p>
                <a:pPr algn="ctr"/>
                <a:endParaRPr lang="es-CO" sz="1400" b="1">
                  <a:solidFill>
                    <a:srgbClr val="15601D"/>
                  </a:solidFill>
                </a:endParaRPr>
              </a:p>
            </p:txBody>
          </p:sp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5508629C-0603-0631-6491-4AE86FCC4C05}"/>
                  </a:ext>
                </a:extLst>
              </p:cNvPr>
              <p:cNvSpPr txBox="1"/>
              <p:nvPr/>
            </p:nvSpPr>
            <p:spPr>
              <a:xfrm>
                <a:off x="327249" y="1974956"/>
                <a:ext cx="2551119" cy="4552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1100"/>
                  </a:lnSpc>
                </a:pPr>
                <a:r>
                  <a:rPr lang="es-CO" sz="1400" b="1" err="1">
                    <a:solidFill>
                      <a:srgbClr val="15601D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xxxxxxxxxxxxxxxxxxxxxxx</a:t>
                </a:r>
                <a:endParaRPr lang="es-CO" sz="1400" b="1">
                  <a:solidFill>
                    <a:srgbClr val="15601D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2" name="Elipse 31">
                <a:extLst>
                  <a:ext uri="{FF2B5EF4-FFF2-40B4-BE49-F238E27FC236}">
                    <a16:creationId xmlns:a16="http://schemas.microsoft.com/office/drawing/2014/main" id="{19E91CD8-4F90-A87B-73E7-3F31251BF146}"/>
                  </a:ext>
                </a:extLst>
              </p:cNvPr>
              <p:cNvSpPr/>
              <p:nvPr/>
            </p:nvSpPr>
            <p:spPr>
              <a:xfrm>
                <a:off x="669993" y="763296"/>
                <a:ext cx="1854424" cy="1171972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sz="1400">
                  <a:solidFill>
                    <a:srgbClr val="212121"/>
                  </a:solidFill>
                </a:endParaRPr>
              </a:p>
            </p:txBody>
          </p:sp>
        </p:grpSp>
        <p:sp>
          <p:nvSpPr>
            <p:cNvPr id="29" name="CuadroTexto 28">
              <a:extLst>
                <a:ext uri="{FF2B5EF4-FFF2-40B4-BE49-F238E27FC236}">
                  <a16:creationId xmlns:a16="http://schemas.microsoft.com/office/drawing/2014/main" id="{07C7D5F2-671A-DC73-67E7-9DAB89A2FA11}"/>
                </a:ext>
              </a:extLst>
            </p:cNvPr>
            <p:cNvSpPr txBox="1"/>
            <p:nvPr/>
          </p:nvSpPr>
          <p:spPr>
            <a:xfrm>
              <a:off x="532049" y="2876757"/>
              <a:ext cx="1385740" cy="15083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100"/>
                </a:lnSpc>
              </a:pPr>
              <a:r>
                <a:rPr lang="es-CO" sz="1200">
                  <a:solidFill>
                    <a:srgbClr val="15601D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xxxxxxxxxxxxxxxxxxxxxxxxxxxxxxxxxxxxxxxxxxxxxxxxxxxxxxxxxxxxxxxxxxxxxxxxxxxxxxxxxxxxxxxxxxxxxxxxxxxxxxxxxxxxxxxxxxxxxxxxxxxxxxxxxxxxxxxxxxxxxxxxxxxxxxxxxxxxxxxxxxx</a:t>
              </a:r>
            </a:p>
          </p:txBody>
        </p:sp>
      </p:grpSp>
      <p:grpSp>
        <p:nvGrpSpPr>
          <p:cNvPr id="33" name="Grupo 32">
            <a:extLst>
              <a:ext uri="{FF2B5EF4-FFF2-40B4-BE49-F238E27FC236}">
                <a16:creationId xmlns:a16="http://schemas.microsoft.com/office/drawing/2014/main" id="{100CA3A1-3E29-AD5A-F8E8-C7960EFAD165}"/>
              </a:ext>
            </a:extLst>
          </p:cNvPr>
          <p:cNvGrpSpPr/>
          <p:nvPr/>
        </p:nvGrpSpPr>
        <p:grpSpPr>
          <a:xfrm>
            <a:off x="4539436" y="1293562"/>
            <a:ext cx="1550783" cy="3542912"/>
            <a:chOff x="445717" y="1331253"/>
            <a:chExt cx="1550783" cy="3542912"/>
          </a:xfrm>
        </p:grpSpPr>
        <p:grpSp>
          <p:nvGrpSpPr>
            <p:cNvPr id="34" name="Grupo 33">
              <a:extLst>
                <a:ext uri="{FF2B5EF4-FFF2-40B4-BE49-F238E27FC236}">
                  <a16:creationId xmlns:a16="http://schemas.microsoft.com/office/drawing/2014/main" id="{F24DD69C-8475-D7CD-0C30-EA6471E8B04E}"/>
                </a:ext>
              </a:extLst>
            </p:cNvPr>
            <p:cNvGrpSpPr/>
            <p:nvPr/>
          </p:nvGrpSpPr>
          <p:grpSpPr>
            <a:xfrm>
              <a:off x="445717" y="1331253"/>
              <a:ext cx="1550783" cy="3542912"/>
              <a:chOff x="175950" y="763296"/>
              <a:chExt cx="2854960" cy="4172669"/>
            </a:xfrm>
          </p:grpSpPr>
          <p:sp>
            <p:nvSpPr>
              <p:cNvPr id="47" name="Rectángulo redondeado 8">
                <a:extLst>
                  <a:ext uri="{FF2B5EF4-FFF2-40B4-BE49-F238E27FC236}">
                    <a16:creationId xmlns:a16="http://schemas.microsoft.com/office/drawing/2014/main" id="{B123DAD5-08CB-7305-F258-0CE44A7AE7B7}"/>
                  </a:ext>
                </a:extLst>
              </p:cNvPr>
              <p:cNvSpPr/>
              <p:nvPr/>
            </p:nvSpPr>
            <p:spPr>
              <a:xfrm>
                <a:off x="175950" y="1349282"/>
                <a:ext cx="2854960" cy="3586683"/>
              </a:xfrm>
              <a:prstGeom prst="roundRect">
                <a:avLst>
                  <a:gd name="adj" fmla="val 7414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1007999" rtlCol="0" anchor="t" anchorCtr="0"/>
              <a:lstStyle/>
              <a:p>
                <a:pPr algn="ctr"/>
                <a:endParaRPr lang="es-CO" sz="1400" b="1">
                  <a:solidFill>
                    <a:srgbClr val="15601D"/>
                  </a:solidFill>
                </a:endParaRPr>
              </a:p>
            </p:txBody>
          </p:sp>
          <p:sp>
            <p:nvSpPr>
              <p:cNvPr id="48" name="CuadroTexto 47">
                <a:extLst>
                  <a:ext uri="{FF2B5EF4-FFF2-40B4-BE49-F238E27FC236}">
                    <a16:creationId xmlns:a16="http://schemas.microsoft.com/office/drawing/2014/main" id="{CA692F6B-3A5E-B844-36AE-5EF722FA14DF}"/>
                  </a:ext>
                </a:extLst>
              </p:cNvPr>
              <p:cNvSpPr txBox="1"/>
              <p:nvPr/>
            </p:nvSpPr>
            <p:spPr>
              <a:xfrm>
                <a:off x="327249" y="1974956"/>
                <a:ext cx="2551119" cy="4552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1100"/>
                  </a:lnSpc>
                </a:pPr>
                <a:r>
                  <a:rPr lang="es-CO" sz="1400" b="1" err="1">
                    <a:solidFill>
                      <a:srgbClr val="15601D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xxxxxxxxxxxxxxxxxxxxxxx</a:t>
                </a:r>
                <a:endParaRPr lang="es-CO" sz="1400" b="1">
                  <a:solidFill>
                    <a:srgbClr val="15601D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9" name="Elipse 48">
                <a:extLst>
                  <a:ext uri="{FF2B5EF4-FFF2-40B4-BE49-F238E27FC236}">
                    <a16:creationId xmlns:a16="http://schemas.microsoft.com/office/drawing/2014/main" id="{D792071B-B349-ABE3-F5B4-10E5DF176591}"/>
                  </a:ext>
                </a:extLst>
              </p:cNvPr>
              <p:cNvSpPr/>
              <p:nvPr/>
            </p:nvSpPr>
            <p:spPr>
              <a:xfrm>
                <a:off x="669993" y="763296"/>
                <a:ext cx="1854424" cy="1171972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sz="1400">
                  <a:solidFill>
                    <a:srgbClr val="212121"/>
                  </a:solidFill>
                </a:endParaRPr>
              </a:p>
            </p:txBody>
          </p:sp>
        </p:grpSp>
        <p:sp>
          <p:nvSpPr>
            <p:cNvPr id="35" name="CuadroTexto 34">
              <a:extLst>
                <a:ext uri="{FF2B5EF4-FFF2-40B4-BE49-F238E27FC236}">
                  <a16:creationId xmlns:a16="http://schemas.microsoft.com/office/drawing/2014/main" id="{F8F3D9F8-B350-3380-A7B5-C849BF8040F8}"/>
                </a:ext>
              </a:extLst>
            </p:cNvPr>
            <p:cNvSpPr txBox="1"/>
            <p:nvPr/>
          </p:nvSpPr>
          <p:spPr>
            <a:xfrm>
              <a:off x="532049" y="2876757"/>
              <a:ext cx="1385740" cy="15083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100"/>
                </a:lnSpc>
              </a:pPr>
              <a:r>
                <a:rPr lang="es-CO" sz="1200">
                  <a:solidFill>
                    <a:srgbClr val="15601D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xxxxxxxxxxxxxxxxxxxxxxxxxxxxxxxxxxxxxxxxxxxxxxxxxxxxxxxxxxxxxxxxxxxxxxxxxxxxxxxxxxxxxxxxxxxxxxxxxxxxxxxxxxxxxxxxxxxxxxxxxxxxxxxxxxxxxxxxxxxxxxxxxxxxxxxxxxxxxxxxxxx</a:t>
              </a:r>
            </a:p>
          </p:txBody>
        </p:sp>
      </p:grpSp>
      <p:grpSp>
        <p:nvGrpSpPr>
          <p:cNvPr id="50" name="Grupo 49">
            <a:extLst>
              <a:ext uri="{FF2B5EF4-FFF2-40B4-BE49-F238E27FC236}">
                <a16:creationId xmlns:a16="http://schemas.microsoft.com/office/drawing/2014/main" id="{B4DA1892-E940-B7C3-6B2D-0732ADD8E2BC}"/>
              </a:ext>
            </a:extLst>
          </p:cNvPr>
          <p:cNvGrpSpPr/>
          <p:nvPr/>
        </p:nvGrpSpPr>
        <p:grpSpPr>
          <a:xfrm>
            <a:off x="6680393" y="1257706"/>
            <a:ext cx="1550783" cy="3542912"/>
            <a:chOff x="445717" y="1331253"/>
            <a:chExt cx="1550783" cy="3542912"/>
          </a:xfrm>
        </p:grpSpPr>
        <p:grpSp>
          <p:nvGrpSpPr>
            <p:cNvPr id="51" name="Grupo 50">
              <a:extLst>
                <a:ext uri="{FF2B5EF4-FFF2-40B4-BE49-F238E27FC236}">
                  <a16:creationId xmlns:a16="http://schemas.microsoft.com/office/drawing/2014/main" id="{3D05E1FC-7BC5-FD25-6D0C-5AD2B6B79FD7}"/>
                </a:ext>
              </a:extLst>
            </p:cNvPr>
            <p:cNvGrpSpPr/>
            <p:nvPr/>
          </p:nvGrpSpPr>
          <p:grpSpPr>
            <a:xfrm>
              <a:off x="445717" y="1331253"/>
              <a:ext cx="1550783" cy="3542912"/>
              <a:chOff x="175950" y="763296"/>
              <a:chExt cx="2854960" cy="4172669"/>
            </a:xfrm>
          </p:grpSpPr>
          <p:sp>
            <p:nvSpPr>
              <p:cNvPr id="53" name="Rectángulo redondeado 8">
                <a:extLst>
                  <a:ext uri="{FF2B5EF4-FFF2-40B4-BE49-F238E27FC236}">
                    <a16:creationId xmlns:a16="http://schemas.microsoft.com/office/drawing/2014/main" id="{3A1D45C9-8761-47E2-D52F-26564C0BBB4B}"/>
                  </a:ext>
                </a:extLst>
              </p:cNvPr>
              <p:cNvSpPr/>
              <p:nvPr/>
            </p:nvSpPr>
            <p:spPr>
              <a:xfrm>
                <a:off x="175950" y="1349282"/>
                <a:ext cx="2854960" cy="3586683"/>
              </a:xfrm>
              <a:prstGeom prst="roundRect">
                <a:avLst>
                  <a:gd name="adj" fmla="val 7414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1007999" rtlCol="0" anchor="t" anchorCtr="0"/>
              <a:lstStyle/>
              <a:p>
                <a:pPr algn="ctr"/>
                <a:endParaRPr lang="es-CO" sz="1400" b="1">
                  <a:solidFill>
                    <a:srgbClr val="15601D"/>
                  </a:solidFill>
                </a:endParaRPr>
              </a:p>
            </p:txBody>
          </p:sp>
          <p:sp>
            <p:nvSpPr>
              <p:cNvPr id="54" name="CuadroTexto 53">
                <a:extLst>
                  <a:ext uri="{FF2B5EF4-FFF2-40B4-BE49-F238E27FC236}">
                    <a16:creationId xmlns:a16="http://schemas.microsoft.com/office/drawing/2014/main" id="{99272F2A-40A4-AE9F-CEAA-38280F9634FD}"/>
                  </a:ext>
                </a:extLst>
              </p:cNvPr>
              <p:cNvSpPr txBox="1"/>
              <p:nvPr/>
            </p:nvSpPr>
            <p:spPr>
              <a:xfrm>
                <a:off x="327249" y="1974956"/>
                <a:ext cx="2551119" cy="4552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1100"/>
                  </a:lnSpc>
                </a:pPr>
                <a:r>
                  <a:rPr lang="es-CO" sz="1400" b="1" err="1">
                    <a:solidFill>
                      <a:srgbClr val="15601D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xxxxxxxxxxxxxxxxxxxxxxx</a:t>
                </a:r>
                <a:endParaRPr lang="es-CO" sz="1400" b="1">
                  <a:solidFill>
                    <a:srgbClr val="15601D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5" name="Elipse 54">
                <a:extLst>
                  <a:ext uri="{FF2B5EF4-FFF2-40B4-BE49-F238E27FC236}">
                    <a16:creationId xmlns:a16="http://schemas.microsoft.com/office/drawing/2014/main" id="{45B36A2A-40FF-63BC-05D8-6180C14D9F0C}"/>
                  </a:ext>
                </a:extLst>
              </p:cNvPr>
              <p:cNvSpPr/>
              <p:nvPr/>
            </p:nvSpPr>
            <p:spPr>
              <a:xfrm>
                <a:off x="669993" y="763296"/>
                <a:ext cx="1854424" cy="1171972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sz="1400">
                  <a:solidFill>
                    <a:srgbClr val="212121"/>
                  </a:solidFill>
                </a:endParaRPr>
              </a:p>
            </p:txBody>
          </p:sp>
        </p:grpSp>
        <p:sp>
          <p:nvSpPr>
            <p:cNvPr id="52" name="CuadroTexto 51">
              <a:extLst>
                <a:ext uri="{FF2B5EF4-FFF2-40B4-BE49-F238E27FC236}">
                  <a16:creationId xmlns:a16="http://schemas.microsoft.com/office/drawing/2014/main" id="{A786DEDB-6E70-0525-0C3F-B6DFE28A23FD}"/>
                </a:ext>
              </a:extLst>
            </p:cNvPr>
            <p:cNvSpPr txBox="1"/>
            <p:nvPr/>
          </p:nvSpPr>
          <p:spPr>
            <a:xfrm>
              <a:off x="532049" y="2876757"/>
              <a:ext cx="1385740" cy="15083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100"/>
                </a:lnSpc>
              </a:pPr>
              <a:r>
                <a:rPr lang="es-CO" sz="1200">
                  <a:solidFill>
                    <a:srgbClr val="15601D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xxxxxxxxxxxxxxxxxxxxxxxxxxxxxxxxxxxxxxxxxxxxxxxxxxxxxxxxxxxxxxxxxxxxxxxxxxxxxxxxxxxxxxxxxxxxxxxxxxxxxxxxxxxxxxxxxxxxxxxxxxxxxxxxxxxxxxxxxxxxxxxxxxxxxxxxxxxxxxxxxxx</a:t>
              </a:r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CE09FF79-8EF7-21CF-25D8-B08B10CC05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4657" y="1376315"/>
            <a:ext cx="900000" cy="900000"/>
          </a:xfrm>
          <a:prstGeom prst="rect">
            <a:avLst/>
          </a:prstGeom>
        </p:spPr>
      </p:pic>
      <p:pic>
        <p:nvPicPr>
          <p:cNvPr id="10" name="Picture 7">
            <a:extLst>
              <a:ext uri="{FF2B5EF4-FFF2-40B4-BE49-F238E27FC236}">
                <a16:creationId xmlns:a16="http://schemas.microsoft.com/office/drawing/2014/main" id="{F2DD5A06-D2C2-0DEC-C428-3A61A2FD09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0168" y="1302889"/>
            <a:ext cx="900000" cy="900000"/>
          </a:xfrm>
          <a:prstGeom prst="rect">
            <a:avLst/>
          </a:prstGeom>
        </p:spPr>
      </p:pic>
      <p:pic>
        <p:nvPicPr>
          <p:cNvPr id="13" name="Picture 6">
            <a:extLst>
              <a:ext uri="{FF2B5EF4-FFF2-40B4-BE49-F238E27FC236}">
                <a16:creationId xmlns:a16="http://schemas.microsoft.com/office/drawing/2014/main" id="{ACDA6A21-BDA1-7828-14F9-567A1457223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67770" y="1341108"/>
            <a:ext cx="901736" cy="900000"/>
          </a:xfrm>
          <a:prstGeom prst="rect">
            <a:avLst/>
          </a:prstGeom>
        </p:spPr>
      </p:pic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480355A9-B852-A109-95F1-5AF45462D69A}"/>
              </a:ext>
            </a:extLst>
          </p:cNvPr>
          <p:cNvCxnSpPr>
            <a:cxnSpLocks/>
          </p:cNvCxnSpPr>
          <p:nvPr/>
        </p:nvCxnSpPr>
        <p:spPr>
          <a:xfrm>
            <a:off x="868101" y="311789"/>
            <a:ext cx="7057423" cy="0"/>
          </a:xfrm>
          <a:prstGeom prst="line">
            <a:avLst/>
          </a:prstGeom>
          <a:ln w="12700" cap="rnd">
            <a:gradFill>
              <a:gsLst>
                <a:gs pos="0">
                  <a:srgbClr val="15601D"/>
                </a:gs>
                <a:gs pos="100000">
                  <a:srgbClr val="15601D">
                    <a:alpha val="0"/>
                  </a:srgbClr>
                </a:gs>
              </a:gsLst>
              <a:lin ang="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2">
            <a:extLst>
              <a:ext uri="{FF2B5EF4-FFF2-40B4-BE49-F238E27FC236}">
                <a16:creationId xmlns:a16="http://schemas.microsoft.com/office/drawing/2014/main" id="{98E84EF7-6BFD-BA69-84F3-B21DC1E99D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9676" y="183264"/>
            <a:ext cx="758098" cy="256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22405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7F825-D0E1-0D7E-D88F-600A70F49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8E69272D-EA08-D775-600A-ADA910C25D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-8869"/>
            <a:ext cx="9183999" cy="5166000"/>
          </a:xfrm>
        </p:spPr>
      </p:pic>
      <p:sp>
        <p:nvSpPr>
          <p:cNvPr id="6" name="Marcador de contenido 6">
            <a:extLst>
              <a:ext uri="{FF2B5EF4-FFF2-40B4-BE49-F238E27FC236}">
                <a16:creationId xmlns:a16="http://schemas.microsoft.com/office/drawing/2014/main" id="{92DBB2A7-AA68-3FE1-D9C1-1FB4DA1A8360}"/>
              </a:ext>
            </a:extLst>
          </p:cNvPr>
          <p:cNvSpPr txBox="1">
            <a:spLocks/>
          </p:cNvSpPr>
          <p:nvPr/>
        </p:nvSpPr>
        <p:spPr>
          <a:xfrm>
            <a:off x="1478112" y="415901"/>
            <a:ext cx="5950523" cy="38318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s-CO" sz="22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Cronograma Aproximado</a:t>
            </a: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BBBE3EA3-1B90-0886-DF4E-468518B0703D}"/>
              </a:ext>
            </a:extLst>
          </p:cNvPr>
          <p:cNvGrpSpPr/>
          <p:nvPr/>
        </p:nvGrpSpPr>
        <p:grpSpPr>
          <a:xfrm>
            <a:off x="1002341" y="4398349"/>
            <a:ext cx="7139318" cy="668026"/>
            <a:chOff x="1000542" y="4045286"/>
            <a:chExt cx="7139318" cy="560457"/>
          </a:xfrm>
        </p:grpSpPr>
        <p:sp>
          <p:nvSpPr>
            <p:cNvPr id="4" name="Redondear rectángulo de esquina diagonal 14">
              <a:extLst>
                <a:ext uri="{FF2B5EF4-FFF2-40B4-BE49-F238E27FC236}">
                  <a16:creationId xmlns:a16="http://schemas.microsoft.com/office/drawing/2014/main" id="{1F19676D-2121-1DCD-BEEA-6B0952C2FD83}"/>
                </a:ext>
              </a:extLst>
            </p:cNvPr>
            <p:cNvSpPr/>
            <p:nvPr/>
          </p:nvSpPr>
          <p:spPr>
            <a:xfrm>
              <a:off x="1000542" y="4045286"/>
              <a:ext cx="7139318" cy="560457"/>
            </a:xfrm>
            <a:prstGeom prst="round2DiagRect">
              <a:avLst>
                <a:gd name="adj1" fmla="val 8535"/>
                <a:gd name="adj2" fmla="val 29416"/>
              </a:avLst>
            </a:prstGeom>
            <a:gradFill>
              <a:gsLst>
                <a:gs pos="0">
                  <a:schemeClr val="bg1"/>
                </a:gs>
                <a:gs pos="100000">
                  <a:srgbClr val="E4EFD9"/>
                </a:gs>
              </a:gsLst>
              <a:lin ang="0" scaled="0"/>
            </a:gradFill>
            <a:ln>
              <a:noFill/>
            </a:ln>
            <a:effectLst>
              <a:outerShdw blurRad="88900" sx="102000" sy="102000" algn="ctr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72000" tIns="324000" rIns="72000" bIns="72000" rtlCol="0" anchor="ctr"/>
            <a:lstStyle/>
            <a:p>
              <a:r>
                <a:rPr lang="es-ES" sz="1100" i="1" dirty="0">
                  <a:solidFill>
                    <a:srgbClr val="333333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* Proponemos un sprint 0 para realizar las reuniones iniciales – </a:t>
              </a:r>
              <a:r>
                <a:rPr lang="es-ES" sz="1100" i="1" dirty="0" err="1">
                  <a:solidFill>
                    <a:srgbClr val="333333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Kickoff</a:t>
              </a:r>
              <a:r>
                <a:rPr lang="es-ES" sz="1100" i="1" dirty="0">
                  <a:solidFill>
                    <a:srgbClr val="333333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y prepararnos para el inicio del proyecto..</a:t>
              </a:r>
            </a:p>
          </p:txBody>
        </p:sp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E4E26894-6207-D69F-F6B4-A7777808178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86815" y="4062426"/>
              <a:ext cx="349602" cy="274647"/>
            </a:xfrm>
            <a:prstGeom prst="rect">
              <a:avLst/>
            </a:prstGeom>
          </p:spPr>
        </p:pic>
      </p:grp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7FED8D57-D154-F746-4B9F-FF96835040A0}"/>
              </a:ext>
            </a:extLst>
          </p:cNvPr>
          <p:cNvCxnSpPr>
            <a:cxnSpLocks/>
          </p:cNvCxnSpPr>
          <p:nvPr/>
        </p:nvCxnSpPr>
        <p:spPr>
          <a:xfrm>
            <a:off x="868101" y="311789"/>
            <a:ext cx="7057423" cy="0"/>
          </a:xfrm>
          <a:prstGeom prst="line">
            <a:avLst/>
          </a:prstGeom>
          <a:ln w="12700" cap="rnd">
            <a:gradFill>
              <a:gsLst>
                <a:gs pos="0">
                  <a:srgbClr val="15601D"/>
                </a:gs>
                <a:gs pos="100000">
                  <a:srgbClr val="15601D">
                    <a:alpha val="0"/>
                  </a:srgbClr>
                </a:gs>
              </a:gsLst>
              <a:lin ang="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2">
            <a:extLst>
              <a:ext uri="{FF2B5EF4-FFF2-40B4-BE49-F238E27FC236}">
                <a16:creationId xmlns:a16="http://schemas.microsoft.com/office/drawing/2014/main" id="{70227D64-2B92-E2B3-C2F1-CBDA8F63BE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9676" y="183264"/>
            <a:ext cx="758098" cy="256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937925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BCD988DD-AC33-9E6B-D671-548F3FE1BFC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2719635" y="-8869"/>
            <a:ext cx="7550307" cy="5166000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D48A82A4-D9F3-5273-ECA2-C69D0313CA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3855" y="-12032"/>
            <a:ext cx="5885266" cy="52578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D381509-8BEE-0144-4CD4-A185D3292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8414"/>
            <a:ext cx="5563602" cy="715004"/>
          </a:xfrm>
        </p:spPr>
        <p:txBody>
          <a:bodyPr>
            <a:normAutofit/>
          </a:bodyPr>
          <a:lstStyle/>
          <a:p>
            <a:pPr>
              <a:lnSpc>
                <a:spcPts val="2800"/>
              </a:lnSpc>
            </a:pPr>
            <a:r>
              <a:rPr lang="es-CO" sz="26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Consideraciones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CDC1CC1-9645-9F59-E0AE-B130E0B7A8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87189" y="0"/>
            <a:ext cx="771769" cy="762000"/>
          </a:xfrm>
          <a:prstGeom prst="rect">
            <a:avLst/>
          </a:prstGeom>
        </p:spPr>
      </p:pic>
      <p:grpSp>
        <p:nvGrpSpPr>
          <p:cNvPr id="3" name="Grupo 2">
            <a:extLst>
              <a:ext uri="{FF2B5EF4-FFF2-40B4-BE49-F238E27FC236}">
                <a16:creationId xmlns:a16="http://schemas.microsoft.com/office/drawing/2014/main" id="{BD6804FF-CCD7-71BD-0E3A-897D66E2B790}"/>
              </a:ext>
            </a:extLst>
          </p:cNvPr>
          <p:cNvGrpSpPr/>
          <p:nvPr/>
        </p:nvGrpSpPr>
        <p:grpSpPr>
          <a:xfrm>
            <a:off x="214328" y="1107495"/>
            <a:ext cx="4158890" cy="708641"/>
            <a:chOff x="7269844" y="1511795"/>
            <a:chExt cx="4158890" cy="831267"/>
          </a:xfrm>
        </p:grpSpPr>
        <p:sp>
          <p:nvSpPr>
            <p:cNvPr id="6" name="Redondear rectángulo de esquina diagonal 14">
              <a:extLst>
                <a:ext uri="{FF2B5EF4-FFF2-40B4-BE49-F238E27FC236}">
                  <a16:creationId xmlns:a16="http://schemas.microsoft.com/office/drawing/2014/main" id="{D27067DB-C9A6-102D-D81C-B99E0C27F2FE}"/>
                </a:ext>
              </a:extLst>
            </p:cNvPr>
            <p:cNvSpPr/>
            <p:nvPr/>
          </p:nvSpPr>
          <p:spPr>
            <a:xfrm>
              <a:off x="7269844" y="1511795"/>
              <a:ext cx="4158890" cy="831267"/>
            </a:xfrm>
            <a:prstGeom prst="round2DiagRect">
              <a:avLst>
                <a:gd name="adj1" fmla="val 8535"/>
                <a:gd name="adj2" fmla="val 24637"/>
              </a:avLst>
            </a:prstGeom>
            <a:gradFill>
              <a:gsLst>
                <a:gs pos="0">
                  <a:schemeClr val="bg1"/>
                </a:gs>
                <a:gs pos="100000">
                  <a:srgbClr val="E4EFD9"/>
                </a:gs>
              </a:gsLst>
              <a:lin ang="0" scaled="0"/>
            </a:gradFill>
            <a:ln>
              <a:noFill/>
            </a:ln>
            <a:effectLst>
              <a:outerShdw blurRad="88900" sx="102000" sy="102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648000" tIns="0" rIns="72000" bIns="0" rtlCol="0" anchor="ctr"/>
            <a:lstStyle/>
            <a:p>
              <a:pPr algn="just"/>
              <a:r>
                <a:rPr lang="es-ES" sz="1200" i="1">
                  <a:solidFill>
                    <a:srgbClr val="333333"/>
                  </a:solidFill>
                  <a:cs typeface="Calibri"/>
                </a:rPr>
                <a:t>Xxxxxxxxxxxxxxxxxxxxxxxxxxxxxxxxxxxxxxxxxxxxxxxxxxxxxxxxxxxxxxxxxxxxxxxxxxxxxxxxxxxxxxxxxxxxxxxxxxxxxxxxxxxxxxxxxxxxxxxxxxxxxxxxxxxxxxxxxxxxxxxxxxxxxxxxx.</a:t>
              </a:r>
            </a:p>
          </p:txBody>
        </p:sp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A6DE15E4-D303-C19C-BBD2-A1FA6AAD5B0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502458" y="1748535"/>
              <a:ext cx="349602" cy="397747"/>
            </a:xfrm>
            <a:prstGeom prst="rect">
              <a:avLst/>
            </a:prstGeom>
          </p:spPr>
        </p:pic>
      </p:grpSp>
      <p:grpSp>
        <p:nvGrpSpPr>
          <p:cNvPr id="10" name="Grupo 9">
            <a:extLst>
              <a:ext uri="{FF2B5EF4-FFF2-40B4-BE49-F238E27FC236}">
                <a16:creationId xmlns:a16="http://schemas.microsoft.com/office/drawing/2014/main" id="{B37A192E-35D4-0CD5-9184-7FBC8174BDF0}"/>
              </a:ext>
            </a:extLst>
          </p:cNvPr>
          <p:cNvGrpSpPr/>
          <p:nvPr/>
        </p:nvGrpSpPr>
        <p:grpSpPr>
          <a:xfrm>
            <a:off x="195637" y="1978913"/>
            <a:ext cx="4158890" cy="708641"/>
            <a:chOff x="7269844" y="1511795"/>
            <a:chExt cx="4158890" cy="831267"/>
          </a:xfrm>
        </p:grpSpPr>
        <p:sp>
          <p:nvSpPr>
            <p:cNvPr id="11" name="Redondear rectángulo de esquina diagonal 14">
              <a:extLst>
                <a:ext uri="{FF2B5EF4-FFF2-40B4-BE49-F238E27FC236}">
                  <a16:creationId xmlns:a16="http://schemas.microsoft.com/office/drawing/2014/main" id="{FB381829-7045-347E-2517-736DC1292B02}"/>
                </a:ext>
              </a:extLst>
            </p:cNvPr>
            <p:cNvSpPr/>
            <p:nvPr/>
          </p:nvSpPr>
          <p:spPr>
            <a:xfrm>
              <a:off x="7269844" y="1511795"/>
              <a:ext cx="4158890" cy="831267"/>
            </a:xfrm>
            <a:prstGeom prst="round2DiagRect">
              <a:avLst>
                <a:gd name="adj1" fmla="val 8535"/>
                <a:gd name="adj2" fmla="val 24637"/>
              </a:avLst>
            </a:prstGeom>
            <a:gradFill>
              <a:gsLst>
                <a:gs pos="0">
                  <a:schemeClr val="bg1"/>
                </a:gs>
                <a:gs pos="100000">
                  <a:srgbClr val="E4EFD9"/>
                </a:gs>
              </a:gsLst>
              <a:lin ang="0" scaled="0"/>
            </a:gradFill>
            <a:ln>
              <a:noFill/>
            </a:ln>
            <a:effectLst>
              <a:outerShdw blurRad="88900" sx="102000" sy="102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648000" tIns="0" rIns="72000" bIns="0" rtlCol="0" anchor="ctr"/>
            <a:lstStyle/>
            <a:p>
              <a:pPr algn="just"/>
              <a:r>
                <a:rPr lang="es-ES" sz="1200" i="1">
                  <a:solidFill>
                    <a:srgbClr val="333333"/>
                  </a:solidFill>
                  <a:cs typeface="Calibri"/>
                </a:rPr>
                <a:t>Xxxxxxxxxxxxxxxxxxxxxxxxxxxxxxxxxxxxxxxxxxxxxxxxxxxxxxxxxxxxxxxxxxxxxxxxxxxxxxxxxxxxxxxxxxxxxxxxxxxxxxxxxxxxxxxxxxxxxxxxxxxxxxxxxxxxxxxxxxxxxxxxxxxxxxxxx.</a:t>
              </a:r>
            </a:p>
          </p:txBody>
        </p:sp>
        <p:pic>
          <p:nvPicPr>
            <p:cNvPr id="12" name="Imagen 11">
              <a:extLst>
                <a:ext uri="{FF2B5EF4-FFF2-40B4-BE49-F238E27FC236}">
                  <a16:creationId xmlns:a16="http://schemas.microsoft.com/office/drawing/2014/main" id="{DD68229A-67A5-760B-CE0F-AD54AB8675E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502458" y="1748535"/>
              <a:ext cx="349602" cy="397747"/>
            </a:xfrm>
            <a:prstGeom prst="rect">
              <a:avLst/>
            </a:prstGeom>
          </p:spPr>
        </p:pic>
      </p:grpSp>
      <p:grpSp>
        <p:nvGrpSpPr>
          <p:cNvPr id="13" name="Grupo 12">
            <a:extLst>
              <a:ext uri="{FF2B5EF4-FFF2-40B4-BE49-F238E27FC236}">
                <a16:creationId xmlns:a16="http://schemas.microsoft.com/office/drawing/2014/main" id="{D73EAF91-BF78-49BD-1089-768393847061}"/>
              </a:ext>
            </a:extLst>
          </p:cNvPr>
          <p:cNvGrpSpPr/>
          <p:nvPr/>
        </p:nvGrpSpPr>
        <p:grpSpPr>
          <a:xfrm>
            <a:off x="195637" y="2850332"/>
            <a:ext cx="4158890" cy="708641"/>
            <a:chOff x="7269844" y="1511795"/>
            <a:chExt cx="4158890" cy="831267"/>
          </a:xfrm>
        </p:grpSpPr>
        <p:sp>
          <p:nvSpPr>
            <p:cNvPr id="14" name="Redondear rectángulo de esquina diagonal 14">
              <a:extLst>
                <a:ext uri="{FF2B5EF4-FFF2-40B4-BE49-F238E27FC236}">
                  <a16:creationId xmlns:a16="http://schemas.microsoft.com/office/drawing/2014/main" id="{C93FF70A-FD5E-822C-066D-6DD30E239512}"/>
                </a:ext>
              </a:extLst>
            </p:cNvPr>
            <p:cNvSpPr/>
            <p:nvPr/>
          </p:nvSpPr>
          <p:spPr>
            <a:xfrm>
              <a:off x="7269844" y="1511795"/>
              <a:ext cx="4158890" cy="831267"/>
            </a:xfrm>
            <a:prstGeom prst="round2DiagRect">
              <a:avLst>
                <a:gd name="adj1" fmla="val 8535"/>
                <a:gd name="adj2" fmla="val 24637"/>
              </a:avLst>
            </a:prstGeom>
            <a:gradFill>
              <a:gsLst>
                <a:gs pos="0">
                  <a:schemeClr val="bg1"/>
                </a:gs>
                <a:gs pos="100000">
                  <a:srgbClr val="E4EFD9"/>
                </a:gs>
              </a:gsLst>
              <a:lin ang="0" scaled="0"/>
            </a:gradFill>
            <a:ln>
              <a:noFill/>
            </a:ln>
            <a:effectLst>
              <a:outerShdw blurRad="88900" sx="102000" sy="102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648000" tIns="0" rIns="72000" bIns="0" rtlCol="0" anchor="ctr"/>
            <a:lstStyle/>
            <a:p>
              <a:pPr algn="just"/>
              <a:r>
                <a:rPr lang="es-ES" sz="1200" i="1">
                  <a:solidFill>
                    <a:srgbClr val="333333"/>
                  </a:solidFill>
                  <a:cs typeface="Calibri"/>
                </a:rPr>
                <a:t>Xxxxxxxxxxxxxxxxxxxxxxxxxxxxxxxxxxxxxxxxxxxxxxxxxxxxxxxxxxxxxxxxxxxxxxxxxxxxxxxxxxxxxxxxxxxxxxxxxxxxxxxxxxxxxxxxxxxxxxxxxxxxxxxxxxxxxxxxxxxxxxxxxxxxxxxxx.</a:t>
              </a:r>
            </a:p>
          </p:txBody>
        </p:sp>
        <p:pic>
          <p:nvPicPr>
            <p:cNvPr id="15" name="Imagen 14">
              <a:extLst>
                <a:ext uri="{FF2B5EF4-FFF2-40B4-BE49-F238E27FC236}">
                  <a16:creationId xmlns:a16="http://schemas.microsoft.com/office/drawing/2014/main" id="{0E8724D6-98B4-C102-E245-901B4B6F613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502458" y="1748535"/>
              <a:ext cx="349602" cy="397747"/>
            </a:xfrm>
            <a:prstGeom prst="rect">
              <a:avLst/>
            </a:prstGeom>
          </p:spPr>
        </p:pic>
      </p:grpSp>
      <p:grpSp>
        <p:nvGrpSpPr>
          <p:cNvPr id="16" name="Grupo 15">
            <a:extLst>
              <a:ext uri="{FF2B5EF4-FFF2-40B4-BE49-F238E27FC236}">
                <a16:creationId xmlns:a16="http://schemas.microsoft.com/office/drawing/2014/main" id="{91D901DF-EAE7-4DE1-5BD9-7FD4D30DF9CB}"/>
              </a:ext>
            </a:extLst>
          </p:cNvPr>
          <p:cNvGrpSpPr/>
          <p:nvPr/>
        </p:nvGrpSpPr>
        <p:grpSpPr>
          <a:xfrm>
            <a:off x="176946" y="3721750"/>
            <a:ext cx="4158890" cy="708641"/>
            <a:chOff x="7269844" y="1511795"/>
            <a:chExt cx="4158890" cy="831267"/>
          </a:xfrm>
        </p:grpSpPr>
        <p:sp>
          <p:nvSpPr>
            <p:cNvPr id="17" name="Redondear rectángulo de esquina diagonal 14">
              <a:extLst>
                <a:ext uri="{FF2B5EF4-FFF2-40B4-BE49-F238E27FC236}">
                  <a16:creationId xmlns:a16="http://schemas.microsoft.com/office/drawing/2014/main" id="{FCB8464A-3B22-B3FC-E0B4-6C68291E015A}"/>
                </a:ext>
              </a:extLst>
            </p:cNvPr>
            <p:cNvSpPr/>
            <p:nvPr/>
          </p:nvSpPr>
          <p:spPr>
            <a:xfrm>
              <a:off x="7269844" y="1511795"/>
              <a:ext cx="4158890" cy="831267"/>
            </a:xfrm>
            <a:prstGeom prst="round2DiagRect">
              <a:avLst>
                <a:gd name="adj1" fmla="val 8535"/>
                <a:gd name="adj2" fmla="val 24637"/>
              </a:avLst>
            </a:prstGeom>
            <a:gradFill>
              <a:gsLst>
                <a:gs pos="0">
                  <a:schemeClr val="bg1"/>
                </a:gs>
                <a:gs pos="100000">
                  <a:srgbClr val="E4EFD9"/>
                </a:gs>
              </a:gsLst>
              <a:lin ang="0" scaled="0"/>
            </a:gradFill>
            <a:ln>
              <a:noFill/>
            </a:ln>
            <a:effectLst>
              <a:outerShdw blurRad="88900" sx="102000" sy="102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648000" tIns="0" rIns="72000" bIns="0" rtlCol="0" anchor="ctr"/>
            <a:lstStyle/>
            <a:p>
              <a:pPr algn="just"/>
              <a:r>
                <a:rPr lang="es-ES" sz="1200" i="1">
                  <a:solidFill>
                    <a:srgbClr val="333333"/>
                  </a:solidFill>
                  <a:cs typeface="Calibri"/>
                </a:rPr>
                <a:t>Xxxxxxxxxxxxxxxxxxxxxxxxxxxxxxxxxxxxxxxxxxxxxxxxxxxxxxxxxxxxxxxxxxxxxxxxxxxxxxxxxxxxxxxxxxxxxxxxxxxxxxxxxxxxxxxxxxxxxxxxxxxxxxxxxxxxxxxxxxxxxxxxxxxxxxxxx</a:t>
              </a:r>
              <a:r>
                <a:rPr lang="es-ES" sz="1200" i="1">
                  <a:solidFill>
                    <a:srgbClr val="333333"/>
                  </a:solidFill>
                  <a:ea typeface="Calibri"/>
                  <a:cs typeface="Calibri"/>
                </a:rPr>
                <a:t>.</a:t>
              </a:r>
            </a:p>
          </p:txBody>
        </p:sp>
        <p:pic>
          <p:nvPicPr>
            <p:cNvPr id="18" name="Imagen 17">
              <a:extLst>
                <a:ext uri="{FF2B5EF4-FFF2-40B4-BE49-F238E27FC236}">
                  <a16:creationId xmlns:a16="http://schemas.microsoft.com/office/drawing/2014/main" id="{3BE65DDA-DE50-64E2-D375-F400981FFC4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502458" y="1748535"/>
              <a:ext cx="349602" cy="39774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882327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C3C08-5717-ECDB-D577-AA9A0C0CA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contenido 6">
            <a:extLst>
              <a:ext uri="{FF2B5EF4-FFF2-40B4-BE49-F238E27FC236}">
                <a16:creationId xmlns:a16="http://schemas.microsoft.com/office/drawing/2014/main" id="{346AF1F0-005D-69A1-429D-D55892F72B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6331" y="444918"/>
            <a:ext cx="5950523" cy="383183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s-MX" sz="22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Fuera del Alcance del Servicio</a:t>
            </a: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41612057-2B64-6489-DB6F-6A962FC50C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87189" y="-8238"/>
            <a:ext cx="771769" cy="762000"/>
          </a:xfrm>
          <a:prstGeom prst="rect">
            <a:avLst/>
          </a:prstGeom>
        </p:spPr>
      </p:pic>
      <p:grpSp>
        <p:nvGrpSpPr>
          <p:cNvPr id="4" name="Grupo 3">
            <a:extLst>
              <a:ext uri="{FF2B5EF4-FFF2-40B4-BE49-F238E27FC236}">
                <a16:creationId xmlns:a16="http://schemas.microsoft.com/office/drawing/2014/main" id="{6DCACBB9-107A-8BBA-43C5-7E8BAC0D3454}"/>
              </a:ext>
            </a:extLst>
          </p:cNvPr>
          <p:cNvGrpSpPr/>
          <p:nvPr/>
        </p:nvGrpSpPr>
        <p:grpSpPr>
          <a:xfrm>
            <a:off x="214327" y="855730"/>
            <a:ext cx="8525887" cy="708641"/>
            <a:chOff x="7269843" y="1511795"/>
            <a:chExt cx="8525887" cy="831267"/>
          </a:xfrm>
        </p:grpSpPr>
        <p:sp>
          <p:nvSpPr>
            <p:cNvPr id="7" name="Redondear rectángulo de esquina diagonal 14">
              <a:extLst>
                <a:ext uri="{FF2B5EF4-FFF2-40B4-BE49-F238E27FC236}">
                  <a16:creationId xmlns:a16="http://schemas.microsoft.com/office/drawing/2014/main" id="{8DCB538A-1F82-CB1F-B149-2F96654DD7BC}"/>
                </a:ext>
              </a:extLst>
            </p:cNvPr>
            <p:cNvSpPr/>
            <p:nvPr/>
          </p:nvSpPr>
          <p:spPr>
            <a:xfrm>
              <a:off x="7269843" y="1511795"/>
              <a:ext cx="8525887" cy="831267"/>
            </a:xfrm>
            <a:prstGeom prst="round2DiagRect">
              <a:avLst>
                <a:gd name="adj1" fmla="val 8535"/>
                <a:gd name="adj2" fmla="val 29416"/>
              </a:avLst>
            </a:prstGeom>
            <a:gradFill>
              <a:gsLst>
                <a:gs pos="0">
                  <a:schemeClr val="bg1"/>
                </a:gs>
                <a:gs pos="100000">
                  <a:srgbClr val="E4EFD9"/>
                </a:gs>
              </a:gsLst>
              <a:lin ang="0" scaled="0"/>
            </a:gradFill>
            <a:ln>
              <a:noFill/>
            </a:ln>
            <a:effectLst>
              <a:outerShdw blurRad="88900" sx="102000" sy="102000" algn="ctr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648000" tIns="0" rIns="72000" bIns="0" rtlCol="0" anchor="ctr"/>
            <a:lstStyle/>
            <a:p>
              <a:r>
                <a:rPr lang="es-ES" sz="1200" i="1">
                  <a:solidFill>
                    <a:srgbClr val="333333"/>
                  </a:solidFill>
                  <a:latin typeface="Calibri"/>
                  <a:ea typeface="Calibri"/>
                  <a:cs typeface="Calibri"/>
                </a:rPr>
                <a:t>El servicio se prestará de acuerdo con la información obtenida hasta el momento; si estas definiciones cambian, las actividades adicionales serán evaluadas mediante la metodología de control de cambios.</a:t>
              </a:r>
            </a:p>
          </p:txBody>
        </p:sp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4AF1792D-4677-36CA-AC15-E1EFDC81FE9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02458" y="1748535"/>
              <a:ext cx="349602" cy="397747"/>
            </a:xfrm>
            <a:prstGeom prst="rect">
              <a:avLst/>
            </a:prstGeom>
          </p:spPr>
        </p:pic>
      </p:grpSp>
      <p:grpSp>
        <p:nvGrpSpPr>
          <p:cNvPr id="10" name="Grupo 9">
            <a:extLst>
              <a:ext uri="{FF2B5EF4-FFF2-40B4-BE49-F238E27FC236}">
                <a16:creationId xmlns:a16="http://schemas.microsoft.com/office/drawing/2014/main" id="{92ABF73B-428D-F894-7ADB-95AF13C310AA}"/>
              </a:ext>
            </a:extLst>
          </p:cNvPr>
          <p:cNvGrpSpPr/>
          <p:nvPr/>
        </p:nvGrpSpPr>
        <p:grpSpPr>
          <a:xfrm>
            <a:off x="227280" y="2205814"/>
            <a:ext cx="5878358" cy="355487"/>
            <a:chOff x="-204003" y="1930587"/>
            <a:chExt cx="5878358" cy="355487"/>
          </a:xfrm>
        </p:grpSpPr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D68E168B-332C-9310-ABEC-7EAF7E89E27B}"/>
                </a:ext>
              </a:extLst>
            </p:cNvPr>
            <p:cNvSpPr/>
            <p:nvPr/>
          </p:nvSpPr>
          <p:spPr>
            <a:xfrm>
              <a:off x="-132263" y="1930587"/>
              <a:ext cx="5806618" cy="3554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r>
                <a:rPr lang="es-MX" sz="1200" err="1">
                  <a:solidFill>
                    <a:srgbClr val="333333"/>
                  </a:solidFill>
                  <a:cs typeface="Arial"/>
                </a:rPr>
                <a:t>Xxxxxxxxxxxxxxxxxxxxxxxxxxxxxxxxxxxxxxxxxx</a:t>
              </a:r>
              <a:endParaRPr lang="es-MX" sz="1200" i="0" u="none" strike="noStrike" kern="1200" cap="none" spc="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cs typeface="Arial"/>
              </a:endParaRPr>
            </a:p>
          </p:txBody>
        </p:sp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0FBEF93A-083B-ABA1-C0D0-6A7D3564F91C}"/>
                </a:ext>
              </a:extLst>
            </p:cNvPr>
            <p:cNvSpPr/>
            <p:nvPr/>
          </p:nvSpPr>
          <p:spPr>
            <a:xfrm>
              <a:off x="-204003" y="1930587"/>
              <a:ext cx="71740" cy="355487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200">
                <a:cs typeface="Arial"/>
              </a:endParaRPr>
            </a:p>
          </p:txBody>
        </p:sp>
      </p:grpSp>
      <p:grpSp>
        <p:nvGrpSpPr>
          <p:cNvPr id="13" name="Grupo 12">
            <a:extLst>
              <a:ext uri="{FF2B5EF4-FFF2-40B4-BE49-F238E27FC236}">
                <a16:creationId xmlns:a16="http://schemas.microsoft.com/office/drawing/2014/main" id="{D0B98600-DB3E-EDC7-F51F-46A9E8BD08D1}"/>
              </a:ext>
            </a:extLst>
          </p:cNvPr>
          <p:cNvGrpSpPr/>
          <p:nvPr/>
        </p:nvGrpSpPr>
        <p:grpSpPr>
          <a:xfrm>
            <a:off x="227280" y="2607841"/>
            <a:ext cx="5878358" cy="355487"/>
            <a:chOff x="-204003" y="1930587"/>
            <a:chExt cx="5878358" cy="355487"/>
          </a:xfrm>
        </p:grpSpPr>
        <p:sp>
          <p:nvSpPr>
            <p:cNvPr id="14" name="Rectángulo 13">
              <a:extLst>
                <a:ext uri="{FF2B5EF4-FFF2-40B4-BE49-F238E27FC236}">
                  <a16:creationId xmlns:a16="http://schemas.microsoft.com/office/drawing/2014/main" id="{69D72D67-4ACF-C0EB-7F4C-5B0827A003C7}"/>
                </a:ext>
              </a:extLst>
            </p:cNvPr>
            <p:cNvSpPr/>
            <p:nvPr/>
          </p:nvSpPr>
          <p:spPr>
            <a:xfrm>
              <a:off x="-132264" y="1930587"/>
              <a:ext cx="5806619" cy="3554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r>
                <a:rPr lang="es-MX" sz="1200" err="1">
                  <a:solidFill>
                    <a:srgbClr val="333333"/>
                  </a:solidFill>
                  <a:cs typeface="Arial"/>
                </a:rPr>
                <a:t>Xxxxxxxxxxxxxxxxxxxxxxxxxxxxxxxxxxxxxxxxx</a:t>
              </a:r>
              <a:endParaRPr kumimoji="0" lang="es-MX" sz="1200" i="0" u="none" strike="noStrike" kern="1200" cap="none" spc="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cs typeface="Arial"/>
              </a:endParaRPr>
            </a:p>
          </p:txBody>
        </p:sp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1067D93C-0BA8-E946-BD24-33F7D27CA5C5}"/>
                </a:ext>
              </a:extLst>
            </p:cNvPr>
            <p:cNvSpPr/>
            <p:nvPr/>
          </p:nvSpPr>
          <p:spPr>
            <a:xfrm>
              <a:off x="-204003" y="1930587"/>
              <a:ext cx="71740" cy="355487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200">
                <a:cs typeface="Arial"/>
              </a:endParaRPr>
            </a:p>
          </p:txBody>
        </p:sp>
      </p:grpSp>
      <p:grpSp>
        <p:nvGrpSpPr>
          <p:cNvPr id="19" name="Grupo 18">
            <a:extLst>
              <a:ext uri="{FF2B5EF4-FFF2-40B4-BE49-F238E27FC236}">
                <a16:creationId xmlns:a16="http://schemas.microsoft.com/office/drawing/2014/main" id="{90A98122-4A9D-6509-4444-B53433F26EFC}"/>
              </a:ext>
            </a:extLst>
          </p:cNvPr>
          <p:cNvGrpSpPr/>
          <p:nvPr/>
        </p:nvGrpSpPr>
        <p:grpSpPr>
          <a:xfrm>
            <a:off x="227280" y="3009283"/>
            <a:ext cx="5884368" cy="398454"/>
            <a:chOff x="-204003" y="1930587"/>
            <a:chExt cx="5884368" cy="398454"/>
          </a:xfrm>
        </p:grpSpPr>
        <p:sp>
          <p:nvSpPr>
            <p:cNvPr id="20" name="Rectángulo 19">
              <a:extLst>
                <a:ext uri="{FF2B5EF4-FFF2-40B4-BE49-F238E27FC236}">
                  <a16:creationId xmlns:a16="http://schemas.microsoft.com/office/drawing/2014/main" id="{54D1D6F3-D422-2BEA-3D35-F93479563641}"/>
                </a:ext>
              </a:extLst>
            </p:cNvPr>
            <p:cNvSpPr/>
            <p:nvPr/>
          </p:nvSpPr>
          <p:spPr>
            <a:xfrm>
              <a:off x="-132263" y="1930587"/>
              <a:ext cx="5812628" cy="39845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r>
                <a:rPr lang="es-MX" sz="1200" err="1">
                  <a:solidFill>
                    <a:srgbClr val="333333"/>
                  </a:solidFill>
                  <a:cs typeface="Arial"/>
                </a:rPr>
                <a:t>Xxxxxxxxxxxxxxxxxxxxxxxxxxxxxxxxxxxxxxxxxx</a:t>
              </a:r>
              <a:endParaRPr kumimoji="0" lang="es-MX" sz="1200" i="0" u="none" strike="noStrike" kern="1200" cap="none" spc="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cs typeface="Arial"/>
              </a:endParaRPr>
            </a:p>
          </p:txBody>
        </p:sp>
        <p:sp>
          <p:nvSpPr>
            <p:cNvPr id="21" name="Rectángulo 20">
              <a:extLst>
                <a:ext uri="{FF2B5EF4-FFF2-40B4-BE49-F238E27FC236}">
                  <a16:creationId xmlns:a16="http://schemas.microsoft.com/office/drawing/2014/main" id="{43DED962-1DF0-8C67-C008-9C3E2CFD7D52}"/>
                </a:ext>
              </a:extLst>
            </p:cNvPr>
            <p:cNvSpPr/>
            <p:nvPr/>
          </p:nvSpPr>
          <p:spPr>
            <a:xfrm>
              <a:off x="-204003" y="1930587"/>
              <a:ext cx="71740" cy="398454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200">
                <a:cs typeface="Arial"/>
              </a:endParaRPr>
            </a:p>
          </p:txBody>
        </p:sp>
      </p:grpSp>
      <p:grpSp>
        <p:nvGrpSpPr>
          <p:cNvPr id="22" name="Grupo 21">
            <a:extLst>
              <a:ext uri="{FF2B5EF4-FFF2-40B4-BE49-F238E27FC236}">
                <a16:creationId xmlns:a16="http://schemas.microsoft.com/office/drawing/2014/main" id="{49A1E106-105C-3E68-1E1D-879E309DCC2E}"/>
              </a:ext>
            </a:extLst>
          </p:cNvPr>
          <p:cNvGrpSpPr/>
          <p:nvPr/>
        </p:nvGrpSpPr>
        <p:grpSpPr>
          <a:xfrm>
            <a:off x="227280" y="3483716"/>
            <a:ext cx="5884368" cy="355487"/>
            <a:chOff x="-204003" y="1930587"/>
            <a:chExt cx="5884368" cy="355487"/>
          </a:xfrm>
        </p:grpSpPr>
        <p:sp>
          <p:nvSpPr>
            <p:cNvPr id="23" name="Rectángulo 22">
              <a:extLst>
                <a:ext uri="{FF2B5EF4-FFF2-40B4-BE49-F238E27FC236}">
                  <a16:creationId xmlns:a16="http://schemas.microsoft.com/office/drawing/2014/main" id="{26933317-4978-ADAD-ACA8-2EF49FC61682}"/>
                </a:ext>
              </a:extLst>
            </p:cNvPr>
            <p:cNvSpPr/>
            <p:nvPr/>
          </p:nvSpPr>
          <p:spPr>
            <a:xfrm>
              <a:off x="-132263" y="1930587"/>
              <a:ext cx="5812628" cy="3554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r>
                <a:rPr lang="es-MX" sz="1200" err="1">
                  <a:solidFill>
                    <a:srgbClr val="333333"/>
                  </a:solidFill>
                  <a:cs typeface="Arial"/>
                </a:rPr>
                <a:t>Xxxxxxxxxxxxxxxxxxxxxxxxxxxxxxxxxxxxxxxxxx</a:t>
              </a:r>
              <a:endParaRPr lang="es-MX" sz="1200" b="0" i="0" u="none" strike="noStrike" kern="1200" cap="none" spc="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cs typeface="Arial"/>
              </a:endParaRPr>
            </a:p>
          </p:txBody>
        </p:sp>
        <p:sp>
          <p:nvSpPr>
            <p:cNvPr id="24" name="Rectángulo 23">
              <a:extLst>
                <a:ext uri="{FF2B5EF4-FFF2-40B4-BE49-F238E27FC236}">
                  <a16:creationId xmlns:a16="http://schemas.microsoft.com/office/drawing/2014/main" id="{B0263F3C-A0EA-05D9-ED1F-92FFDC22ED05}"/>
                </a:ext>
              </a:extLst>
            </p:cNvPr>
            <p:cNvSpPr/>
            <p:nvPr/>
          </p:nvSpPr>
          <p:spPr>
            <a:xfrm>
              <a:off x="-204003" y="1930587"/>
              <a:ext cx="71740" cy="355487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200">
                <a:cs typeface="Arial"/>
              </a:endParaRPr>
            </a:p>
          </p:txBody>
        </p:sp>
      </p:grpSp>
      <p:grpSp>
        <p:nvGrpSpPr>
          <p:cNvPr id="25" name="Grupo 24">
            <a:extLst>
              <a:ext uri="{FF2B5EF4-FFF2-40B4-BE49-F238E27FC236}">
                <a16:creationId xmlns:a16="http://schemas.microsoft.com/office/drawing/2014/main" id="{F33AC1E3-20B7-B3A4-E516-B0D7D5896867}"/>
              </a:ext>
            </a:extLst>
          </p:cNvPr>
          <p:cNvGrpSpPr/>
          <p:nvPr/>
        </p:nvGrpSpPr>
        <p:grpSpPr>
          <a:xfrm>
            <a:off x="227280" y="3885158"/>
            <a:ext cx="5884368" cy="355487"/>
            <a:chOff x="-204003" y="1930587"/>
            <a:chExt cx="5884368" cy="355487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76F0C6C7-175D-46E6-68FF-DEBE37E50F78}"/>
                </a:ext>
              </a:extLst>
            </p:cNvPr>
            <p:cNvSpPr/>
            <p:nvPr/>
          </p:nvSpPr>
          <p:spPr>
            <a:xfrm>
              <a:off x="-132263" y="1930587"/>
              <a:ext cx="5812628" cy="3554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r>
                <a:rPr lang="es-MX" sz="1200" err="1">
                  <a:solidFill>
                    <a:srgbClr val="333333"/>
                  </a:solidFill>
                  <a:cs typeface="Arial"/>
                </a:rPr>
                <a:t>Xxxxxxxxxxxxxxxxxxxxxxxxxxxxxxxxxxxxxxxxxx</a:t>
              </a:r>
              <a:endParaRPr kumimoji="0" lang="es-MX" sz="1200" i="0" u="none" strike="noStrike" kern="1200" cap="none" spc="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cs typeface="Arial"/>
              </a:endParaRPr>
            </a:p>
          </p:txBody>
        </p:sp>
        <p:sp>
          <p:nvSpPr>
            <p:cNvPr id="27" name="Rectángulo 26">
              <a:extLst>
                <a:ext uri="{FF2B5EF4-FFF2-40B4-BE49-F238E27FC236}">
                  <a16:creationId xmlns:a16="http://schemas.microsoft.com/office/drawing/2014/main" id="{A974C9A2-14A1-1EAF-1E99-CC51740C8B0B}"/>
                </a:ext>
              </a:extLst>
            </p:cNvPr>
            <p:cNvSpPr/>
            <p:nvPr/>
          </p:nvSpPr>
          <p:spPr>
            <a:xfrm>
              <a:off x="-204003" y="1930587"/>
              <a:ext cx="71740" cy="355487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200">
                <a:cs typeface="Arial"/>
              </a:endParaRPr>
            </a:p>
          </p:txBody>
        </p:sp>
      </p:grpSp>
      <p:grpSp>
        <p:nvGrpSpPr>
          <p:cNvPr id="28" name="Grupo 27">
            <a:extLst>
              <a:ext uri="{FF2B5EF4-FFF2-40B4-BE49-F238E27FC236}">
                <a16:creationId xmlns:a16="http://schemas.microsoft.com/office/drawing/2014/main" id="{D234F398-F4B2-B404-F05C-6434B556EA2E}"/>
              </a:ext>
            </a:extLst>
          </p:cNvPr>
          <p:cNvGrpSpPr/>
          <p:nvPr/>
        </p:nvGrpSpPr>
        <p:grpSpPr>
          <a:xfrm>
            <a:off x="214327" y="4286599"/>
            <a:ext cx="5891312" cy="355487"/>
            <a:chOff x="-204003" y="1930587"/>
            <a:chExt cx="5882362" cy="355487"/>
          </a:xfrm>
        </p:grpSpPr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9EE9F8BF-97F3-5C98-52DB-D8AE3630F52D}"/>
                </a:ext>
              </a:extLst>
            </p:cNvPr>
            <p:cNvSpPr/>
            <p:nvPr/>
          </p:nvSpPr>
          <p:spPr>
            <a:xfrm>
              <a:off x="-132262" y="1930587"/>
              <a:ext cx="5810621" cy="3554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r>
                <a:rPr lang="es-MX" sz="1200" err="1">
                  <a:solidFill>
                    <a:srgbClr val="333333"/>
                  </a:solidFill>
                  <a:cs typeface="Arial"/>
                </a:rPr>
                <a:t>Xxxxxxxxxxxxxxxxxxxxxxxxxxxxxxxxxxxxxxxxxx</a:t>
              </a:r>
              <a:endParaRPr kumimoji="0" lang="es-MX" sz="1200" i="0" u="none" strike="noStrike" kern="1200" cap="none" spc="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cs typeface="Arial"/>
              </a:endParaRPr>
            </a:p>
            <a:p>
              <a:endParaRPr kumimoji="0" lang="es-MX" sz="12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cs typeface="Arial"/>
              </a:endParaRPr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5B2DEE7D-5B5F-ABA2-4990-BDFAD341E224}"/>
                </a:ext>
              </a:extLst>
            </p:cNvPr>
            <p:cNvSpPr/>
            <p:nvPr/>
          </p:nvSpPr>
          <p:spPr>
            <a:xfrm>
              <a:off x="-204003" y="1930587"/>
              <a:ext cx="71740" cy="355487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200">
                <a:cs typeface="Arial"/>
              </a:endParaRPr>
            </a:p>
          </p:txBody>
        </p:sp>
      </p:grpSp>
      <p:sp>
        <p:nvSpPr>
          <p:cNvPr id="31" name="Rectángulo: esquinas redondeadas 30">
            <a:extLst>
              <a:ext uri="{FF2B5EF4-FFF2-40B4-BE49-F238E27FC236}">
                <a16:creationId xmlns:a16="http://schemas.microsoft.com/office/drawing/2014/main" id="{61D63969-6766-7769-A902-0D9872F7EEEA}"/>
              </a:ext>
            </a:extLst>
          </p:cNvPr>
          <p:cNvSpPr/>
          <p:nvPr/>
        </p:nvSpPr>
        <p:spPr>
          <a:xfrm>
            <a:off x="6249118" y="1673727"/>
            <a:ext cx="2491095" cy="3014311"/>
          </a:xfrm>
          <a:prstGeom prst="roundRect">
            <a:avLst>
              <a:gd name="adj" fmla="val 3508"/>
            </a:avLst>
          </a:prstGeom>
          <a:gradFill>
            <a:gsLst>
              <a:gs pos="0">
                <a:srgbClr val="02AE3E"/>
              </a:gs>
              <a:gs pos="100000">
                <a:srgbClr val="1D5180"/>
              </a:gs>
            </a:gsLst>
            <a:lin ang="14400000" scaled="0"/>
          </a:gradFill>
          <a:ln>
            <a:noFill/>
          </a:ln>
          <a:effectLst>
            <a:outerShdw blurRad="1016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2" name="Título 1">
            <a:extLst>
              <a:ext uri="{FF2B5EF4-FFF2-40B4-BE49-F238E27FC236}">
                <a16:creationId xmlns:a16="http://schemas.microsoft.com/office/drawing/2014/main" id="{F2E7810F-CDA4-75EA-2AAD-067FAD0196F2}"/>
              </a:ext>
            </a:extLst>
          </p:cNvPr>
          <p:cNvSpPr txBox="1">
            <a:spLocks/>
          </p:cNvSpPr>
          <p:nvPr/>
        </p:nvSpPr>
        <p:spPr>
          <a:xfrm>
            <a:off x="6641933" y="1790661"/>
            <a:ext cx="1979946" cy="355284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s-ES" sz="1200" b="1">
                <a:solidFill>
                  <a:schemeClr val="bg1"/>
                </a:solidFill>
                <a:latin typeface="Arial"/>
                <a:cs typeface="Calibri"/>
              </a:rPr>
              <a:t>Fuera del Alcance Pruebas de Calidad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EB39180-4599-F0E8-98C1-AF66EAA3A51C}"/>
              </a:ext>
            </a:extLst>
          </p:cNvPr>
          <p:cNvSpPr txBox="1"/>
          <p:nvPr/>
        </p:nvSpPr>
        <p:spPr>
          <a:xfrm>
            <a:off x="6366850" y="2346597"/>
            <a:ext cx="2255029" cy="73866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s-ES" sz="1200" err="1">
                <a:solidFill>
                  <a:schemeClr val="bg1"/>
                </a:solidFill>
                <a:cs typeface="Arial"/>
              </a:rPr>
              <a:t>Xxxxxxxxxxxxxxxxxxx</a:t>
            </a:r>
            <a:endParaRPr lang="es-ES" sz="1200">
              <a:solidFill>
                <a:schemeClr val="bg1"/>
              </a:solidFill>
              <a:cs typeface="Arial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s-ES" sz="1200" err="1">
                <a:solidFill>
                  <a:schemeClr val="bg1"/>
                </a:solidFill>
                <a:cs typeface="Arial"/>
              </a:rPr>
              <a:t>Xxxxxxxxxxxxxxxxxxxxx</a:t>
            </a:r>
            <a:endParaRPr lang="es-ES" sz="1200">
              <a:solidFill>
                <a:schemeClr val="bg1"/>
              </a:solidFill>
              <a:cs typeface="Arial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s-ES" sz="1200" err="1">
                <a:solidFill>
                  <a:schemeClr val="bg1"/>
                </a:solidFill>
                <a:cs typeface="Arial"/>
              </a:rPr>
              <a:t>Xxxxxxxxxxxxxxxxxxxxxxx</a:t>
            </a:r>
            <a:endParaRPr lang="es-ES" sz="1200">
              <a:solidFill>
                <a:schemeClr val="bg1"/>
              </a:solidFill>
              <a:cs typeface="Arial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s-ES" sz="1200" err="1">
                <a:solidFill>
                  <a:schemeClr val="bg1"/>
                </a:solidFill>
                <a:cs typeface="Arial"/>
              </a:rPr>
              <a:t>Xxxxxxxxxxxxxxxxxxxxxxxx</a:t>
            </a:r>
            <a:endParaRPr lang="es-ES" sz="1200">
              <a:solidFill>
                <a:schemeClr val="bg1"/>
              </a:solidFill>
              <a:cs typeface="Arial"/>
            </a:endParaRPr>
          </a:p>
        </p:txBody>
      </p:sp>
      <p:pic>
        <p:nvPicPr>
          <p:cNvPr id="34" name="Imagen 33">
            <a:extLst>
              <a:ext uri="{FF2B5EF4-FFF2-40B4-BE49-F238E27FC236}">
                <a16:creationId xmlns:a16="http://schemas.microsoft.com/office/drawing/2014/main" id="{722C3C80-0DBD-923E-CAC4-E19EA8EF0BE5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25000"/>
          </a:blip>
          <a:srcRect/>
          <a:stretch/>
        </p:blipFill>
        <p:spPr>
          <a:xfrm>
            <a:off x="6346885" y="1816136"/>
            <a:ext cx="295048" cy="295048"/>
          </a:xfrm>
          <a:prstGeom prst="rect">
            <a:avLst/>
          </a:prstGeom>
        </p:spPr>
      </p:pic>
      <p:sp>
        <p:nvSpPr>
          <p:cNvPr id="35" name="Título 1">
            <a:extLst>
              <a:ext uri="{FF2B5EF4-FFF2-40B4-BE49-F238E27FC236}">
                <a16:creationId xmlns:a16="http://schemas.microsoft.com/office/drawing/2014/main" id="{4913600D-1E49-67A7-392A-88C5CA125ECB}"/>
              </a:ext>
            </a:extLst>
          </p:cNvPr>
          <p:cNvSpPr txBox="1">
            <a:spLocks/>
          </p:cNvSpPr>
          <p:nvPr/>
        </p:nvSpPr>
        <p:spPr>
          <a:xfrm>
            <a:off x="509374" y="1673727"/>
            <a:ext cx="5596263" cy="355284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s-ES" sz="1200" b="1">
                <a:solidFill>
                  <a:srgbClr val="1D1B80"/>
                </a:solidFill>
                <a:latin typeface="Arial"/>
                <a:cs typeface="Calibri"/>
              </a:rPr>
              <a:t>Fuera del Alcance Técnico</a:t>
            </a:r>
          </a:p>
        </p:txBody>
      </p:sp>
      <p:pic>
        <p:nvPicPr>
          <p:cNvPr id="36" name="Imagen 35">
            <a:extLst>
              <a:ext uri="{FF2B5EF4-FFF2-40B4-BE49-F238E27FC236}">
                <a16:creationId xmlns:a16="http://schemas.microsoft.com/office/drawing/2014/main" id="{0A8FDF0A-F7E0-F61C-F2EA-A6A962E2DCA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15147" y="1699202"/>
            <a:ext cx="293408" cy="295048"/>
          </a:xfrm>
          <a:prstGeom prst="rect">
            <a:avLst/>
          </a:prstGeom>
        </p:spPr>
      </p:pic>
      <p:cxnSp>
        <p:nvCxnSpPr>
          <p:cNvPr id="2" name="Conector recto 1">
            <a:extLst>
              <a:ext uri="{FF2B5EF4-FFF2-40B4-BE49-F238E27FC236}">
                <a16:creationId xmlns:a16="http://schemas.microsoft.com/office/drawing/2014/main" id="{1C21358C-929A-40EE-2AFD-2203BDDDE7F4}"/>
              </a:ext>
            </a:extLst>
          </p:cNvPr>
          <p:cNvCxnSpPr>
            <a:cxnSpLocks/>
          </p:cNvCxnSpPr>
          <p:nvPr/>
        </p:nvCxnSpPr>
        <p:spPr>
          <a:xfrm>
            <a:off x="868101" y="311789"/>
            <a:ext cx="7057423" cy="0"/>
          </a:xfrm>
          <a:prstGeom prst="line">
            <a:avLst/>
          </a:prstGeom>
          <a:ln w="12700" cap="rnd">
            <a:gradFill>
              <a:gsLst>
                <a:gs pos="0">
                  <a:srgbClr val="15601D"/>
                </a:gs>
                <a:gs pos="100000">
                  <a:srgbClr val="15601D">
                    <a:alpha val="0"/>
                  </a:srgbClr>
                </a:gs>
              </a:gsLst>
              <a:lin ang="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2" descr="Logotipo&#10;&#10;El contenido generado por IA puede ser incorrecto.">
            <a:extLst>
              <a:ext uri="{FF2B5EF4-FFF2-40B4-BE49-F238E27FC236}">
                <a16:creationId xmlns:a16="http://schemas.microsoft.com/office/drawing/2014/main" id="{7AFC3534-C427-9D98-FFC0-C82229BA2D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708" y="4820691"/>
            <a:ext cx="758098" cy="256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86850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CE799F-F602-F52A-6D6D-95B133AEE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1C903F64-EAA7-BB46-0E62-937768D7624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2381"/>
            <a:ext cx="9148234" cy="5145882"/>
          </a:xfrm>
          <a:prstGeom prst="rect">
            <a:avLst/>
          </a:prstGeom>
        </p:spPr>
      </p:pic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5562E29C-7488-D540-0CEE-3099B1E475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03359" y="401837"/>
            <a:ext cx="2937281" cy="383183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s-CO" sz="22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Responsabilidades</a:t>
            </a: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A8C2C76B-C74C-45D1-4557-A5D7DFC1B2E3}"/>
              </a:ext>
            </a:extLst>
          </p:cNvPr>
          <p:cNvCxnSpPr>
            <a:cxnSpLocks/>
          </p:cNvCxnSpPr>
          <p:nvPr/>
        </p:nvCxnSpPr>
        <p:spPr>
          <a:xfrm>
            <a:off x="868101" y="311789"/>
            <a:ext cx="7057423" cy="0"/>
          </a:xfrm>
          <a:prstGeom prst="line">
            <a:avLst/>
          </a:prstGeom>
          <a:ln w="12700" cap="rnd">
            <a:gradFill>
              <a:gsLst>
                <a:gs pos="0">
                  <a:srgbClr val="15601D"/>
                </a:gs>
                <a:gs pos="100000">
                  <a:srgbClr val="15601D">
                    <a:alpha val="0"/>
                  </a:srgbClr>
                </a:gs>
              </a:gsLst>
              <a:lin ang="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2">
            <a:extLst>
              <a:ext uri="{FF2B5EF4-FFF2-40B4-BE49-F238E27FC236}">
                <a16:creationId xmlns:a16="http://schemas.microsoft.com/office/drawing/2014/main" id="{B9F9C8AF-2DA4-8153-B141-AE75F2200E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9676" y="183264"/>
            <a:ext cx="758098" cy="256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>
            <a:extLst>
              <a:ext uri="{FF2B5EF4-FFF2-40B4-BE49-F238E27FC236}">
                <a16:creationId xmlns:a16="http://schemas.microsoft.com/office/drawing/2014/main" id="{70A831B5-FFFE-98A1-F281-4F5352A554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8693" y="1206624"/>
            <a:ext cx="1134664" cy="383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1" name="Grupo 30">
            <a:extLst>
              <a:ext uri="{FF2B5EF4-FFF2-40B4-BE49-F238E27FC236}">
                <a16:creationId xmlns:a16="http://schemas.microsoft.com/office/drawing/2014/main" id="{05D23F6C-033B-C66A-80D3-86FFD17BC739}"/>
              </a:ext>
            </a:extLst>
          </p:cNvPr>
          <p:cNvGrpSpPr/>
          <p:nvPr/>
        </p:nvGrpSpPr>
        <p:grpSpPr>
          <a:xfrm>
            <a:off x="1359206" y="2484639"/>
            <a:ext cx="2954417" cy="540103"/>
            <a:chOff x="774555" y="1621088"/>
            <a:chExt cx="2954417" cy="664985"/>
          </a:xfrm>
        </p:grpSpPr>
        <p:sp>
          <p:nvSpPr>
            <p:cNvPr id="50" name="Rectángulo 49">
              <a:extLst>
                <a:ext uri="{FF2B5EF4-FFF2-40B4-BE49-F238E27FC236}">
                  <a16:creationId xmlns:a16="http://schemas.microsoft.com/office/drawing/2014/main" id="{A6ECAC77-F200-F9FA-D28E-B091BD1D4405}"/>
                </a:ext>
              </a:extLst>
            </p:cNvPr>
            <p:cNvSpPr/>
            <p:nvPr/>
          </p:nvSpPr>
          <p:spPr>
            <a:xfrm>
              <a:off x="851229" y="1621088"/>
              <a:ext cx="2877743" cy="66498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just" defTabSz="914400">
                <a:lnSpc>
                  <a:spcPct val="90000"/>
                </a:lnSpc>
                <a:spcBef>
                  <a:spcPts val="1000"/>
                </a:spcBef>
                <a:buClr>
                  <a:srgbClr val="669933"/>
                </a:buClr>
                <a:buSzPct val="100000"/>
                <a:defRPr/>
              </a:pPr>
              <a:r>
                <a:rPr lang="es-MX" sz="1000">
                  <a:solidFill>
                    <a:srgbClr val="33333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Garantizar la disponibilidad de cada uno de los recursos asignados al proyecto. </a:t>
              </a:r>
            </a:p>
          </p:txBody>
        </p:sp>
        <p:sp>
          <p:nvSpPr>
            <p:cNvPr id="51" name="Rectángulo 50">
              <a:extLst>
                <a:ext uri="{FF2B5EF4-FFF2-40B4-BE49-F238E27FC236}">
                  <a16:creationId xmlns:a16="http://schemas.microsoft.com/office/drawing/2014/main" id="{CD306B7A-DE70-237C-6026-7D4C843E6B9F}"/>
                </a:ext>
              </a:extLst>
            </p:cNvPr>
            <p:cNvSpPr/>
            <p:nvPr/>
          </p:nvSpPr>
          <p:spPr>
            <a:xfrm>
              <a:off x="774555" y="1621089"/>
              <a:ext cx="61811" cy="664984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CO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2" name="Grupo 31">
            <a:extLst>
              <a:ext uri="{FF2B5EF4-FFF2-40B4-BE49-F238E27FC236}">
                <a16:creationId xmlns:a16="http://schemas.microsoft.com/office/drawing/2014/main" id="{4EFC27B4-116B-A2FC-D53C-E763C642DB03}"/>
              </a:ext>
            </a:extLst>
          </p:cNvPr>
          <p:cNvGrpSpPr/>
          <p:nvPr/>
        </p:nvGrpSpPr>
        <p:grpSpPr>
          <a:xfrm>
            <a:off x="1359206" y="1746291"/>
            <a:ext cx="2954417" cy="664986"/>
            <a:chOff x="774555" y="1621088"/>
            <a:chExt cx="2954417" cy="664986"/>
          </a:xfrm>
        </p:grpSpPr>
        <p:sp>
          <p:nvSpPr>
            <p:cNvPr id="48" name="Rectángulo 47">
              <a:extLst>
                <a:ext uri="{FF2B5EF4-FFF2-40B4-BE49-F238E27FC236}">
                  <a16:creationId xmlns:a16="http://schemas.microsoft.com/office/drawing/2014/main" id="{88F495E8-0CE9-2A99-2C88-0C865F874FAB}"/>
                </a:ext>
              </a:extLst>
            </p:cNvPr>
            <p:cNvSpPr/>
            <p:nvPr/>
          </p:nvSpPr>
          <p:spPr>
            <a:xfrm>
              <a:off x="851229" y="1621088"/>
              <a:ext cx="2877743" cy="66498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just" defTabSz="914400">
                <a:lnSpc>
                  <a:spcPct val="90000"/>
                </a:lnSpc>
                <a:spcBef>
                  <a:spcPts val="1000"/>
                </a:spcBef>
                <a:buClr>
                  <a:srgbClr val="669933"/>
                </a:buClr>
                <a:buSzPct val="100000"/>
                <a:defRPr/>
              </a:pPr>
              <a:r>
                <a:rPr lang="es-MX" sz="1000">
                  <a:solidFill>
                    <a:srgbClr val="33333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Elaborar un plan de trabajo en AZURE DEVOPS con tareas y las fechas estimadas, de acuerdo con el tiempo total fijado en el contrato</a:t>
              </a:r>
            </a:p>
          </p:txBody>
        </p:sp>
        <p:sp>
          <p:nvSpPr>
            <p:cNvPr id="49" name="Rectángulo 48">
              <a:extLst>
                <a:ext uri="{FF2B5EF4-FFF2-40B4-BE49-F238E27FC236}">
                  <a16:creationId xmlns:a16="http://schemas.microsoft.com/office/drawing/2014/main" id="{754E67F8-E021-96E4-D60A-11AD65452511}"/>
                </a:ext>
              </a:extLst>
            </p:cNvPr>
            <p:cNvSpPr/>
            <p:nvPr/>
          </p:nvSpPr>
          <p:spPr>
            <a:xfrm>
              <a:off x="774555" y="1621089"/>
              <a:ext cx="71740" cy="664985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CO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3" name="Grupo 32">
            <a:extLst>
              <a:ext uri="{FF2B5EF4-FFF2-40B4-BE49-F238E27FC236}">
                <a16:creationId xmlns:a16="http://schemas.microsoft.com/office/drawing/2014/main" id="{F3250AD5-118C-9FDE-D513-A2CEF69199E9}"/>
              </a:ext>
            </a:extLst>
          </p:cNvPr>
          <p:cNvGrpSpPr/>
          <p:nvPr/>
        </p:nvGrpSpPr>
        <p:grpSpPr>
          <a:xfrm>
            <a:off x="1359206" y="3098104"/>
            <a:ext cx="2954417" cy="924261"/>
            <a:chOff x="774555" y="1844199"/>
            <a:chExt cx="2954417" cy="537387"/>
          </a:xfrm>
        </p:grpSpPr>
        <p:sp>
          <p:nvSpPr>
            <p:cNvPr id="46" name="Rectángulo 45">
              <a:extLst>
                <a:ext uri="{FF2B5EF4-FFF2-40B4-BE49-F238E27FC236}">
                  <a16:creationId xmlns:a16="http://schemas.microsoft.com/office/drawing/2014/main" id="{177452CA-022F-0641-A4CD-066792985D70}"/>
                </a:ext>
              </a:extLst>
            </p:cNvPr>
            <p:cNvSpPr/>
            <p:nvPr/>
          </p:nvSpPr>
          <p:spPr>
            <a:xfrm>
              <a:off x="851229" y="1844200"/>
              <a:ext cx="2877743" cy="5373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just" defTabSz="914400">
                <a:lnSpc>
                  <a:spcPct val="90000"/>
                </a:lnSpc>
                <a:spcBef>
                  <a:spcPts val="1000"/>
                </a:spcBef>
                <a:buClr>
                  <a:srgbClr val="669933"/>
                </a:buClr>
                <a:buSzPct val="100000"/>
                <a:defRPr/>
              </a:pPr>
              <a:r>
                <a:rPr lang="es-MX" sz="1000" b="1">
                  <a:solidFill>
                    <a:srgbClr val="333333"/>
                  </a:solidFill>
                  <a:latin typeface="Arial"/>
                  <a:cs typeface="Arial"/>
                </a:rPr>
                <a:t>PERIFERIA IT CORP</a:t>
              </a:r>
              <a:r>
                <a:rPr lang="es-MX" sz="1000">
                  <a:solidFill>
                    <a:srgbClr val="333333"/>
                  </a:solidFill>
                  <a:latin typeface="Arial"/>
                  <a:cs typeface="Arial"/>
                </a:rPr>
                <a:t>, en base a los insumos entregados por            </a:t>
              </a:r>
              <a:r>
                <a:rPr lang="es-MX" sz="1000" b="1">
                  <a:solidFill>
                    <a:srgbClr val="333333"/>
                  </a:solidFill>
                  <a:latin typeface="Arial"/>
                  <a:cs typeface="Arial"/>
                </a:rPr>
                <a:t>              </a:t>
              </a:r>
              <a:r>
                <a:rPr lang="es-MX" sz="1000">
                  <a:solidFill>
                    <a:srgbClr val="333333"/>
                  </a:solidFill>
                  <a:latin typeface="Arial"/>
                  <a:cs typeface="Arial"/>
                </a:rPr>
                <a:t>y para el correcto desarrollo del proyecto se elaborará y administrará la matriz de riesgos y recomendará alternativas de mitigación de riesgo. </a:t>
              </a:r>
            </a:p>
          </p:txBody>
        </p:sp>
        <p:sp>
          <p:nvSpPr>
            <p:cNvPr id="47" name="Rectángulo 46">
              <a:extLst>
                <a:ext uri="{FF2B5EF4-FFF2-40B4-BE49-F238E27FC236}">
                  <a16:creationId xmlns:a16="http://schemas.microsoft.com/office/drawing/2014/main" id="{C23860C8-46D0-E41E-015E-C40111DA5865}"/>
                </a:ext>
              </a:extLst>
            </p:cNvPr>
            <p:cNvSpPr/>
            <p:nvPr/>
          </p:nvSpPr>
          <p:spPr>
            <a:xfrm>
              <a:off x="774555" y="1844199"/>
              <a:ext cx="71739" cy="505897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CO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4" name="Grupo 33">
            <a:extLst>
              <a:ext uri="{FF2B5EF4-FFF2-40B4-BE49-F238E27FC236}">
                <a16:creationId xmlns:a16="http://schemas.microsoft.com/office/drawing/2014/main" id="{55F005D6-92F7-450F-BB13-53931F1E82CD}"/>
              </a:ext>
            </a:extLst>
          </p:cNvPr>
          <p:cNvGrpSpPr/>
          <p:nvPr/>
        </p:nvGrpSpPr>
        <p:grpSpPr>
          <a:xfrm>
            <a:off x="1359206" y="4076907"/>
            <a:ext cx="2954417" cy="664986"/>
            <a:chOff x="774555" y="1621088"/>
            <a:chExt cx="2954417" cy="664986"/>
          </a:xfrm>
        </p:grpSpPr>
        <p:sp>
          <p:nvSpPr>
            <p:cNvPr id="44" name="Rectángulo 43">
              <a:extLst>
                <a:ext uri="{FF2B5EF4-FFF2-40B4-BE49-F238E27FC236}">
                  <a16:creationId xmlns:a16="http://schemas.microsoft.com/office/drawing/2014/main" id="{3282CDBA-EE53-8AAE-5251-665913CF8B35}"/>
                </a:ext>
              </a:extLst>
            </p:cNvPr>
            <p:cNvSpPr/>
            <p:nvPr/>
          </p:nvSpPr>
          <p:spPr>
            <a:xfrm>
              <a:off x="851229" y="1621088"/>
              <a:ext cx="2877743" cy="66498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just" defTabSz="914400">
                <a:lnSpc>
                  <a:spcPct val="90000"/>
                </a:lnSpc>
                <a:spcBef>
                  <a:spcPts val="1000"/>
                </a:spcBef>
                <a:buClr>
                  <a:srgbClr val="669933"/>
                </a:buClr>
                <a:buSzPct val="100000"/>
                <a:defRPr/>
              </a:pPr>
              <a:r>
                <a:rPr lang="es-MX" sz="1000">
                  <a:solidFill>
                    <a:srgbClr val="333333"/>
                  </a:solidFill>
                  <a:latin typeface="Arial"/>
                  <a:cs typeface="Arial"/>
                </a:rPr>
                <a:t>Las entregas de parte de </a:t>
              </a:r>
              <a:r>
                <a:rPr lang="es-MX" sz="1000" b="1">
                  <a:solidFill>
                    <a:srgbClr val="333333"/>
                  </a:solidFill>
                  <a:latin typeface="Arial"/>
                  <a:cs typeface="Arial"/>
                </a:rPr>
                <a:t>PERIFERIA IT CORP </a:t>
              </a:r>
              <a:r>
                <a:rPr lang="es-MX" sz="1000">
                  <a:solidFill>
                    <a:srgbClr val="333333"/>
                  </a:solidFill>
                  <a:latin typeface="Arial"/>
                  <a:cs typeface="Arial"/>
                </a:rPr>
                <a:t>se deben realizar técnicamente a las personas definidas por          </a:t>
              </a:r>
              <a:r>
                <a:rPr lang="es-MX" sz="1000" b="1">
                  <a:solidFill>
                    <a:srgbClr val="333333"/>
                  </a:solidFill>
                  <a:latin typeface="Arial"/>
                  <a:cs typeface="Arial"/>
                </a:rPr>
                <a:t>              </a:t>
              </a:r>
              <a:r>
                <a:rPr lang="es-MX" sz="1000">
                  <a:solidFill>
                    <a:srgbClr val="333333"/>
                  </a:solidFill>
                  <a:latin typeface="Arial"/>
                  <a:cs typeface="Arial"/>
                </a:rPr>
                <a:t>mediante una sesión de entendimiento.</a:t>
              </a:r>
            </a:p>
          </p:txBody>
        </p:sp>
        <p:sp>
          <p:nvSpPr>
            <p:cNvPr id="45" name="Rectángulo 44">
              <a:extLst>
                <a:ext uri="{FF2B5EF4-FFF2-40B4-BE49-F238E27FC236}">
                  <a16:creationId xmlns:a16="http://schemas.microsoft.com/office/drawing/2014/main" id="{57E65FB7-074F-B2C5-C370-BDE7B3409CE2}"/>
                </a:ext>
              </a:extLst>
            </p:cNvPr>
            <p:cNvSpPr/>
            <p:nvPr/>
          </p:nvSpPr>
          <p:spPr>
            <a:xfrm>
              <a:off x="774555" y="1621089"/>
              <a:ext cx="71740" cy="664985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CO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5" name="Grupo 34">
            <a:extLst>
              <a:ext uri="{FF2B5EF4-FFF2-40B4-BE49-F238E27FC236}">
                <a16:creationId xmlns:a16="http://schemas.microsoft.com/office/drawing/2014/main" id="{735E9B57-E339-B98E-DB96-A2076B7FC669}"/>
              </a:ext>
            </a:extLst>
          </p:cNvPr>
          <p:cNvGrpSpPr/>
          <p:nvPr/>
        </p:nvGrpSpPr>
        <p:grpSpPr>
          <a:xfrm>
            <a:off x="5137113" y="1714749"/>
            <a:ext cx="2954417" cy="1076384"/>
            <a:chOff x="774555" y="1621088"/>
            <a:chExt cx="2954417" cy="877257"/>
          </a:xfrm>
        </p:grpSpPr>
        <p:sp>
          <p:nvSpPr>
            <p:cNvPr id="42" name="Rectángulo 41">
              <a:extLst>
                <a:ext uri="{FF2B5EF4-FFF2-40B4-BE49-F238E27FC236}">
                  <a16:creationId xmlns:a16="http://schemas.microsoft.com/office/drawing/2014/main" id="{79EC7EB7-72F0-65AC-1F74-633940729E83}"/>
                </a:ext>
              </a:extLst>
            </p:cNvPr>
            <p:cNvSpPr/>
            <p:nvPr/>
          </p:nvSpPr>
          <p:spPr>
            <a:xfrm>
              <a:off x="851229" y="1621088"/>
              <a:ext cx="2877743" cy="8772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just" defTabSz="914400">
                <a:lnSpc>
                  <a:spcPct val="90000"/>
                </a:lnSpc>
                <a:spcBef>
                  <a:spcPts val="1000"/>
                </a:spcBef>
                <a:buClr>
                  <a:srgbClr val="669933"/>
                </a:buClr>
                <a:buSzPct val="100000"/>
                <a:defRPr/>
              </a:pPr>
              <a:r>
                <a:rPr lang="es-MX" sz="1000">
                  <a:solidFill>
                    <a:srgbClr val="333333"/>
                  </a:solidFill>
                  <a:latin typeface="Arial"/>
                  <a:cs typeface="Arial"/>
                </a:rPr>
                <a:t>Una vez terminado el desarrollo </a:t>
              </a:r>
              <a:r>
                <a:rPr lang="es-MX" sz="1000" b="1">
                  <a:solidFill>
                    <a:srgbClr val="333333"/>
                  </a:solidFill>
                  <a:latin typeface="Arial"/>
                  <a:cs typeface="Arial"/>
                </a:rPr>
                <a:t>PERIFERIA IT CORP </a:t>
              </a:r>
              <a:r>
                <a:rPr lang="es-MX" sz="1000">
                  <a:solidFill>
                    <a:srgbClr val="333333"/>
                  </a:solidFill>
                  <a:latin typeface="Arial"/>
                  <a:cs typeface="Arial"/>
                </a:rPr>
                <a:t>notificará formalmente, para que	                      efectúe pruebas, si transcurridos quince (15) días calendario no se recibe ninguna notificación del proceso de pruebas, </a:t>
              </a:r>
              <a:r>
                <a:rPr lang="es-MX" sz="1000" b="1">
                  <a:solidFill>
                    <a:srgbClr val="333333"/>
                  </a:solidFill>
                  <a:latin typeface="Arial"/>
                  <a:cs typeface="Arial"/>
                </a:rPr>
                <a:t>PERIFERIA IT CORP </a:t>
              </a:r>
              <a:r>
                <a:rPr lang="es-MX" sz="1000">
                  <a:solidFill>
                    <a:srgbClr val="333333"/>
                  </a:solidFill>
                  <a:latin typeface="Arial"/>
                  <a:cs typeface="Arial"/>
                </a:rPr>
                <a:t>dará por entregado a satisfacción el producto</a:t>
              </a:r>
            </a:p>
          </p:txBody>
        </p:sp>
        <p:sp>
          <p:nvSpPr>
            <p:cNvPr id="43" name="Rectángulo 42">
              <a:extLst>
                <a:ext uri="{FF2B5EF4-FFF2-40B4-BE49-F238E27FC236}">
                  <a16:creationId xmlns:a16="http://schemas.microsoft.com/office/drawing/2014/main" id="{2FCE3A72-8B96-988B-A2C5-73D740FF484C}"/>
                </a:ext>
              </a:extLst>
            </p:cNvPr>
            <p:cNvSpPr/>
            <p:nvPr/>
          </p:nvSpPr>
          <p:spPr>
            <a:xfrm>
              <a:off x="774555" y="1621089"/>
              <a:ext cx="71740" cy="877256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CO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6" name="Grupo 35">
            <a:extLst>
              <a:ext uri="{FF2B5EF4-FFF2-40B4-BE49-F238E27FC236}">
                <a16:creationId xmlns:a16="http://schemas.microsoft.com/office/drawing/2014/main" id="{4F0AD769-6F37-2A7A-C7D4-3398E92D2B04}"/>
              </a:ext>
            </a:extLst>
          </p:cNvPr>
          <p:cNvGrpSpPr/>
          <p:nvPr/>
        </p:nvGrpSpPr>
        <p:grpSpPr>
          <a:xfrm>
            <a:off x="5137113" y="2849826"/>
            <a:ext cx="2954417" cy="1227710"/>
            <a:chOff x="774555" y="1621088"/>
            <a:chExt cx="2954417" cy="764337"/>
          </a:xfrm>
        </p:grpSpPr>
        <p:sp>
          <p:nvSpPr>
            <p:cNvPr id="40" name="Rectángulo 39">
              <a:extLst>
                <a:ext uri="{FF2B5EF4-FFF2-40B4-BE49-F238E27FC236}">
                  <a16:creationId xmlns:a16="http://schemas.microsoft.com/office/drawing/2014/main" id="{D9095CD8-3B1C-7CBB-6912-D4E4614B41B5}"/>
                </a:ext>
              </a:extLst>
            </p:cNvPr>
            <p:cNvSpPr/>
            <p:nvPr/>
          </p:nvSpPr>
          <p:spPr>
            <a:xfrm>
              <a:off x="851229" y="1621088"/>
              <a:ext cx="2877743" cy="7643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just" defTabSz="914400">
                <a:lnSpc>
                  <a:spcPct val="90000"/>
                </a:lnSpc>
                <a:spcBef>
                  <a:spcPts val="1000"/>
                </a:spcBef>
                <a:buClr>
                  <a:srgbClr val="669933"/>
                </a:buClr>
                <a:buSzPct val="100000"/>
                <a:defRPr/>
              </a:pPr>
              <a:r>
                <a:rPr lang="es-MX" sz="1000">
                  <a:solidFill>
                    <a:srgbClr val="33333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</a:t>
              </a:r>
              <a:r>
                <a:rPr lang="es-MX" sz="1000" b="1">
                  <a:solidFill>
                    <a:srgbClr val="33333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s-MX" sz="1000">
                  <a:solidFill>
                    <a:srgbClr val="33333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podrá contratar directa o indirectamente al personal de </a:t>
              </a:r>
              <a:r>
                <a:rPr lang="es-MX" sz="1000" b="1">
                  <a:solidFill>
                    <a:srgbClr val="33333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PERIFERIA IT CORP </a:t>
              </a:r>
              <a:r>
                <a:rPr lang="es-MX" sz="1000">
                  <a:solidFill>
                    <a:srgbClr val="33333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para la realización de alguna labor relacionada, por un término no menor de dos (2) años después de la terminación del proyecto</a:t>
              </a:r>
            </a:p>
          </p:txBody>
        </p:sp>
        <p:sp>
          <p:nvSpPr>
            <p:cNvPr id="41" name="Rectángulo 40">
              <a:extLst>
                <a:ext uri="{FF2B5EF4-FFF2-40B4-BE49-F238E27FC236}">
                  <a16:creationId xmlns:a16="http://schemas.microsoft.com/office/drawing/2014/main" id="{EFE947B2-6C19-B904-5921-0234E71BF118}"/>
                </a:ext>
              </a:extLst>
            </p:cNvPr>
            <p:cNvSpPr/>
            <p:nvPr/>
          </p:nvSpPr>
          <p:spPr>
            <a:xfrm>
              <a:off x="774555" y="1621089"/>
              <a:ext cx="71740" cy="764336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CO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7" name="Grupo 36">
            <a:extLst>
              <a:ext uri="{FF2B5EF4-FFF2-40B4-BE49-F238E27FC236}">
                <a16:creationId xmlns:a16="http://schemas.microsoft.com/office/drawing/2014/main" id="{351D1625-7F02-4D7E-7378-A6647BFFADD4}"/>
              </a:ext>
            </a:extLst>
          </p:cNvPr>
          <p:cNvGrpSpPr/>
          <p:nvPr/>
        </p:nvGrpSpPr>
        <p:grpSpPr>
          <a:xfrm>
            <a:off x="5137113" y="4102422"/>
            <a:ext cx="2954417" cy="664986"/>
            <a:chOff x="774555" y="1621088"/>
            <a:chExt cx="2954417" cy="664986"/>
          </a:xfrm>
        </p:grpSpPr>
        <p:sp>
          <p:nvSpPr>
            <p:cNvPr id="38" name="Rectángulo 37">
              <a:extLst>
                <a:ext uri="{FF2B5EF4-FFF2-40B4-BE49-F238E27FC236}">
                  <a16:creationId xmlns:a16="http://schemas.microsoft.com/office/drawing/2014/main" id="{5448D2A5-2218-2BED-36F6-6CC3856E2A34}"/>
                </a:ext>
              </a:extLst>
            </p:cNvPr>
            <p:cNvSpPr/>
            <p:nvPr/>
          </p:nvSpPr>
          <p:spPr>
            <a:xfrm>
              <a:off x="851229" y="1621088"/>
              <a:ext cx="2877743" cy="66498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just" defTabSz="914400">
                <a:lnSpc>
                  <a:spcPct val="90000"/>
                </a:lnSpc>
                <a:spcBef>
                  <a:spcPts val="1000"/>
                </a:spcBef>
                <a:buClr>
                  <a:srgbClr val="669933"/>
                </a:buClr>
                <a:buSzPct val="100000"/>
                <a:defRPr/>
              </a:pPr>
              <a:r>
                <a:rPr lang="es-MX" sz="1000">
                  <a:solidFill>
                    <a:srgbClr val="33333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Será responsable de informar oficialmente a través de la Gerencia del Proyecto, los cambios o ajustes a implementar.</a:t>
              </a:r>
            </a:p>
          </p:txBody>
        </p:sp>
        <p:sp>
          <p:nvSpPr>
            <p:cNvPr id="39" name="Rectángulo 38">
              <a:extLst>
                <a:ext uri="{FF2B5EF4-FFF2-40B4-BE49-F238E27FC236}">
                  <a16:creationId xmlns:a16="http://schemas.microsoft.com/office/drawing/2014/main" id="{3D93D117-1C1D-FFE8-6F34-C73DD641357A}"/>
                </a:ext>
              </a:extLst>
            </p:cNvPr>
            <p:cNvSpPr/>
            <p:nvPr/>
          </p:nvSpPr>
          <p:spPr>
            <a:xfrm>
              <a:off x="774555" y="1621089"/>
              <a:ext cx="71740" cy="664985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CO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" name="Título 1">
            <a:extLst>
              <a:ext uri="{FF2B5EF4-FFF2-40B4-BE49-F238E27FC236}">
                <a16:creationId xmlns:a16="http://schemas.microsoft.com/office/drawing/2014/main" id="{257100D9-4278-F2F5-72B9-497EF50274BB}"/>
              </a:ext>
            </a:extLst>
          </p:cNvPr>
          <p:cNvSpPr txBox="1">
            <a:spLocks/>
          </p:cNvSpPr>
          <p:nvPr/>
        </p:nvSpPr>
        <p:spPr>
          <a:xfrm>
            <a:off x="5131055" y="1116066"/>
            <a:ext cx="2799373" cy="593258"/>
          </a:xfrm>
          <a:prstGeom prst="rect">
            <a:avLst/>
          </a:prstGeom>
        </p:spPr>
        <p:txBody>
          <a:bodyPr vert="horz" lIns="68580" tIns="34290" rIns="68580" bIns="3429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s-MX" sz="2800" b="1">
                <a:solidFill>
                  <a:srgbClr val="00B0F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&lt;&lt;Logo Cliente&gt;&gt;</a:t>
            </a:r>
            <a:endParaRPr lang="es-CO" sz="2800" b="1">
              <a:solidFill>
                <a:srgbClr val="00B0F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BC95DD58-D920-EC4C-51E2-A62F07F873A6}"/>
              </a:ext>
            </a:extLst>
          </p:cNvPr>
          <p:cNvSpPr txBox="1">
            <a:spLocks/>
          </p:cNvSpPr>
          <p:nvPr/>
        </p:nvSpPr>
        <p:spPr>
          <a:xfrm>
            <a:off x="2549834" y="3271575"/>
            <a:ext cx="1115238" cy="193917"/>
          </a:xfrm>
          <a:prstGeom prst="rect">
            <a:avLst/>
          </a:prstGeom>
        </p:spPr>
        <p:txBody>
          <a:bodyPr vert="horz" lIns="68580" tIns="34290" rIns="68580" bIns="3429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s-MX" sz="1000" b="1">
                <a:solidFill>
                  <a:srgbClr val="00B0F0"/>
                </a:solidFill>
                <a:latin typeface="Calibri"/>
                <a:ea typeface="Calibri"/>
                <a:cs typeface="Calibri"/>
              </a:rPr>
              <a:t>&lt;&lt;Logo Cliente&gt;&gt;</a:t>
            </a:r>
            <a:endParaRPr lang="es-CO" sz="1000" b="1">
              <a:solidFill>
                <a:srgbClr val="00B0F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86A20F86-00FD-B9B6-4B58-0EC70E131A4D}"/>
              </a:ext>
            </a:extLst>
          </p:cNvPr>
          <p:cNvSpPr txBox="1">
            <a:spLocks/>
          </p:cNvSpPr>
          <p:nvPr/>
        </p:nvSpPr>
        <p:spPr>
          <a:xfrm>
            <a:off x="2289048" y="4386914"/>
            <a:ext cx="1115238" cy="193917"/>
          </a:xfrm>
          <a:prstGeom prst="rect">
            <a:avLst/>
          </a:prstGeom>
        </p:spPr>
        <p:txBody>
          <a:bodyPr vert="horz" lIns="68580" tIns="34290" rIns="68580" bIns="3429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s-MX" sz="1000" b="1">
                <a:solidFill>
                  <a:srgbClr val="00B0F0"/>
                </a:solidFill>
                <a:latin typeface="Calibri"/>
                <a:ea typeface="Calibri"/>
                <a:cs typeface="Calibri"/>
              </a:rPr>
              <a:t>&lt;&lt;Logo Cliente&gt;&gt;</a:t>
            </a:r>
            <a:endParaRPr lang="es-CO" sz="1000" b="1">
              <a:solidFill>
                <a:srgbClr val="00B0F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C764BACB-B967-8CC9-8227-C26794B6CF64}"/>
              </a:ext>
            </a:extLst>
          </p:cNvPr>
          <p:cNvSpPr txBox="1">
            <a:spLocks/>
          </p:cNvSpPr>
          <p:nvPr/>
        </p:nvSpPr>
        <p:spPr>
          <a:xfrm>
            <a:off x="5138730" y="1980842"/>
            <a:ext cx="1115238" cy="193917"/>
          </a:xfrm>
          <a:prstGeom prst="rect">
            <a:avLst/>
          </a:prstGeom>
        </p:spPr>
        <p:txBody>
          <a:bodyPr vert="horz" lIns="68580" tIns="34290" rIns="68580" bIns="3429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s-MX" sz="1000" b="1">
                <a:solidFill>
                  <a:srgbClr val="00B0F0"/>
                </a:solidFill>
                <a:latin typeface="Calibri"/>
                <a:ea typeface="Calibri"/>
                <a:cs typeface="Calibri"/>
              </a:rPr>
              <a:t>&lt;&lt;Logo Cliente&gt;&gt;</a:t>
            </a:r>
            <a:endParaRPr lang="es-CO" sz="1000" b="1">
              <a:solidFill>
                <a:srgbClr val="00B0F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663555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E4D92A-EC14-3A58-2E27-69907DDC6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C3865DE4-1DEB-8163-86F3-158C46DB9D27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2381"/>
            <a:ext cx="9148234" cy="5145882"/>
          </a:xfrm>
          <a:prstGeom prst="rect">
            <a:avLst/>
          </a:prstGeom>
        </p:spPr>
      </p:pic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340645AC-7D69-B9F7-79A5-FD738571F3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314" y="492237"/>
            <a:ext cx="3199301" cy="383183"/>
          </a:xfrm>
        </p:spPr>
        <p:txBody>
          <a:bodyPr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s-CO" sz="16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Metodología Ágil</a:t>
            </a:r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826E790A-0B26-0580-BABA-CFC2A4D78414}"/>
              </a:ext>
            </a:extLst>
          </p:cNvPr>
          <p:cNvCxnSpPr>
            <a:cxnSpLocks/>
          </p:cNvCxnSpPr>
          <p:nvPr/>
        </p:nvCxnSpPr>
        <p:spPr>
          <a:xfrm>
            <a:off x="868101" y="311789"/>
            <a:ext cx="7057423" cy="0"/>
          </a:xfrm>
          <a:prstGeom prst="line">
            <a:avLst/>
          </a:prstGeom>
          <a:ln w="12700" cap="rnd">
            <a:gradFill>
              <a:gsLst>
                <a:gs pos="0">
                  <a:srgbClr val="15601D"/>
                </a:gs>
                <a:gs pos="100000">
                  <a:srgbClr val="15601D">
                    <a:alpha val="0"/>
                  </a:srgbClr>
                </a:gs>
              </a:gsLst>
              <a:lin ang="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Imagen 1">
            <a:extLst>
              <a:ext uri="{FF2B5EF4-FFF2-40B4-BE49-F238E27FC236}">
                <a16:creationId xmlns:a16="http://schemas.microsoft.com/office/drawing/2014/main" id="{99EC3E1B-C801-4EC0-2102-B6E8A06AB3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1715" y="3221974"/>
            <a:ext cx="1293086" cy="1069236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14FE6955-77F7-BD1B-60B4-2F500C93C6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8797" y="3221974"/>
            <a:ext cx="1388340" cy="1069236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57345CB4-5FF2-EA52-90C7-4F1DC2B1EC7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0867" y="3221974"/>
            <a:ext cx="1390721" cy="1069236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CCE46AF2-BAAE-5D2D-B426-9046EEB7AF9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0122" y="2145218"/>
            <a:ext cx="1293086" cy="116211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9F75479F-5666-7DBD-D823-CD8DDFFE525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0603" y="2145218"/>
            <a:ext cx="1390721" cy="1069236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7240A8B2-534B-4749-2BAD-252FC36F208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8604" y="2144656"/>
            <a:ext cx="1390721" cy="1069236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2C64F372-A059-CDCF-D89E-73707BF4212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6605" y="2144746"/>
            <a:ext cx="1390721" cy="1069236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C88A80F0-564A-4F3E-3D56-EDFC4CAC1CA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5815" y="2142888"/>
            <a:ext cx="1390721" cy="1069236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422CD5E1-9607-3FC1-AEB5-9F3DFDBB518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7760" y="3348739"/>
            <a:ext cx="471512" cy="502469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8A687E87-9495-07A8-FFD6-EE1CFCE3444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5018" y="3435107"/>
            <a:ext cx="588199" cy="321485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404D7ABB-7692-6A8B-0CB7-87B238E78D6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1392" y="3393985"/>
            <a:ext cx="566767" cy="457223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03674D03-7931-3774-4955-5B634D09B83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4131" y="2280407"/>
            <a:ext cx="552479" cy="583436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CB3DC3C6-B7F4-AEF8-2EB4-114675DDF166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6106" y="2239792"/>
            <a:ext cx="616775" cy="640589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56CB99DD-112E-390F-1E65-222613F64DD8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4422" y="2297674"/>
            <a:ext cx="538190" cy="569148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CC10E765-0F8F-AA6E-0DA3-4DAAB886F0F3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1704" y="2278949"/>
            <a:ext cx="588199" cy="533428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5656925A-8F80-6E06-9D68-3FF8D96E5C56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8541" y="2243230"/>
            <a:ext cx="588199" cy="604868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917CD321-A047-A7B8-008E-68B876827DB7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5158" y="1067339"/>
            <a:ext cx="1295467" cy="1162110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40C8B844-8BE2-23AE-1D88-ED9880019853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2253" y="1071794"/>
            <a:ext cx="1390721" cy="1069236"/>
          </a:xfrm>
          <a:prstGeom prst="rect">
            <a:avLst/>
          </a:prstGeom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C50387F4-1B3E-11C5-17C9-2DF2F73A4FEF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1715" y="1067339"/>
            <a:ext cx="1388340" cy="1069236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4620A558-BB82-D617-9E78-CBCCAE230A39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8797" y="1067339"/>
            <a:ext cx="1388340" cy="1069236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9772B2C1-6FE7-3937-9153-0F2C3ACA8244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0867" y="1068463"/>
            <a:ext cx="1390721" cy="1069236"/>
          </a:xfrm>
          <a:prstGeom prst="rect">
            <a:avLst/>
          </a:prstGeom>
        </p:spPr>
      </p:pic>
      <p:pic>
        <p:nvPicPr>
          <p:cNvPr id="29" name="Imagen 28">
            <a:extLst>
              <a:ext uri="{FF2B5EF4-FFF2-40B4-BE49-F238E27FC236}">
                <a16:creationId xmlns:a16="http://schemas.microsoft.com/office/drawing/2014/main" id="{F21A2FE4-22CD-DFB0-AAA8-C7AD80872E8C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9041" y="1263483"/>
            <a:ext cx="447698" cy="473893"/>
          </a:xfrm>
          <a:prstGeom prst="rect">
            <a:avLst/>
          </a:prstGeom>
        </p:spPr>
      </p:pic>
      <p:pic>
        <p:nvPicPr>
          <p:cNvPr id="30" name="Imagen 29">
            <a:extLst>
              <a:ext uri="{FF2B5EF4-FFF2-40B4-BE49-F238E27FC236}">
                <a16:creationId xmlns:a16="http://schemas.microsoft.com/office/drawing/2014/main" id="{84487133-A236-4AFF-DFD3-DF4764745241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9098" y="1269062"/>
            <a:ext cx="433410" cy="500088"/>
          </a:xfrm>
          <a:prstGeom prst="rect">
            <a:avLst/>
          </a:prstGeom>
        </p:spPr>
      </p:pic>
      <p:pic>
        <p:nvPicPr>
          <p:cNvPr id="31" name="Imagen 30">
            <a:extLst>
              <a:ext uri="{FF2B5EF4-FFF2-40B4-BE49-F238E27FC236}">
                <a16:creationId xmlns:a16="http://schemas.microsoft.com/office/drawing/2014/main" id="{E81AE941-A287-17A3-917E-93ECE5A16B80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2648" y="1239994"/>
            <a:ext cx="578674" cy="471512"/>
          </a:xfrm>
          <a:prstGeom prst="rect">
            <a:avLst/>
          </a:prstGeom>
        </p:spPr>
      </p:pic>
      <p:pic>
        <p:nvPicPr>
          <p:cNvPr id="32" name="Imagen 31">
            <a:extLst>
              <a:ext uri="{FF2B5EF4-FFF2-40B4-BE49-F238E27FC236}">
                <a16:creationId xmlns:a16="http://schemas.microsoft.com/office/drawing/2014/main" id="{CB3FCC1C-E18E-FA64-7DB7-E674ED38470C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0067" y="1258720"/>
            <a:ext cx="488181" cy="478656"/>
          </a:xfrm>
          <a:prstGeom prst="rect">
            <a:avLst/>
          </a:prstGeom>
        </p:spPr>
      </p:pic>
      <p:pic>
        <p:nvPicPr>
          <p:cNvPr id="33" name="Imagen 32">
            <a:extLst>
              <a:ext uri="{FF2B5EF4-FFF2-40B4-BE49-F238E27FC236}">
                <a16:creationId xmlns:a16="http://schemas.microsoft.com/office/drawing/2014/main" id="{5B352378-5EDB-C0C4-7EAB-C743313D1187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4710" y="1239994"/>
            <a:ext cx="466749" cy="454842"/>
          </a:xfrm>
          <a:prstGeom prst="rect">
            <a:avLst/>
          </a:prstGeom>
        </p:spPr>
      </p:pic>
      <p:sp>
        <p:nvSpPr>
          <p:cNvPr id="34" name="CuadroTexto 33">
            <a:extLst>
              <a:ext uri="{FF2B5EF4-FFF2-40B4-BE49-F238E27FC236}">
                <a16:creationId xmlns:a16="http://schemas.microsoft.com/office/drawing/2014/main" id="{D549D440-15C6-A35F-4623-1484ECB8AB47}"/>
              </a:ext>
            </a:extLst>
          </p:cNvPr>
          <p:cNvSpPr txBox="1"/>
          <p:nvPr/>
        </p:nvSpPr>
        <p:spPr>
          <a:xfrm>
            <a:off x="2374708" y="1778715"/>
            <a:ext cx="118763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675"/>
              <a:t>DEFINICIÓN DE LA</a:t>
            </a:r>
            <a:br>
              <a:rPr lang="es-CO" sz="675"/>
            </a:br>
            <a:r>
              <a:rPr lang="es-CO" sz="675"/>
              <a:t>VISIÓN DEL PROYECTO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19F9514D-1B33-7D28-05AE-98F52E72EE5E}"/>
              </a:ext>
            </a:extLst>
          </p:cNvPr>
          <p:cNvSpPr txBox="1"/>
          <p:nvPr/>
        </p:nvSpPr>
        <p:spPr>
          <a:xfrm>
            <a:off x="3689757" y="1778715"/>
            <a:ext cx="118763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675"/>
              <a:t>CONFIRMACIÓN</a:t>
            </a:r>
            <a:br>
              <a:rPr lang="es-CO" sz="675"/>
            </a:br>
            <a:r>
              <a:rPr lang="es-CO" sz="675"/>
              <a:t>EQUIPO SCRUM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C528DF85-6817-D5C0-DF75-E02A5B220CBE}"/>
              </a:ext>
            </a:extLst>
          </p:cNvPr>
          <p:cNvSpPr txBox="1"/>
          <p:nvPr/>
        </p:nvSpPr>
        <p:spPr>
          <a:xfrm>
            <a:off x="4975590" y="1778715"/>
            <a:ext cx="118763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675"/>
              <a:t>CONSTRUCCIÓN DE</a:t>
            </a:r>
          </a:p>
          <a:p>
            <a:pPr algn="ctr"/>
            <a:r>
              <a:rPr lang="es-CO" sz="675"/>
              <a:t>PRODUCT BACKLOG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2FF5D0A8-A321-9B35-3B81-B6BCAF507D51}"/>
              </a:ext>
            </a:extLst>
          </p:cNvPr>
          <p:cNvSpPr txBox="1"/>
          <p:nvPr/>
        </p:nvSpPr>
        <p:spPr>
          <a:xfrm>
            <a:off x="6274197" y="1778715"/>
            <a:ext cx="118763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675">
                <a:solidFill>
                  <a:schemeClr val="bg1"/>
                </a:solidFill>
              </a:rPr>
              <a:t>PRIORIZACIÓN DE</a:t>
            </a:r>
          </a:p>
          <a:p>
            <a:pPr algn="ctr"/>
            <a:r>
              <a:rPr lang="es-CO" sz="675">
                <a:solidFill>
                  <a:schemeClr val="bg1"/>
                </a:solidFill>
              </a:rPr>
              <a:t>PRODUCT BACKLOG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2A2EAAA7-C7A3-D99A-FCD5-43821679B9E5}"/>
              </a:ext>
            </a:extLst>
          </p:cNvPr>
          <p:cNvSpPr txBox="1"/>
          <p:nvPr/>
        </p:nvSpPr>
        <p:spPr>
          <a:xfrm>
            <a:off x="7517355" y="1778715"/>
            <a:ext cx="1254919" cy="403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675">
                <a:solidFill>
                  <a:schemeClr val="bg1"/>
                </a:solidFill>
              </a:rPr>
              <a:t>DEFINICIÓN DE ARQUITECTURA DE PRODUCTO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FD9684C6-69DD-14BB-EE94-33379A904CE3}"/>
              </a:ext>
            </a:extLst>
          </p:cNvPr>
          <p:cNvSpPr txBox="1"/>
          <p:nvPr/>
        </p:nvSpPr>
        <p:spPr>
          <a:xfrm>
            <a:off x="2372251" y="2877830"/>
            <a:ext cx="118763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675"/>
              <a:t>RETROSPECTIVA</a:t>
            </a:r>
          </a:p>
          <a:p>
            <a:pPr algn="ctr"/>
            <a:r>
              <a:rPr lang="es-CO" sz="675"/>
              <a:t>DEL SPRINT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765F1722-E686-892A-9B14-0C3AE8CDBE72}"/>
              </a:ext>
            </a:extLst>
          </p:cNvPr>
          <p:cNvSpPr txBox="1"/>
          <p:nvPr/>
        </p:nvSpPr>
        <p:spPr>
          <a:xfrm>
            <a:off x="3687300" y="2877830"/>
            <a:ext cx="118763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675"/>
              <a:t>REVISIÓN</a:t>
            </a:r>
          </a:p>
          <a:p>
            <a:pPr algn="ctr"/>
            <a:r>
              <a:rPr lang="es-CO" sz="675"/>
              <a:t>DEL SPRINT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A5C5A06E-AC18-6AF1-189D-12731A704A5A}"/>
              </a:ext>
            </a:extLst>
          </p:cNvPr>
          <p:cNvSpPr txBox="1"/>
          <p:nvPr/>
        </p:nvSpPr>
        <p:spPr>
          <a:xfrm>
            <a:off x="4973133" y="2877830"/>
            <a:ext cx="1187639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675"/>
              <a:t>SPRINT Y DAILY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990579C2-303C-EC48-8CA1-7A2473157276}"/>
              </a:ext>
            </a:extLst>
          </p:cNvPr>
          <p:cNvSpPr txBox="1"/>
          <p:nvPr/>
        </p:nvSpPr>
        <p:spPr>
          <a:xfrm>
            <a:off x="6271740" y="2877830"/>
            <a:ext cx="118763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675"/>
              <a:t>PLANEACIÓN</a:t>
            </a:r>
          </a:p>
          <a:p>
            <a:pPr algn="ctr"/>
            <a:r>
              <a:rPr lang="es-CO" sz="675"/>
              <a:t>DEL SPRINT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1AAC3731-7E1B-AC2D-24B6-1F38E0C7997A}"/>
              </a:ext>
            </a:extLst>
          </p:cNvPr>
          <p:cNvSpPr txBox="1"/>
          <p:nvPr/>
        </p:nvSpPr>
        <p:spPr>
          <a:xfrm>
            <a:off x="7514898" y="2877830"/>
            <a:ext cx="125491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675"/>
              <a:t>PRIORIZACIÓN DE</a:t>
            </a:r>
          </a:p>
          <a:p>
            <a:pPr algn="ctr"/>
            <a:r>
              <a:rPr lang="es-CO" sz="675"/>
              <a:t>HISTORIAS DE USUARIO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E6191332-61C3-5218-3053-CF8CA0737248}"/>
              </a:ext>
            </a:extLst>
          </p:cNvPr>
          <p:cNvSpPr txBox="1"/>
          <p:nvPr/>
        </p:nvSpPr>
        <p:spPr>
          <a:xfrm>
            <a:off x="2338784" y="3918352"/>
            <a:ext cx="118763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675">
                <a:solidFill>
                  <a:schemeClr val="bg1"/>
                </a:solidFill>
              </a:rPr>
              <a:t>ENVÍO DE ENTREGABLES</a:t>
            </a:r>
            <a:br>
              <a:rPr lang="es-CO" sz="675">
                <a:solidFill>
                  <a:schemeClr val="bg1"/>
                </a:solidFill>
              </a:rPr>
            </a:br>
            <a:r>
              <a:rPr lang="es-CO" sz="675">
                <a:solidFill>
                  <a:schemeClr val="bg1"/>
                </a:solidFill>
              </a:rPr>
              <a:t>AL CLIENTE</a:t>
            </a: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B592D90F-4060-CD00-000B-31AA96C80D8E}"/>
              </a:ext>
            </a:extLst>
          </p:cNvPr>
          <p:cNvSpPr txBox="1"/>
          <p:nvPr/>
        </p:nvSpPr>
        <p:spPr>
          <a:xfrm>
            <a:off x="3653833" y="3918352"/>
            <a:ext cx="1187639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675">
                <a:solidFill>
                  <a:schemeClr val="bg1"/>
                </a:solidFill>
              </a:rPr>
              <a:t>CIERRE DEL PROYECTO</a:t>
            </a: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B5806423-CF2C-B329-F184-B0E00BC6A590}"/>
              </a:ext>
            </a:extLst>
          </p:cNvPr>
          <p:cNvSpPr txBox="1"/>
          <p:nvPr/>
        </p:nvSpPr>
        <p:spPr>
          <a:xfrm>
            <a:off x="4939666" y="3918352"/>
            <a:ext cx="118763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675">
                <a:solidFill>
                  <a:schemeClr val="bg1"/>
                </a:solidFill>
              </a:rPr>
              <a:t>RETROSPECTIVA</a:t>
            </a:r>
          </a:p>
          <a:p>
            <a:pPr algn="ctr"/>
            <a:r>
              <a:rPr lang="es-CO" sz="675">
                <a:solidFill>
                  <a:schemeClr val="bg1"/>
                </a:solidFill>
              </a:rPr>
              <a:t>DEL PROYECTO</a:t>
            </a: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ED89B3DA-42EB-89E1-66FD-C23AF2C5C541}"/>
              </a:ext>
            </a:extLst>
          </p:cNvPr>
          <p:cNvSpPr txBox="1"/>
          <p:nvPr/>
        </p:nvSpPr>
        <p:spPr>
          <a:xfrm>
            <a:off x="2320123" y="758543"/>
            <a:ext cx="2094575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1013" b="1">
                <a:solidFill>
                  <a:srgbClr val="333333"/>
                </a:solidFill>
              </a:rPr>
              <a:t>CÓMO LO REALIZAMOS…</a:t>
            </a: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88A5AA5A-10A1-48F7-FFD8-09B23D23B5B1}"/>
              </a:ext>
            </a:extLst>
          </p:cNvPr>
          <p:cNvSpPr txBox="1"/>
          <p:nvPr/>
        </p:nvSpPr>
        <p:spPr>
          <a:xfrm>
            <a:off x="6272164" y="3318850"/>
            <a:ext cx="25184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900">
                <a:solidFill>
                  <a:srgbClr val="333333"/>
                </a:solidFill>
              </a:rPr>
              <a:t>Nuestro modelo permite alcanzar resultados eficientes y evolutivos en intervalos cortos de tiempo, orientados a la necesidad del negocio y expectativa de nuestro cliente.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76E42D0E-E159-521E-2779-54AB102CB37A}"/>
              </a:ext>
            </a:extLst>
          </p:cNvPr>
          <p:cNvSpPr txBox="1"/>
          <p:nvPr/>
        </p:nvSpPr>
        <p:spPr>
          <a:xfrm>
            <a:off x="304245" y="803790"/>
            <a:ext cx="1898054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1013" b="1">
                <a:solidFill>
                  <a:srgbClr val="333333"/>
                </a:solidFill>
              </a:rPr>
              <a:t>LOS PROTAGONISTAS</a:t>
            </a:r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50DFF4B2-BD6F-0D4A-9FDB-263DD146EF52}"/>
              </a:ext>
            </a:extLst>
          </p:cNvPr>
          <p:cNvSpPr/>
          <p:nvPr/>
        </p:nvSpPr>
        <p:spPr>
          <a:xfrm>
            <a:off x="444432" y="1165715"/>
            <a:ext cx="1571533" cy="1111100"/>
          </a:xfrm>
          <a:prstGeom prst="rect">
            <a:avLst/>
          </a:prstGeom>
          <a:gradFill flip="none" rotWithShape="1">
            <a:gsLst>
              <a:gs pos="0">
                <a:srgbClr val="0E8B27"/>
              </a:gs>
              <a:gs pos="100000">
                <a:srgbClr val="09B66C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sz="1013"/>
          </a:p>
        </p:txBody>
      </p:sp>
      <p:pic>
        <p:nvPicPr>
          <p:cNvPr id="53" name="Imagen 52">
            <a:extLst>
              <a:ext uri="{FF2B5EF4-FFF2-40B4-BE49-F238E27FC236}">
                <a16:creationId xmlns:a16="http://schemas.microsoft.com/office/drawing/2014/main" id="{02C11773-1009-57E6-BB8B-750F4B1EB20E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771" y="1237846"/>
            <a:ext cx="733463" cy="966837"/>
          </a:xfrm>
          <a:prstGeom prst="rect">
            <a:avLst/>
          </a:prstGeom>
        </p:spPr>
      </p:pic>
      <p:sp>
        <p:nvSpPr>
          <p:cNvPr id="54" name="Rectángulo 53">
            <a:extLst>
              <a:ext uri="{FF2B5EF4-FFF2-40B4-BE49-F238E27FC236}">
                <a16:creationId xmlns:a16="http://schemas.microsoft.com/office/drawing/2014/main" id="{631A52B9-ABF2-95A0-62D1-D7B1D8681096}"/>
              </a:ext>
            </a:extLst>
          </p:cNvPr>
          <p:cNvSpPr/>
          <p:nvPr/>
        </p:nvSpPr>
        <p:spPr>
          <a:xfrm>
            <a:off x="448242" y="1990721"/>
            <a:ext cx="1560029" cy="276999"/>
          </a:xfrm>
          <a:prstGeom prst="rect">
            <a:avLst/>
          </a:prstGeom>
          <a:solidFill>
            <a:srgbClr val="68973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sz="1013"/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CC18E4A3-896E-51E3-E634-7AF437BFFCF2}"/>
              </a:ext>
            </a:extLst>
          </p:cNvPr>
          <p:cNvSpPr txBox="1"/>
          <p:nvPr/>
        </p:nvSpPr>
        <p:spPr>
          <a:xfrm>
            <a:off x="638285" y="2013804"/>
            <a:ext cx="118763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1050" b="1">
                <a:solidFill>
                  <a:schemeClr val="bg1"/>
                </a:solidFill>
              </a:rPr>
              <a:t>Scrum Máster</a:t>
            </a:r>
          </a:p>
        </p:txBody>
      </p:sp>
      <p:sp>
        <p:nvSpPr>
          <p:cNvPr id="56" name="Rectángulo: esquinas redondeadas 55">
            <a:extLst>
              <a:ext uri="{FF2B5EF4-FFF2-40B4-BE49-F238E27FC236}">
                <a16:creationId xmlns:a16="http://schemas.microsoft.com/office/drawing/2014/main" id="{FFA7F464-0333-1A67-FDDE-FDD70148F0FC}"/>
              </a:ext>
            </a:extLst>
          </p:cNvPr>
          <p:cNvSpPr/>
          <p:nvPr/>
        </p:nvSpPr>
        <p:spPr>
          <a:xfrm>
            <a:off x="410682" y="2466481"/>
            <a:ext cx="1623662" cy="997606"/>
          </a:xfrm>
          <a:prstGeom prst="roundRect">
            <a:avLst/>
          </a:prstGeom>
          <a:noFill/>
          <a:ln>
            <a:solidFill>
              <a:srgbClr val="18207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sz="1013"/>
          </a:p>
        </p:txBody>
      </p:sp>
      <p:sp>
        <p:nvSpPr>
          <p:cNvPr id="57" name="Rectángulo: esquinas redondeadas 56">
            <a:extLst>
              <a:ext uri="{FF2B5EF4-FFF2-40B4-BE49-F238E27FC236}">
                <a16:creationId xmlns:a16="http://schemas.microsoft.com/office/drawing/2014/main" id="{1A932EAD-1353-EE88-3871-C6F15D0F5776}"/>
              </a:ext>
            </a:extLst>
          </p:cNvPr>
          <p:cNvSpPr/>
          <p:nvPr/>
        </p:nvSpPr>
        <p:spPr>
          <a:xfrm>
            <a:off x="409609" y="2466481"/>
            <a:ext cx="1623662" cy="2201715"/>
          </a:xfrm>
          <a:prstGeom prst="roundRect">
            <a:avLst>
              <a:gd name="adj" fmla="val 10747"/>
            </a:avLst>
          </a:prstGeom>
          <a:noFill/>
          <a:ln>
            <a:solidFill>
              <a:srgbClr val="18207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sz="1013"/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A5479E32-F72E-16F2-8CC3-82598E4CDF8A}"/>
              </a:ext>
            </a:extLst>
          </p:cNvPr>
          <p:cNvSpPr txBox="1"/>
          <p:nvPr/>
        </p:nvSpPr>
        <p:spPr>
          <a:xfrm>
            <a:off x="948771" y="2374157"/>
            <a:ext cx="641572" cy="230832"/>
          </a:xfrm>
          <a:prstGeom prst="rect">
            <a:avLst/>
          </a:prstGeom>
          <a:solidFill>
            <a:srgbClr val="EBEBEB"/>
          </a:solidFill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900" b="1">
                <a:solidFill>
                  <a:srgbClr val="182077"/>
                </a:solidFill>
              </a:rPr>
              <a:t>CLIENTE</a:t>
            </a:r>
          </a:p>
        </p:txBody>
      </p:sp>
      <p:sp>
        <p:nvSpPr>
          <p:cNvPr id="59" name="Rectángulo 58">
            <a:extLst>
              <a:ext uri="{FF2B5EF4-FFF2-40B4-BE49-F238E27FC236}">
                <a16:creationId xmlns:a16="http://schemas.microsoft.com/office/drawing/2014/main" id="{C7733D1A-A31E-651D-FA3F-A4AC88E75EC2}"/>
              </a:ext>
            </a:extLst>
          </p:cNvPr>
          <p:cNvSpPr/>
          <p:nvPr/>
        </p:nvSpPr>
        <p:spPr>
          <a:xfrm>
            <a:off x="493351" y="2605214"/>
            <a:ext cx="1473581" cy="824743"/>
          </a:xfrm>
          <a:prstGeom prst="rect">
            <a:avLst/>
          </a:prstGeom>
          <a:solidFill>
            <a:srgbClr val="BEE4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sz="1013"/>
          </a:p>
        </p:txBody>
      </p:sp>
      <p:pic>
        <p:nvPicPr>
          <p:cNvPr id="60" name="Imagen 59">
            <a:extLst>
              <a:ext uri="{FF2B5EF4-FFF2-40B4-BE49-F238E27FC236}">
                <a16:creationId xmlns:a16="http://schemas.microsoft.com/office/drawing/2014/main" id="{8208D8EF-FE7B-4841-8C9C-66FE8BF603D0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274" y="2747697"/>
            <a:ext cx="812048" cy="769184"/>
          </a:xfrm>
          <a:prstGeom prst="rect">
            <a:avLst/>
          </a:prstGeom>
        </p:spPr>
      </p:pic>
      <p:sp>
        <p:nvSpPr>
          <p:cNvPr id="61" name="Rectángulo 60">
            <a:extLst>
              <a:ext uri="{FF2B5EF4-FFF2-40B4-BE49-F238E27FC236}">
                <a16:creationId xmlns:a16="http://schemas.microsoft.com/office/drawing/2014/main" id="{D36FA257-ED11-5851-E157-1C6554EB5C10}"/>
              </a:ext>
            </a:extLst>
          </p:cNvPr>
          <p:cNvSpPr/>
          <p:nvPr/>
        </p:nvSpPr>
        <p:spPr>
          <a:xfrm>
            <a:off x="497161" y="3381049"/>
            <a:ext cx="1462793" cy="217868"/>
          </a:xfrm>
          <a:prstGeom prst="rect">
            <a:avLst/>
          </a:prstGeom>
          <a:solidFill>
            <a:srgbClr val="18207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sz="1013"/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2194B27E-4D3E-CB04-2C8B-A69CE5BF86F5}"/>
              </a:ext>
            </a:extLst>
          </p:cNvPr>
          <p:cNvSpPr txBox="1"/>
          <p:nvPr/>
        </p:nvSpPr>
        <p:spPr>
          <a:xfrm>
            <a:off x="687205" y="3382361"/>
            <a:ext cx="1113614" cy="230833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1050" b="1">
                <a:solidFill>
                  <a:schemeClr val="bg1"/>
                </a:solidFill>
              </a:rPr>
              <a:t>Product Owner</a:t>
            </a:r>
          </a:p>
        </p:txBody>
      </p:sp>
      <p:sp>
        <p:nvSpPr>
          <p:cNvPr id="63" name="Rectángulo 62">
            <a:extLst>
              <a:ext uri="{FF2B5EF4-FFF2-40B4-BE49-F238E27FC236}">
                <a16:creationId xmlns:a16="http://schemas.microsoft.com/office/drawing/2014/main" id="{4821CF90-65B7-E456-E402-3A84ADB40F64}"/>
              </a:ext>
            </a:extLst>
          </p:cNvPr>
          <p:cNvSpPr/>
          <p:nvPr/>
        </p:nvSpPr>
        <p:spPr>
          <a:xfrm>
            <a:off x="486373" y="3765960"/>
            <a:ext cx="1473581" cy="796847"/>
          </a:xfrm>
          <a:prstGeom prst="rect">
            <a:avLst/>
          </a:prstGeom>
          <a:solidFill>
            <a:srgbClr val="BEE4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sz="1013"/>
          </a:p>
        </p:txBody>
      </p:sp>
      <p:pic>
        <p:nvPicPr>
          <p:cNvPr id="64" name="Imagen 63">
            <a:extLst>
              <a:ext uri="{FF2B5EF4-FFF2-40B4-BE49-F238E27FC236}">
                <a16:creationId xmlns:a16="http://schemas.microsoft.com/office/drawing/2014/main" id="{0E687133-90BF-1C2A-C270-9C764FFA26BA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604" y="3837111"/>
            <a:ext cx="897778" cy="857294"/>
          </a:xfrm>
          <a:prstGeom prst="rect">
            <a:avLst/>
          </a:prstGeom>
        </p:spPr>
      </p:pic>
      <p:sp>
        <p:nvSpPr>
          <p:cNvPr id="65" name="Rectángulo 64">
            <a:extLst>
              <a:ext uri="{FF2B5EF4-FFF2-40B4-BE49-F238E27FC236}">
                <a16:creationId xmlns:a16="http://schemas.microsoft.com/office/drawing/2014/main" id="{DECD4815-107D-FD7F-C32A-A797AEE44E46}"/>
              </a:ext>
            </a:extLst>
          </p:cNvPr>
          <p:cNvSpPr/>
          <p:nvPr/>
        </p:nvSpPr>
        <p:spPr>
          <a:xfrm>
            <a:off x="490183" y="4513899"/>
            <a:ext cx="1462793" cy="217868"/>
          </a:xfrm>
          <a:prstGeom prst="rect">
            <a:avLst/>
          </a:prstGeom>
          <a:solidFill>
            <a:srgbClr val="18207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sz="1013"/>
          </a:p>
        </p:txBody>
      </p:sp>
      <p:sp>
        <p:nvSpPr>
          <p:cNvPr id="66" name="CuadroTexto 65">
            <a:extLst>
              <a:ext uri="{FF2B5EF4-FFF2-40B4-BE49-F238E27FC236}">
                <a16:creationId xmlns:a16="http://schemas.microsoft.com/office/drawing/2014/main" id="{1AD9B644-0068-47FF-9107-56CB40D98044}"/>
              </a:ext>
            </a:extLst>
          </p:cNvPr>
          <p:cNvSpPr txBox="1"/>
          <p:nvPr/>
        </p:nvSpPr>
        <p:spPr>
          <a:xfrm>
            <a:off x="680227" y="4515212"/>
            <a:ext cx="1113614" cy="230833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1050" b="1">
                <a:solidFill>
                  <a:schemeClr val="bg1"/>
                </a:solidFill>
              </a:rPr>
              <a:t>Stakeholders</a:t>
            </a:r>
          </a:p>
        </p:txBody>
      </p:sp>
      <p:sp>
        <p:nvSpPr>
          <p:cNvPr id="67" name="Redondear rectángulo de esquina diagonal 14">
            <a:extLst>
              <a:ext uri="{FF2B5EF4-FFF2-40B4-BE49-F238E27FC236}">
                <a16:creationId xmlns:a16="http://schemas.microsoft.com/office/drawing/2014/main" id="{7DCC8C0C-D75A-79FB-A6F9-49E6BA7E1B23}"/>
              </a:ext>
            </a:extLst>
          </p:cNvPr>
          <p:cNvSpPr/>
          <p:nvPr/>
        </p:nvSpPr>
        <p:spPr>
          <a:xfrm>
            <a:off x="2212962" y="4331747"/>
            <a:ext cx="6879431" cy="701219"/>
          </a:xfrm>
          <a:prstGeom prst="round2DiagRect">
            <a:avLst>
              <a:gd name="adj1" fmla="val 13848"/>
              <a:gd name="adj2" fmla="val 25414"/>
            </a:avLst>
          </a:prstGeom>
          <a:gradFill>
            <a:gsLst>
              <a:gs pos="0">
                <a:schemeClr val="bg1"/>
              </a:gs>
              <a:gs pos="100000">
                <a:srgbClr val="E4EFD9"/>
              </a:gs>
            </a:gsLst>
            <a:lin ang="0" scaled="0"/>
          </a:gradFill>
          <a:ln>
            <a:noFill/>
          </a:ln>
          <a:effectLst>
            <a:outerShdw blurRad="190500" dist="38100" dir="8100000" algn="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504000" tIns="0" rIns="0" bIns="0" rtlCol="0" anchor="ctr"/>
          <a:lstStyle/>
          <a:p>
            <a:r>
              <a:rPr lang="es-ES" sz="1050" i="1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La metodología de trabajo manejada será un esquema flexible debido a que durante la ejecución del proyecto el usuario final puede requerir incorporar alguna funcionalidad no detallada por parte de </a:t>
            </a:r>
            <a:r>
              <a:rPr lang="es-ES" sz="1050" i="1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XXXXXXXXXX</a:t>
            </a:r>
            <a:r>
              <a:rPr lang="es-ES" sz="1050" i="1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pic>
        <p:nvPicPr>
          <p:cNvPr id="68" name="Imagen 67">
            <a:extLst>
              <a:ext uri="{FF2B5EF4-FFF2-40B4-BE49-F238E27FC236}">
                <a16:creationId xmlns:a16="http://schemas.microsoft.com/office/drawing/2014/main" id="{498C5701-C519-48F1-1E10-A9EEB8B4F4DC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2334401" y="4520637"/>
            <a:ext cx="323437" cy="3234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E56B6B0-B5B6-644B-A847-B5873C586D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7829" y="173076"/>
            <a:ext cx="758098" cy="256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245869C9-015F-0BA5-27BA-5EDC5FD1A1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4882" y="1533737"/>
            <a:ext cx="566029" cy="191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24253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>
            <a:extLst>
              <a:ext uri="{FF2B5EF4-FFF2-40B4-BE49-F238E27FC236}">
                <a16:creationId xmlns:a16="http://schemas.microsoft.com/office/drawing/2014/main" id="{10400EF0-F704-7E75-A3AE-0CD3FE08F0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" y="2381"/>
            <a:ext cx="9143999" cy="5232452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61AEB040-7260-7CCB-2434-F2DACE8E43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2846" y="1081961"/>
            <a:ext cx="2523449" cy="2112035"/>
          </a:xfrm>
          <a:prstGeom prst="rect">
            <a:avLst/>
          </a:prstGeom>
        </p:spPr>
      </p:pic>
      <p:cxnSp>
        <p:nvCxnSpPr>
          <p:cNvPr id="16" name="Conector recto 2">
            <a:extLst>
              <a:ext uri="{FF2B5EF4-FFF2-40B4-BE49-F238E27FC236}">
                <a16:creationId xmlns:a16="http://schemas.microsoft.com/office/drawing/2014/main" id="{4D38EA46-9AEE-1B2C-2ADE-9C596A901EF2}"/>
              </a:ext>
            </a:extLst>
          </p:cNvPr>
          <p:cNvCxnSpPr>
            <a:cxnSpLocks/>
          </p:cNvCxnSpPr>
          <p:nvPr/>
        </p:nvCxnSpPr>
        <p:spPr>
          <a:xfrm>
            <a:off x="1639393" y="253708"/>
            <a:ext cx="7286558" cy="0"/>
          </a:xfrm>
          <a:prstGeom prst="line">
            <a:avLst/>
          </a:prstGeom>
          <a:ln w="1270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DFCD8FCB-0FCE-0C95-BD5C-97E9A7ABBA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395869" y="689580"/>
            <a:ext cx="4572000" cy="7794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4C15E38-C3B0-22B5-D656-8397553293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460391" y="3086163"/>
            <a:ext cx="6696254" cy="7967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17AF6AA-0E5D-A2FD-81E4-84AFA9C726F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079194" y="2266713"/>
            <a:ext cx="5941443" cy="82168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95BEBCA-980F-3264-4C0B-802E61D90BB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706580" y="1469764"/>
            <a:ext cx="5197415" cy="7969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DBF405D-EBB0-92A8-531A-D787492ABEA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1812439" y="3885363"/>
            <a:ext cx="7397150" cy="80530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BE1FBE6-86A0-E44D-1BFD-432245BE57E2}"/>
              </a:ext>
            </a:extLst>
          </p:cNvPr>
          <p:cNvSpPr txBox="1"/>
          <p:nvPr/>
        </p:nvSpPr>
        <p:spPr>
          <a:xfrm>
            <a:off x="1462803" y="921540"/>
            <a:ext cx="1333499" cy="4847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Scrum Master / Technical Leader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0C633F-B714-5997-ED13-F9F25DB6C5F2}"/>
              </a:ext>
            </a:extLst>
          </p:cNvPr>
          <p:cNvSpPr txBox="1"/>
          <p:nvPr/>
        </p:nvSpPr>
        <p:spPr>
          <a:xfrm>
            <a:off x="1492237" y="1688259"/>
            <a:ext cx="2031999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5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Tower Leader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DDF9D6-63D9-6A1F-3CCC-5DB6B47F768E}"/>
              </a:ext>
            </a:extLst>
          </p:cNvPr>
          <p:cNvSpPr txBox="1"/>
          <p:nvPr/>
        </p:nvSpPr>
        <p:spPr>
          <a:xfrm>
            <a:off x="1473386" y="2499303"/>
            <a:ext cx="2317749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5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PMO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C3E5AA9-587C-9EE7-D9C6-850EBE4D09A4}"/>
              </a:ext>
            </a:extLst>
          </p:cNvPr>
          <p:cNvSpPr txBox="1"/>
          <p:nvPr/>
        </p:nvSpPr>
        <p:spPr>
          <a:xfrm>
            <a:off x="1473387" y="3318722"/>
            <a:ext cx="270274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5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Corporate Development Manager</a:t>
            </a:r>
            <a:endParaRPr lang="es-CO" sz="1350" b="1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B78DA53-8459-964E-8023-FEF82D0E071C}"/>
              </a:ext>
            </a:extLst>
          </p:cNvPr>
          <p:cNvSpPr txBox="1"/>
          <p:nvPr/>
        </p:nvSpPr>
        <p:spPr>
          <a:xfrm>
            <a:off x="1473387" y="3965457"/>
            <a:ext cx="270274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Customer Experience Manager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421D00C-1491-0D2D-8519-EC11DDA888D2}"/>
              </a:ext>
            </a:extLst>
          </p:cNvPr>
          <p:cNvSpPr txBox="1"/>
          <p:nvPr/>
        </p:nvSpPr>
        <p:spPr>
          <a:xfrm>
            <a:off x="6377330" y="4194413"/>
            <a:ext cx="2158999" cy="4501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 sz="825" dirty="0">
                <a:solidFill>
                  <a:srgbClr val="FFFFFF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Presentamos nuestro esquema de escalamiento en caso de presentar algún inconveniente con el servicio prestado.</a:t>
            </a:r>
            <a:endParaRPr lang="en-US" sz="825" dirty="0">
              <a:solidFill>
                <a:srgbClr val="FFFFFF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5346312-0CC0-F53B-B528-24F0FEBC7FD5}"/>
              </a:ext>
            </a:extLst>
          </p:cNvPr>
          <p:cNvSpPr txBox="1"/>
          <p:nvPr/>
        </p:nvSpPr>
        <p:spPr>
          <a:xfrm>
            <a:off x="1630381" y="4260657"/>
            <a:ext cx="2127250" cy="1962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O" sz="825" dirty="0" err="1">
                <a:solidFill>
                  <a:schemeClr val="bg1"/>
                </a:solidFill>
              </a:rPr>
              <a:t>experenciadecliente</a:t>
            </a:r>
            <a:r>
              <a:rPr lang="en-US" sz="825" dirty="0">
                <a:solidFill>
                  <a:srgbClr val="FFFFFF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@periferiaitgroup.com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664AFFB-ACDF-A6F3-DB88-AD729F7E1F8B}"/>
              </a:ext>
            </a:extLst>
          </p:cNvPr>
          <p:cNvSpPr txBox="1"/>
          <p:nvPr/>
        </p:nvSpPr>
        <p:spPr>
          <a:xfrm>
            <a:off x="6557246" y="2056708"/>
            <a:ext cx="1799165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Cargo</a:t>
            </a:r>
            <a:endParaRPr lang="en-US" sz="135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C0D6402-4B71-A16F-30F4-EBCAC5DF9894}"/>
              </a:ext>
            </a:extLst>
          </p:cNvPr>
          <p:cNvSpPr txBox="1"/>
          <p:nvPr/>
        </p:nvSpPr>
        <p:spPr>
          <a:xfrm>
            <a:off x="6557248" y="2391416"/>
            <a:ext cx="1799165" cy="2539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Nombre</a:t>
            </a:r>
            <a:endParaRPr lang="en-US" sz="120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4B31876-70B7-A7C3-0D92-7573CA316136}"/>
              </a:ext>
            </a:extLst>
          </p:cNvPr>
          <p:cNvSpPr txBox="1"/>
          <p:nvPr/>
        </p:nvSpPr>
        <p:spPr>
          <a:xfrm>
            <a:off x="6224172" y="2613665"/>
            <a:ext cx="2530013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50" err="1">
                <a:solidFill>
                  <a:srgbClr val="FFFFFF"/>
                </a:solidFill>
                <a:ea typeface="+mn-lt"/>
                <a:cs typeface="+mn-lt"/>
              </a:rPr>
              <a:t>xxxxxxxxxx@xxxxxxxxxxxxxxxxxx</a:t>
            </a:r>
            <a:endParaRPr lang="es-ES" sz="1350">
              <a:ea typeface="+mn-lt"/>
              <a:cs typeface="+mn-lt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0223412-17B1-B380-8DF1-D47C374756B3}"/>
              </a:ext>
            </a:extLst>
          </p:cNvPr>
          <p:cNvSpPr txBox="1"/>
          <p:nvPr/>
        </p:nvSpPr>
        <p:spPr>
          <a:xfrm>
            <a:off x="6493747" y="2835915"/>
            <a:ext cx="1926165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50" dirty="0">
                <a:solidFill>
                  <a:srgbClr val="FFFFFF"/>
                </a:solidFill>
                <a:ea typeface="+mn-lt"/>
                <a:cs typeface="+mn-lt"/>
              </a:rPr>
              <a:t>+57 </a:t>
            </a:r>
            <a:r>
              <a:rPr lang="en-US" sz="1050" dirty="0" err="1">
                <a:solidFill>
                  <a:srgbClr val="FFFFFF"/>
                </a:solidFill>
                <a:ea typeface="+mn-lt"/>
                <a:cs typeface="+mn-lt"/>
              </a:rPr>
              <a:t>xxxxxxxxx</a:t>
            </a:r>
            <a:endParaRPr lang="es-ES" sz="1350" dirty="0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8530FE51-B181-6445-3657-35EB5B966AC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62216" y="1335622"/>
            <a:ext cx="589228" cy="589228"/>
          </a:xfrm>
          <a:prstGeom prst="rect">
            <a:avLst/>
          </a:prstGeom>
        </p:spPr>
      </p:pic>
      <p:sp>
        <p:nvSpPr>
          <p:cNvPr id="49" name="Título 1">
            <a:extLst>
              <a:ext uri="{FF2B5EF4-FFF2-40B4-BE49-F238E27FC236}">
                <a16:creationId xmlns:a16="http://schemas.microsoft.com/office/drawing/2014/main" id="{E6271277-0574-0B0F-B77D-45BDCCA9B646}"/>
              </a:ext>
            </a:extLst>
          </p:cNvPr>
          <p:cNvSpPr txBox="1">
            <a:spLocks/>
          </p:cNvSpPr>
          <p:nvPr/>
        </p:nvSpPr>
        <p:spPr>
          <a:xfrm>
            <a:off x="6328515" y="352013"/>
            <a:ext cx="2222110" cy="699311"/>
          </a:xfrm>
          <a:prstGeom prst="rect">
            <a:avLst/>
          </a:prstGeom>
        </p:spPr>
        <p:txBody>
          <a:bodyPr vert="horz" lIns="51435" tIns="25718" rIns="51435" bIns="25718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2100" b="1" dirty="0">
                <a:solidFill>
                  <a:schemeClr val="bg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Nivel de Escalamiento</a:t>
            </a:r>
            <a:endParaRPr lang="en-US" sz="2100" b="1" dirty="0">
              <a:solidFill>
                <a:schemeClr val="bg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3B857C3B-C190-804E-E267-2CE6B27F18D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7364" y="2383508"/>
            <a:ext cx="589228" cy="588095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59509226-7FC7-A0CD-E037-1F867D9B86C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7364" y="3189941"/>
            <a:ext cx="589228" cy="589228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FBE0F58-512F-854D-72F0-27A5391B177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7363" y="3993401"/>
            <a:ext cx="589228" cy="589228"/>
          </a:xfrm>
          <a:prstGeom prst="rect">
            <a:avLst/>
          </a:prstGeom>
        </p:spPr>
      </p:pic>
      <p:pic>
        <p:nvPicPr>
          <p:cNvPr id="30" name="Imagen 29">
            <a:extLst>
              <a:ext uri="{FF2B5EF4-FFF2-40B4-BE49-F238E27FC236}">
                <a16:creationId xmlns:a16="http://schemas.microsoft.com/office/drawing/2014/main" id="{32E9B364-6308-8942-8759-F9A5F144D442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4591" y="3415459"/>
            <a:ext cx="2124478" cy="726751"/>
          </a:xfrm>
          <a:prstGeom prst="rect">
            <a:avLst/>
          </a:prstGeom>
        </p:spPr>
      </p:pic>
      <p:sp>
        <p:nvSpPr>
          <p:cNvPr id="2" name="TextBox 44">
            <a:extLst>
              <a:ext uri="{FF2B5EF4-FFF2-40B4-BE49-F238E27FC236}">
                <a16:creationId xmlns:a16="http://schemas.microsoft.com/office/drawing/2014/main" id="{60CAA590-8F65-A281-7D07-FAE1AABD078C}"/>
              </a:ext>
            </a:extLst>
          </p:cNvPr>
          <p:cNvSpPr txBox="1"/>
          <p:nvPr/>
        </p:nvSpPr>
        <p:spPr>
          <a:xfrm>
            <a:off x="5733988" y="4906480"/>
            <a:ext cx="1926165" cy="230832"/>
          </a:xfrm>
          <a:prstGeom prst="rect">
            <a:avLst/>
          </a:prstGeom>
          <a:noFill/>
        </p:spPr>
        <p:txBody>
          <a:bodyPr rot="0" spcFirstLastPara="0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www.periferiaitgroup.com</a:t>
            </a:r>
            <a:endParaRPr lang="en-US" sz="1350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FAC6A079-4D1E-C446-DB0D-CE316B4FAD0E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1812" y="5021897"/>
            <a:ext cx="1612189" cy="30958"/>
          </a:xfrm>
          <a:prstGeom prst="rect">
            <a:avLst/>
          </a:prstGeom>
        </p:spPr>
      </p:pic>
      <p:pic>
        <p:nvPicPr>
          <p:cNvPr id="13" name="Picture 8" descr="Icono&#10;&#10;Descripción generada automáticamente">
            <a:extLst>
              <a:ext uri="{FF2B5EF4-FFF2-40B4-BE49-F238E27FC236}">
                <a16:creationId xmlns:a16="http://schemas.microsoft.com/office/drawing/2014/main" id="{8DFC39C5-49EA-E967-6F3F-879E24EA04E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03430" y="803460"/>
            <a:ext cx="588095" cy="589228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3F366283-D1D5-060A-0CC6-B27FCC6C0D14}"/>
              </a:ext>
            </a:extLst>
          </p:cNvPr>
          <p:cNvSpPr txBox="1"/>
          <p:nvPr/>
        </p:nvSpPr>
        <p:spPr>
          <a:xfrm>
            <a:off x="6663905" y="3665021"/>
            <a:ext cx="1653209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350" dirty="0">
                <a:solidFill>
                  <a:srgbClr val="00B0F0"/>
                </a:solidFill>
              </a:rPr>
              <a:t>&lt;&lt;Logo del Cliente&gt;&gt;</a:t>
            </a:r>
            <a:endParaRPr lang="es-CO" sz="1350" dirty="0">
              <a:solidFill>
                <a:srgbClr val="00B0F0"/>
              </a:solidFill>
            </a:endParaRPr>
          </a:p>
        </p:txBody>
      </p:sp>
      <p:pic>
        <p:nvPicPr>
          <p:cNvPr id="17" name="Picture 7">
            <a:extLst>
              <a:ext uri="{FF2B5EF4-FFF2-40B4-BE49-F238E27FC236}">
                <a16:creationId xmlns:a16="http://schemas.microsoft.com/office/drawing/2014/main" id="{85CD65CB-6E7A-A2C2-BD66-B2DCBB1AB903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5025" y="1582948"/>
            <a:ext cx="589228" cy="58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0138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F4CC0-F327-87C4-D30E-E96FD22CB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88D18779-30B3-9298-9B98-2282D43161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1"/>
            <a:ext cx="2974551" cy="5148262"/>
          </a:xfr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D711B7C6-878F-2336-44B1-280794A9D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353" y="1840014"/>
            <a:ext cx="2128053" cy="1028396"/>
          </a:xfrm>
        </p:spPr>
        <p:txBody>
          <a:bodyPr>
            <a:normAutofit fontScale="90000"/>
          </a:bodyPr>
          <a:lstStyle/>
          <a:p>
            <a:pPr>
              <a:lnSpc>
                <a:spcPts val="2800"/>
              </a:lnSpc>
            </a:pPr>
            <a:r>
              <a:rPr lang="es-CO" sz="26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Oferta Económica</a:t>
            </a:r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46FAEC2C-8A39-3451-2DFE-123AE0E862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87189" y="0"/>
            <a:ext cx="771769" cy="762000"/>
          </a:xfrm>
          <a:prstGeom prst="rect">
            <a:avLst/>
          </a:prstGeom>
        </p:spPr>
      </p:pic>
      <p:sp>
        <p:nvSpPr>
          <p:cNvPr id="2" name="Redondear rectángulo de esquina diagonal 14">
            <a:extLst>
              <a:ext uri="{FF2B5EF4-FFF2-40B4-BE49-F238E27FC236}">
                <a16:creationId xmlns:a16="http://schemas.microsoft.com/office/drawing/2014/main" id="{14D73C5F-8DCF-70C9-9AB0-C6C055B8CC1E}"/>
              </a:ext>
            </a:extLst>
          </p:cNvPr>
          <p:cNvSpPr/>
          <p:nvPr/>
        </p:nvSpPr>
        <p:spPr>
          <a:xfrm>
            <a:off x="2276408" y="4352148"/>
            <a:ext cx="4715610" cy="640340"/>
          </a:xfrm>
          <a:prstGeom prst="round2DiagRect">
            <a:avLst>
              <a:gd name="adj1" fmla="val 13848"/>
              <a:gd name="adj2" fmla="val 25414"/>
            </a:avLst>
          </a:prstGeom>
          <a:gradFill>
            <a:gsLst>
              <a:gs pos="0">
                <a:schemeClr val="bg1"/>
              </a:gs>
              <a:gs pos="100000">
                <a:srgbClr val="E4EFD9"/>
              </a:gs>
            </a:gsLst>
            <a:lin ang="0" scaled="0"/>
          </a:gradFill>
          <a:ln>
            <a:noFill/>
          </a:ln>
          <a:effectLst>
            <a:outerShdw blurRad="190500" dist="38100" dir="8100000" algn="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576000" tIns="0" rIns="72000" bIns="0" rtlCol="0" anchor="ctr"/>
          <a:lstStyle/>
          <a:p>
            <a:r>
              <a:rPr lang="es-ES" sz="1050" i="1" dirty="0">
                <a:solidFill>
                  <a:srgbClr val="333333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</a:rPr>
              <a:t>*</a:t>
            </a:r>
            <a:r>
              <a:rPr lang="es-ES" sz="1050" i="1" dirty="0" err="1">
                <a:solidFill>
                  <a:srgbClr val="333333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</a:rPr>
              <a:t>Xxxxxxx</a:t>
            </a:r>
            <a:r>
              <a:rPr lang="es-ES" sz="1050" i="1" dirty="0">
                <a:solidFill>
                  <a:srgbClr val="333333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</a:rPr>
              <a:t> </a:t>
            </a:r>
            <a:r>
              <a:rPr lang="es-ES" sz="1050" i="1" dirty="0" err="1">
                <a:solidFill>
                  <a:srgbClr val="333333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</a:rPr>
              <a:t>xxxxxxx</a:t>
            </a:r>
            <a:r>
              <a:rPr lang="es-ES" sz="1050" i="1" dirty="0">
                <a:solidFill>
                  <a:srgbClr val="333333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</a:rPr>
              <a:t> </a:t>
            </a:r>
            <a:r>
              <a:rPr lang="es-ES" sz="1050" i="1" dirty="0" err="1">
                <a:solidFill>
                  <a:srgbClr val="333333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</a:rPr>
              <a:t>xxxxxxxxxxxx</a:t>
            </a:r>
            <a:r>
              <a:rPr lang="es-ES" sz="1050" i="1" dirty="0">
                <a:solidFill>
                  <a:srgbClr val="333333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</a:rPr>
              <a:t> </a:t>
            </a:r>
            <a:r>
              <a:rPr lang="es-ES" sz="1050" i="1" dirty="0" err="1">
                <a:solidFill>
                  <a:srgbClr val="333333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</a:rPr>
              <a:t>xxxxxxxxxxx</a:t>
            </a:r>
            <a:endParaRPr lang="es-ES" sz="1050" i="1" dirty="0">
              <a:solidFill>
                <a:srgbClr val="333333"/>
              </a:solidFill>
              <a:highlight>
                <a:srgbClr val="FFFF00"/>
              </a:highlight>
              <a:latin typeface="Calibri"/>
              <a:ea typeface="Calibri"/>
              <a:cs typeface="Calibri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C53FA23-FA74-0871-41D1-5DDC3A7EC1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2654" y="4510599"/>
            <a:ext cx="323437" cy="323437"/>
          </a:xfrm>
          <a:prstGeom prst="rect">
            <a:avLst/>
          </a:prstGeom>
        </p:spPr>
      </p:pic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B1F55B43-D5EC-CBE7-C74A-B6F584E19E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5253280"/>
              </p:ext>
            </p:extLst>
          </p:nvPr>
        </p:nvGraphicFramePr>
        <p:xfrm>
          <a:off x="2958839" y="1652792"/>
          <a:ext cx="5753100" cy="2039718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886856">
                  <a:extLst>
                    <a:ext uri="{9D8B030D-6E8A-4147-A177-3AD203B41FA5}">
                      <a16:colId xmlns:a16="http://schemas.microsoft.com/office/drawing/2014/main" val="755978740"/>
                    </a:ext>
                  </a:extLst>
                </a:gridCol>
                <a:gridCol w="841829">
                  <a:extLst>
                    <a:ext uri="{9D8B030D-6E8A-4147-A177-3AD203B41FA5}">
                      <a16:colId xmlns:a16="http://schemas.microsoft.com/office/drawing/2014/main" val="2439954493"/>
                    </a:ext>
                  </a:extLst>
                </a:gridCol>
                <a:gridCol w="885371">
                  <a:extLst>
                    <a:ext uri="{9D8B030D-6E8A-4147-A177-3AD203B41FA5}">
                      <a16:colId xmlns:a16="http://schemas.microsoft.com/office/drawing/2014/main" val="3656290198"/>
                    </a:ext>
                  </a:extLst>
                </a:gridCol>
                <a:gridCol w="972457">
                  <a:extLst>
                    <a:ext uri="{9D8B030D-6E8A-4147-A177-3AD203B41FA5}">
                      <a16:colId xmlns:a16="http://schemas.microsoft.com/office/drawing/2014/main" val="1137005257"/>
                    </a:ext>
                  </a:extLst>
                </a:gridCol>
                <a:gridCol w="1166587">
                  <a:extLst>
                    <a:ext uri="{9D8B030D-6E8A-4147-A177-3AD203B41FA5}">
                      <a16:colId xmlns:a16="http://schemas.microsoft.com/office/drawing/2014/main" val="560952452"/>
                    </a:ext>
                  </a:extLst>
                </a:gridCol>
              </a:tblGrid>
              <a:tr h="339953">
                <a:tc>
                  <a:txBody>
                    <a:bodyPr/>
                    <a:lstStyle/>
                    <a:p>
                      <a:pPr algn="ctr"/>
                      <a:r>
                        <a:rPr lang="es-CO" sz="1000" dirty="0">
                          <a:solidFill>
                            <a:srgbClr val="333333"/>
                          </a:solidFill>
                          <a:latin typeface="+mn-lt"/>
                        </a:rPr>
                        <a:t>Perfil 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00" b="0" dirty="0">
                          <a:solidFill>
                            <a:srgbClr val="333333"/>
                          </a:solidFill>
                          <a:latin typeface="+mn-lt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s-CO" sz="1000" b="0" dirty="0" err="1">
                          <a:solidFill>
                            <a:srgbClr val="333333"/>
                          </a:solidFill>
                          <a:latin typeface="+mn-lt"/>
                        </a:rPr>
                        <a:t>xx</a:t>
                      </a:r>
                      <a:endParaRPr lang="en-US" dirty="0" err="1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00" dirty="0" err="1">
                          <a:solidFill>
                            <a:srgbClr val="333333"/>
                          </a:solidFill>
                          <a:highlight>
                            <a:srgbClr val="FFFF00"/>
                          </a:highlight>
                        </a:rPr>
                        <a:t>xx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00" dirty="0" err="1">
                          <a:solidFill>
                            <a:srgbClr val="333333"/>
                          </a:solidFill>
                          <a:highlight>
                            <a:srgbClr val="FFFF00"/>
                          </a:highlight>
                        </a:rPr>
                        <a:t>xx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3197989"/>
                  </a:ext>
                </a:extLst>
              </a:tr>
              <a:tr h="339953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000" b="1" dirty="0">
                          <a:solidFill>
                            <a:srgbClr val="333333"/>
                          </a:solidFill>
                          <a:latin typeface="+mn-lt"/>
                        </a:rPr>
                        <a:t>Perfil 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dirty="0">
                          <a:solidFill>
                            <a:srgbClr val="333333"/>
                          </a:solidFill>
                          <a:latin typeface="+mn-lt"/>
                        </a:rPr>
                        <a:t>X</a:t>
                      </a:r>
                      <a:endParaRPr lang="es-CO" sz="1000" dirty="0">
                        <a:solidFill>
                          <a:srgbClr val="333333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err="1">
                          <a:solidFill>
                            <a:srgbClr val="333333"/>
                          </a:solidFill>
                          <a:latin typeface="+mn-lt"/>
                        </a:rPr>
                        <a:t>Xx</a:t>
                      </a:r>
                      <a:endParaRPr lang="es-CO" sz="1000" err="1">
                        <a:solidFill>
                          <a:srgbClr val="333333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00" dirty="0" err="1">
                          <a:solidFill>
                            <a:srgbClr val="333333"/>
                          </a:solidFill>
                          <a:highlight>
                            <a:srgbClr val="FFFF00"/>
                          </a:highlight>
                        </a:rPr>
                        <a:t>xx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00" dirty="0" err="1">
                          <a:solidFill>
                            <a:srgbClr val="333333"/>
                          </a:solidFill>
                          <a:highlight>
                            <a:srgbClr val="FFFF00"/>
                          </a:highlight>
                        </a:rPr>
                        <a:t>xxx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1687934"/>
                  </a:ext>
                </a:extLst>
              </a:tr>
              <a:tr h="339953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000" b="1" dirty="0">
                          <a:solidFill>
                            <a:srgbClr val="333333"/>
                          </a:solidFill>
                          <a:latin typeface="+mn-lt"/>
                        </a:rPr>
                        <a:t>Perfil 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dirty="0">
                          <a:solidFill>
                            <a:srgbClr val="333333"/>
                          </a:solidFill>
                          <a:latin typeface="+mn-lt"/>
                        </a:rPr>
                        <a:t>X</a:t>
                      </a:r>
                      <a:endParaRPr lang="es-CO" sz="1000" dirty="0">
                        <a:solidFill>
                          <a:srgbClr val="333333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err="1">
                          <a:solidFill>
                            <a:srgbClr val="333333"/>
                          </a:solidFill>
                          <a:latin typeface="+mn-lt"/>
                        </a:rPr>
                        <a:t>Xx</a:t>
                      </a:r>
                      <a:endParaRPr lang="es-CO" sz="1000" err="1">
                        <a:solidFill>
                          <a:srgbClr val="333333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00" dirty="0" err="1">
                          <a:solidFill>
                            <a:srgbClr val="333333"/>
                          </a:solidFill>
                          <a:highlight>
                            <a:srgbClr val="FFFF00"/>
                          </a:highlight>
                        </a:rPr>
                        <a:t>xx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00" dirty="0" err="1">
                          <a:solidFill>
                            <a:srgbClr val="333333"/>
                          </a:solidFill>
                          <a:highlight>
                            <a:srgbClr val="FFFF00"/>
                          </a:highlight>
                        </a:rPr>
                        <a:t>xxxx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0097860"/>
                  </a:ext>
                </a:extLst>
              </a:tr>
              <a:tr h="339953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000" b="1" dirty="0">
                          <a:solidFill>
                            <a:srgbClr val="333333"/>
                          </a:solidFill>
                          <a:latin typeface="+mn-lt"/>
                        </a:rPr>
                        <a:t>Perfil 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dirty="0">
                          <a:solidFill>
                            <a:srgbClr val="333333"/>
                          </a:solidFill>
                          <a:latin typeface="+mn-lt"/>
                        </a:rPr>
                        <a:t>X</a:t>
                      </a:r>
                      <a:endParaRPr lang="es-CO" sz="1000" dirty="0">
                        <a:solidFill>
                          <a:srgbClr val="333333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err="1">
                          <a:solidFill>
                            <a:srgbClr val="333333"/>
                          </a:solidFill>
                          <a:latin typeface="+mn-lt"/>
                        </a:rPr>
                        <a:t>Xx</a:t>
                      </a:r>
                      <a:endParaRPr lang="es-CO" sz="1000" err="1">
                        <a:solidFill>
                          <a:srgbClr val="333333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00" dirty="0" err="1">
                          <a:solidFill>
                            <a:srgbClr val="333333"/>
                          </a:solidFill>
                          <a:highlight>
                            <a:srgbClr val="FFFF00"/>
                          </a:highlight>
                        </a:rPr>
                        <a:t>xx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00" dirty="0" err="1">
                          <a:solidFill>
                            <a:srgbClr val="333333"/>
                          </a:solidFill>
                          <a:highlight>
                            <a:srgbClr val="FFFF00"/>
                          </a:highlight>
                        </a:rPr>
                        <a:t>xxxxx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5407944"/>
                  </a:ext>
                </a:extLst>
              </a:tr>
              <a:tr h="339953">
                <a:tc>
                  <a:txBody>
                    <a:bodyPr/>
                    <a:lstStyle/>
                    <a:p>
                      <a:pPr algn="ctr"/>
                      <a:r>
                        <a:rPr lang="es-CO" sz="1000" b="1" dirty="0">
                          <a:solidFill>
                            <a:srgbClr val="333333"/>
                          </a:solidFill>
                          <a:latin typeface="+mn-lt"/>
                        </a:rPr>
                        <a:t>Perfil 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dirty="0">
                          <a:solidFill>
                            <a:srgbClr val="333333"/>
                          </a:solidFill>
                          <a:latin typeface="+mn-lt"/>
                        </a:rPr>
                        <a:t>X</a:t>
                      </a:r>
                      <a:endParaRPr lang="es-CO" sz="1000" dirty="0">
                        <a:solidFill>
                          <a:srgbClr val="333333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err="1">
                          <a:solidFill>
                            <a:srgbClr val="333333"/>
                          </a:solidFill>
                          <a:latin typeface="+mn-lt"/>
                        </a:rPr>
                        <a:t>xx</a:t>
                      </a:r>
                      <a:endParaRPr lang="es-CO" sz="1000" err="1">
                        <a:solidFill>
                          <a:srgbClr val="333333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00" dirty="0" err="1">
                          <a:solidFill>
                            <a:srgbClr val="333333"/>
                          </a:solidFill>
                          <a:highlight>
                            <a:srgbClr val="FFFF00"/>
                          </a:highlight>
                        </a:rPr>
                        <a:t>xxx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00" dirty="0" err="1">
                          <a:solidFill>
                            <a:srgbClr val="333333"/>
                          </a:solidFill>
                          <a:highlight>
                            <a:srgbClr val="FFFF00"/>
                          </a:highlight>
                        </a:rPr>
                        <a:t>xxxx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8099601"/>
                  </a:ext>
                </a:extLst>
              </a:tr>
              <a:tr h="339953">
                <a:tc gridSpan="2">
                  <a:txBody>
                    <a:bodyPr/>
                    <a:lstStyle/>
                    <a:p>
                      <a:pPr algn="ctr"/>
                      <a:r>
                        <a:rPr lang="es-ES" sz="1000" b="1" dirty="0">
                          <a:solidFill>
                            <a:srgbClr val="333333"/>
                          </a:solidFill>
                          <a:latin typeface="+mn-lt"/>
                        </a:rPr>
                        <a:t>Total</a:t>
                      </a:r>
                      <a:endParaRPr lang="es-CO" sz="1000" b="1" dirty="0">
                        <a:solidFill>
                          <a:srgbClr val="333333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CO" sz="1000" b="1">
                        <a:solidFill>
                          <a:srgbClr val="333333"/>
                        </a:solidFill>
                        <a:latin typeface="Avenir Book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b="1" err="1">
                          <a:solidFill>
                            <a:srgbClr val="333333"/>
                          </a:solidFill>
                          <a:latin typeface="+mn-lt"/>
                        </a:rPr>
                        <a:t>xxx</a:t>
                      </a:r>
                      <a:endParaRPr lang="es-CO" sz="1000" b="1" err="1">
                        <a:solidFill>
                          <a:srgbClr val="333333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00" dirty="0" err="1">
                          <a:solidFill>
                            <a:srgbClr val="333333"/>
                          </a:solidFill>
                          <a:highlight>
                            <a:srgbClr val="FFFF00"/>
                          </a:highlight>
                        </a:rPr>
                        <a:t>xx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00" dirty="0" err="1">
                          <a:solidFill>
                            <a:srgbClr val="333333"/>
                          </a:solidFill>
                          <a:highlight>
                            <a:srgbClr val="FFFF00"/>
                          </a:highlight>
                        </a:rPr>
                        <a:t>xxxxx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17497"/>
                  </a:ext>
                </a:extLst>
              </a:tr>
            </a:tbl>
          </a:graphicData>
        </a:graphic>
      </p:graphicFrame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3A81D4AD-AB02-4560-5EF0-D22FBCD0EF26}"/>
              </a:ext>
            </a:extLst>
          </p:cNvPr>
          <p:cNvSpPr/>
          <p:nvPr/>
        </p:nvSpPr>
        <p:spPr>
          <a:xfrm>
            <a:off x="2958838" y="1261153"/>
            <a:ext cx="1867217" cy="341101"/>
          </a:xfrm>
          <a:prstGeom prst="roundRect">
            <a:avLst/>
          </a:prstGeom>
          <a:solidFill>
            <a:srgbClr val="0DC5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/>
              <a:t>Perfiles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311FDB9B-ED05-9660-0652-987327A2984B}"/>
              </a:ext>
            </a:extLst>
          </p:cNvPr>
          <p:cNvSpPr/>
          <p:nvPr/>
        </p:nvSpPr>
        <p:spPr>
          <a:xfrm>
            <a:off x="4840315" y="1261152"/>
            <a:ext cx="849023" cy="341101"/>
          </a:xfrm>
          <a:prstGeom prst="roundRect">
            <a:avLst/>
          </a:prstGeom>
          <a:solidFill>
            <a:srgbClr val="0DC5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/>
              <a:t>Cantidad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7FD72852-DDC4-4631-2342-9D063FA5DCB3}"/>
              </a:ext>
            </a:extLst>
          </p:cNvPr>
          <p:cNvSpPr/>
          <p:nvPr/>
        </p:nvSpPr>
        <p:spPr>
          <a:xfrm>
            <a:off x="5714216" y="1261151"/>
            <a:ext cx="849023" cy="341101"/>
          </a:xfrm>
          <a:prstGeom prst="roundRect">
            <a:avLst/>
          </a:prstGeom>
          <a:solidFill>
            <a:srgbClr val="0DC5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/>
              <a:t>Horas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25ACF0AD-7780-4C05-8F40-946E0AF3B533}"/>
              </a:ext>
            </a:extLst>
          </p:cNvPr>
          <p:cNvSpPr/>
          <p:nvPr/>
        </p:nvSpPr>
        <p:spPr>
          <a:xfrm>
            <a:off x="6577499" y="1257548"/>
            <a:ext cx="953339" cy="341101"/>
          </a:xfrm>
          <a:prstGeom prst="roundRect">
            <a:avLst/>
          </a:prstGeom>
          <a:solidFill>
            <a:srgbClr val="0DC5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/>
              <a:t>Tarifa</a:t>
            </a:r>
            <a:endParaRPr lang="es-CO" sz="1200" b="1"/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4EE6D397-C1B7-38BC-70CB-59AC01267136}"/>
              </a:ext>
            </a:extLst>
          </p:cNvPr>
          <p:cNvSpPr/>
          <p:nvPr/>
        </p:nvSpPr>
        <p:spPr>
          <a:xfrm>
            <a:off x="7556135" y="1257547"/>
            <a:ext cx="1155803" cy="341101"/>
          </a:xfrm>
          <a:prstGeom prst="roundRect">
            <a:avLst/>
          </a:prstGeom>
          <a:solidFill>
            <a:srgbClr val="0DC5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/>
              <a:t>Valor</a:t>
            </a:r>
            <a:endParaRPr lang="es-CO" sz="1200" b="1"/>
          </a:p>
        </p:txBody>
      </p:sp>
      <p:pic>
        <p:nvPicPr>
          <p:cNvPr id="15" name="Picture 2">
            <a:extLst>
              <a:ext uri="{FF2B5EF4-FFF2-40B4-BE49-F238E27FC236}">
                <a16:creationId xmlns:a16="http://schemas.microsoft.com/office/drawing/2014/main" id="{FBCDCF3D-45F4-CE4D-7172-6714684D60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805940" y="3703648"/>
            <a:ext cx="594748" cy="606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6998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D6FB7-E27F-6683-FE60-2A9F5E298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Forma, Rectángulo&#10;&#10;El contenido generado por IA puede ser incorrecto.">
            <a:extLst>
              <a:ext uri="{FF2B5EF4-FFF2-40B4-BE49-F238E27FC236}">
                <a16:creationId xmlns:a16="http://schemas.microsoft.com/office/drawing/2014/main" id="{5717C53C-7155-A79C-CA3A-DBB8C96A79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9144000" cy="5148263"/>
          </a:xfrm>
          <a:prstGeom prst="rect">
            <a:avLst/>
          </a:prstGeom>
        </p:spPr>
      </p:pic>
      <p:sp>
        <p:nvSpPr>
          <p:cNvPr id="5" name="Elipse 4">
            <a:extLst>
              <a:ext uri="{FF2B5EF4-FFF2-40B4-BE49-F238E27FC236}">
                <a16:creationId xmlns:a16="http://schemas.microsoft.com/office/drawing/2014/main" id="{79F867E2-2F60-44B3-BFD6-793848FB4CBB}"/>
              </a:ext>
            </a:extLst>
          </p:cNvPr>
          <p:cNvSpPr>
            <a:spLocks noChangeAspect="1"/>
          </p:cNvSpPr>
          <p:nvPr/>
        </p:nvSpPr>
        <p:spPr>
          <a:xfrm>
            <a:off x="1127484" y="-892252"/>
            <a:ext cx="6910903" cy="6910903"/>
          </a:xfrm>
          <a:prstGeom prst="ellipse">
            <a:avLst/>
          </a:prstGeom>
          <a:solidFill>
            <a:srgbClr val="CDFF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35" name="Título 1">
            <a:extLst>
              <a:ext uri="{FF2B5EF4-FFF2-40B4-BE49-F238E27FC236}">
                <a16:creationId xmlns:a16="http://schemas.microsoft.com/office/drawing/2014/main" id="{8F23BE5C-BE5E-2D97-8D86-14311C0EBE8E}"/>
              </a:ext>
            </a:extLst>
          </p:cNvPr>
          <p:cNvSpPr txBox="1">
            <a:spLocks/>
          </p:cNvSpPr>
          <p:nvPr/>
        </p:nvSpPr>
        <p:spPr>
          <a:xfrm>
            <a:off x="2029427" y="3908715"/>
            <a:ext cx="5085146" cy="446507"/>
          </a:xfrm>
          <a:prstGeom prst="rect">
            <a:avLst/>
          </a:prstGeom>
        </p:spPr>
        <p:txBody>
          <a:bodyPr vert="horz" lIns="68521" tIns="34260" rIns="68521" bIns="3426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1199" i="1">
                <a:latin typeface="Calibri" panose="020F0502020204030204" pitchFamily="34" charset="0"/>
                <a:cs typeface="Calibri" panose="020F0502020204030204" pitchFamily="34" charset="0"/>
              </a:rPr>
              <a:t>Construyamos juntos </a:t>
            </a:r>
            <a:r>
              <a:rPr lang="es-CO" sz="1199" i="1">
                <a:solidFill>
                  <a:srgbClr val="145F1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 mejor solución para tu equipo</a:t>
            </a:r>
            <a:r>
              <a:rPr lang="es-CO" sz="1199" i="1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6" name="Marcador de contenido 6">
            <a:extLst>
              <a:ext uri="{FF2B5EF4-FFF2-40B4-BE49-F238E27FC236}">
                <a16:creationId xmlns:a16="http://schemas.microsoft.com/office/drawing/2014/main" id="{D7FF1AA9-8729-5E89-5AC1-FB189DA89608}"/>
              </a:ext>
            </a:extLst>
          </p:cNvPr>
          <p:cNvSpPr txBox="1">
            <a:spLocks/>
          </p:cNvSpPr>
          <p:nvPr/>
        </p:nvSpPr>
        <p:spPr>
          <a:xfrm>
            <a:off x="1596738" y="1475141"/>
            <a:ext cx="5950523" cy="38318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s-CO" sz="2200" b="1">
                <a:solidFill>
                  <a:srgbClr val="145F1C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¿Qué opinas de esta propuesta?</a:t>
            </a:r>
          </a:p>
        </p:txBody>
      </p:sp>
      <p:sp>
        <p:nvSpPr>
          <p:cNvPr id="11" name="Marcador de contenido 6">
            <a:extLst>
              <a:ext uri="{FF2B5EF4-FFF2-40B4-BE49-F238E27FC236}">
                <a16:creationId xmlns:a16="http://schemas.microsoft.com/office/drawing/2014/main" id="{A2B113FE-0B85-A011-23B5-F0FF6CB13F4D}"/>
              </a:ext>
            </a:extLst>
          </p:cNvPr>
          <p:cNvSpPr txBox="1">
            <a:spLocks/>
          </p:cNvSpPr>
          <p:nvPr/>
        </p:nvSpPr>
        <p:spPr>
          <a:xfrm>
            <a:off x="1596738" y="1851171"/>
            <a:ext cx="5950523" cy="3831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s-CO" sz="140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Danos tu </a:t>
            </a:r>
            <a:r>
              <a:rPr lang="es-CO" sz="1400" err="1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Feedback</a:t>
            </a:r>
            <a:r>
              <a:rPr lang="es-CO" sz="140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en solo </a:t>
            </a:r>
            <a:r>
              <a:rPr lang="es-CO" sz="1400" b="1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30 segundos</a:t>
            </a:r>
            <a:endParaRPr lang="es-CO" sz="1400">
              <a:solidFill>
                <a:srgbClr val="2C2C2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3171F0EE-BECA-CA40-3A9B-9842E999EC4D}"/>
              </a:ext>
            </a:extLst>
          </p:cNvPr>
          <p:cNvGrpSpPr>
            <a:grpSpLocks noChangeAspect="1"/>
          </p:cNvGrpSpPr>
          <p:nvPr/>
        </p:nvGrpSpPr>
        <p:grpSpPr>
          <a:xfrm>
            <a:off x="3029847" y="2602507"/>
            <a:ext cx="3172407" cy="751187"/>
            <a:chOff x="2803426" y="2661220"/>
            <a:chExt cx="3489648" cy="826306"/>
          </a:xfrm>
        </p:grpSpPr>
        <p:sp>
          <p:nvSpPr>
            <p:cNvPr id="13" name="Rectángulo redondeado 11">
              <a:hlinkClick r:id="rId4"/>
              <a:extLst>
                <a:ext uri="{FF2B5EF4-FFF2-40B4-BE49-F238E27FC236}">
                  <a16:creationId xmlns:a16="http://schemas.microsoft.com/office/drawing/2014/main" id="{A05813A6-60F6-6CB4-2C77-D2BF3FE4CE00}"/>
                </a:ext>
              </a:extLst>
            </p:cNvPr>
            <p:cNvSpPr/>
            <p:nvPr/>
          </p:nvSpPr>
          <p:spPr>
            <a:xfrm>
              <a:off x="2873671" y="2717840"/>
              <a:ext cx="3397275" cy="737118"/>
            </a:xfrm>
            <a:prstGeom prst="roundRect">
              <a:avLst>
                <a:gd name="adj" fmla="val 50000"/>
              </a:avLst>
            </a:prstGeom>
            <a:solidFill>
              <a:srgbClr val="6DFD8C"/>
            </a:solidFill>
            <a:ln>
              <a:noFill/>
            </a:ln>
            <a:effectLst>
              <a:outerShdw blurRad="226092" dist="38100" dir="2700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s-ES_tradnl" b="1">
                  <a:solidFill>
                    <a:srgbClr val="145F1C"/>
                  </a:solidFill>
                  <a:highlight>
                    <a:srgbClr val="FFFF00"/>
                  </a:highlight>
                  <a:latin typeface="Arial Black"/>
                  <a:cs typeface="Arial Black" panose="020B0604020202020204" pitchFamily="34" charset="0"/>
                </a:rPr>
                <a:t>ABRIR ENCUESTA</a:t>
              </a:r>
            </a:p>
          </p:txBody>
        </p:sp>
        <p:sp>
          <p:nvSpPr>
            <p:cNvPr id="14" name="Rectángulo redondeado 14">
              <a:hlinkClick r:id="rId5"/>
              <a:extLst>
                <a:ext uri="{FF2B5EF4-FFF2-40B4-BE49-F238E27FC236}">
                  <a16:creationId xmlns:a16="http://schemas.microsoft.com/office/drawing/2014/main" id="{13E4DD24-EFE3-EC35-923B-491F186F7852}"/>
                </a:ext>
              </a:extLst>
            </p:cNvPr>
            <p:cNvSpPr/>
            <p:nvPr/>
          </p:nvSpPr>
          <p:spPr>
            <a:xfrm>
              <a:off x="2803426" y="2661220"/>
              <a:ext cx="3489648" cy="826306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rgbClr val="145F1C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2000" b="1">
                <a:solidFill>
                  <a:srgbClr val="145F1C"/>
                </a:solidFill>
                <a:latin typeface="Arial Black" panose="020B0604020202020204" pitchFamily="34" charset="0"/>
                <a:cs typeface="Arial Black" panose="020B0604020202020204" pitchFamily="34" charset="0"/>
              </a:endParaRPr>
            </a:p>
          </p:txBody>
        </p:sp>
      </p:grpSp>
      <p:pic>
        <p:nvPicPr>
          <p:cNvPr id="2" name="Picture 2">
            <a:extLst>
              <a:ext uri="{FF2B5EF4-FFF2-40B4-BE49-F238E27FC236}">
                <a16:creationId xmlns:a16="http://schemas.microsoft.com/office/drawing/2014/main" id="{F5CA952E-A846-C9EB-EFE4-BB4A4DD1CC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834" y="124273"/>
            <a:ext cx="1980332" cy="668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08588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C493F-D7CC-2010-D076-71901A27B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6CB02D71-CF67-A80C-329A-1634BA5E0D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007" y="-11685"/>
            <a:ext cx="9194014" cy="5171633"/>
          </a:xfrm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E70A45C5-54AB-9C8D-555D-47D35A535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3109" y="178387"/>
            <a:ext cx="4757574" cy="469314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s-CO" sz="23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Forma de Pago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51D1A70-7BCF-1E1E-2675-919E2967D00F}"/>
              </a:ext>
            </a:extLst>
          </p:cNvPr>
          <p:cNvSpPr txBox="1"/>
          <p:nvPr/>
        </p:nvSpPr>
        <p:spPr>
          <a:xfrm>
            <a:off x="349556" y="1538724"/>
            <a:ext cx="2769538" cy="10156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sz="1200">
                <a:solidFill>
                  <a:srgbClr val="212121"/>
                </a:solidFill>
                <a:highlight>
                  <a:srgbClr val="FFFF00"/>
                </a:highlight>
                <a:cs typeface="Arial"/>
              </a:rPr>
              <a:t>El pago se realizará conforme al siguiente plan de porcentajes, teniendo en cuenta que </a:t>
            </a:r>
            <a:r>
              <a:rPr lang="es-MX" sz="1200">
                <a:solidFill>
                  <a:schemeClr val="accent1"/>
                </a:solidFill>
                <a:highlight>
                  <a:srgbClr val="FFFF00"/>
                </a:highlight>
                <a:cs typeface="Arial"/>
              </a:rPr>
              <a:t>XXXXXXXX </a:t>
            </a:r>
            <a:r>
              <a:rPr lang="es-MX" sz="1200">
                <a:solidFill>
                  <a:srgbClr val="212121"/>
                </a:solidFill>
                <a:highlight>
                  <a:srgbClr val="FFFF00"/>
                </a:highlight>
                <a:cs typeface="Arial"/>
              </a:rPr>
              <a:t>pagará a los XX días calendario una vez radicada la factura, como fecha máxima. </a:t>
            </a: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0360F921-EE56-A2F8-E00B-4F9E8AB828B4}"/>
              </a:ext>
            </a:extLst>
          </p:cNvPr>
          <p:cNvGrpSpPr/>
          <p:nvPr/>
        </p:nvGrpSpPr>
        <p:grpSpPr>
          <a:xfrm>
            <a:off x="1213140" y="3771894"/>
            <a:ext cx="6717721" cy="779087"/>
            <a:chOff x="304799" y="3811171"/>
            <a:chExt cx="6717721" cy="779087"/>
          </a:xfrm>
        </p:grpSpPr>
        <p:sp>
          <p:nvSpPr>
            <p:cNvPr id="10" name="Redondear rectángulo de esquina diagonal 14">
              <a:extLst>
                <a:ext uri="{FF2B5EF4-FFF2-40B4-BE49-F238E27FC236}">
                  <a16:creationId xmlns:a16="http://schemas.microsoft.com/office/drawing/2014/main" id="{D2009179-364D-5075-BBBF-401C4314F4E5}"/>
                </a:ext>
              </a:extLst>
            </p:cNvPr>
            <p:cNvSpPr/>
            <p:nvPr/>
          </p:nvSpPr>
          <p:spPr>
            <a:xfrm>
              <a:off x="304799" y="3811171"/>
              <a:ext cx="6717721" cy="779087"/>
            </a:xfrm>
            <a:prstGeom prst="round2DiagRect">
              <a:avLst>
                <a:gd name="adj1" fmla="val 13848"/>
                <a:gd name="adj2" fmla="val 25414"/>
              </a:avLst>
            </a:prstGeom>
            <a:gradFill>
              <a:gsLst>
                <a:gs pos="0">
                  <a:schemeClr val="bg1"/>
                </a:gs>
                <a:gs pos="100000">
                  <a:srgbClr val="E4EFD9"/>
                </a:gs>
              </a:gsLst>
              <a:lin ang="0" scaled="0"/>
            </a:gradFill>
            <a:ln>
              <a:noFill/>
            </a:ln>
            <a:effectLst>
              <a:outerShdw blurRad="190500" dist="38100" dir="8100000" algn="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576000" tIns="0" rIns="144000" bIns="0" rtlCol="0" anchor="ctr"/>
            <a:lstStyle/>
            <a:p>
              <a:r>
                <a:rPr lang="es-ES" sz="1050" i="1">
                  <a:solidFill>
                    <a:srgbClr val="333333"/>
                  </a:solidFill>
                  <a:highlight>
                    <a:srgbClr val="FFFF00"/>
                  </a:highlight>
                  <a:latin typeface="Calibri"/>
                  <a:ea typeface="Calibri"/>
                  <a:cs typeface="Calibri"/>
                </a:rPr>
                <a:t>Xxxxxxxxxxxxxxxxxxxxxxxxxxxxxxxxxxxxxxxxxxxxxxxxxxxxxxxxxxxxxxxxxxxxxxxxxxxxxxxxxxxxxxxxxxxxxxxxxxxxxxxxxxxxxxxxxxxxx</a:t>
              </a:r>
            </a:p>
          </p:txBody>
        </p:sp>
        <p:pic>
          <p:nvPicPr>
            <p:cNvPr id="11" name="Imagen 10">
              <a:extLst>
                <a:ext uri="{FF2B5EF4-FFF2-40B4-BE49-F238E27FC236}">
                  <a16:creationId xmlns:a16="http://schemas.microsoft.com/office/drawing/2014/main" id="{82ABFFD9-18D2-CA20-E9D9-34D7FAFDC20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9167" y="4038995"/>
              <a:ext cx="323437" cy="323437"/>
            </a:xfrm>
            <a:prstGeom prst="rect">
              <a:avLst/>
            </a:prstGeom>
          </p:spPr>
        </p:pic>
      </p:grpSp>
      <p:grpSp>
        <p:nvGrpSpPr>
          <p:cNvPr id="12" name="Grupo 11">
            <a:extLst>
              <a:ext uri="{FF2B5EF4-FFF2-40B4-BE49-F238E27FC236}">
                <a16:creationId xmlns:a16="http://schemas.microsoft.com/office/drawing/2014/main" id="{69321204-E7B6-A25C-8EF9-A108FF9BB711}"/>
              </a:ext>
            </a:extLst>
          </p:cNvPr>
          <p:cNvGrpSpPr/>
          <p:nvPr/>
        </p:nvGrpSpPr>
        <p:grpSpPr>
          <a:xfrm>
            <a:off x="3903676" y="852836"/>
            <a:ext cx="1073513" cy="830997"/>
            <a:chOff x="3939239" y="3277262"/>
            <a:chExt cx="1073513" cy="830997"/>
          </a:xfrm>
        </p:grpSpPr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4BCAF6D6-B37E-8B77-7C6F-3F8940B0313A}"/>
                </a:ext>
              </a:extLst>
            </p:cNvPr>
            <p:cNvSpPr txBox="1"/>
            <p:nvPr/>
          </p:nvSpPr>
          <p:spPr>
            <a:xfrm>
              <a:off x="3939239" y="3277262"/>
              <a:ext cx="94674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4800" b="1">
                  <a:solidFill>
                    <a:srgbClr val="0DC56D"/>
                  </a:solidFill>
                </a:rPr>
                <a:t>30</a:t>
              </a:r>
              <a:endParaRPr lang="es-CO" sz="4800" b="1">
                <a:solidFill>
                  <a:srgbClr val="0DC56D"/>
                </a:solidFill>
              </a:endParaRPr>
            </a:p>
          </p:txBody>
        </p:sp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AD6452D6-6307-04B0-0BE9-7AFA685D1F72}"/>
                </a:ext>
              </a:extLst>
            </p:cNvPr>
            <p:cNvSpPr txBox="1"/>
            <p:nvPr/>
          </p:nvSpPr>
          <p:spPr>
            <a:xfrm>
              <a:off x="4586937" y="3508095"/>
              <a:ext cx="4258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b="1">
                  <a:solidFill>
                    <a:srgbClr val="0DC56D"/>
                  </a:solidFill>
                </a:rPr>
                <a:t>%</a:t>
              </a:r>
              <a:endParaRPr lang="es-CO" b="1">
                <a:solidFill>
                  <a:srgbClr val="0DC56D"/>
                </a:solidFill>
              </a:endParaRPr>
            </a:p>
          </p:txBody>
        </p:sp>
      </p:grpSp>
      <p:sp>
        <p:nvSpPr>
          <p:cNvPr id="15" name="CuadroTexto 14">
            <a:extLst>
              <a:ext uri="{FF2B5EF4-FFF2-40B4-BE49-F238E27FC236}">
                <a16:creationId xmlns:a16="http://schemas.microsoft.com/office/drawing/2014/main" id="{5E2FED24-1B6F-2BDD-F43C-56F4C4A4552A}"/>
              </a:ext>
            </a:extLst>
          </p:cNvPr>
          <p:cNvSpPr txBox="1"/>
          <p:nvPr/>
        </p:nvSpPr>
        <p:spPr>
          <a:xfrm>
            <a:off x="3392624" y="2938013"/>
            <a:ext cx="1967757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 rtl="0">
              <a:defRPr sz="1200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s-ES" sz="1200" b="1" i="0" u="none" strike="noStrike" baseline="0">
                <a:solidFill>
                  <a:srgbClr val="333333"/>
                </a:solidFill>
                <a:highlight>
                  <a:srgbClr val="FFFF00"/>
                </a:highlight>
                <a:latin typeface="Arial"/>
                <a:cs typeface="Arial"/>
              </a:rPr>
              <a:t>Con la firma del acta</a:t>
            </a:r>
          </a:p>
          <a:p>
            <a:pPr algn="ctr" rtl="0">
              <a:defRPr sz="1200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s-ES" sz="1200" b="1" i="0" u="none" strike="noStrike" baseline="0">
                <a:solidFill>
                  <a:srgbClr val="333333"/>
                </a:solidFill>
                <a:highlight>
                  <a:srgbClr val="FFFF00"/>
                </a:highlight>
                <a:latin typeface="Arial"/>
                <a:cs typeface="Arial"/>
              </a:rPr>
              <a:t>de inicio de proyecto.</a:t>
            </a:r>
            <a:endParaRPr lang="en-US" sz="1200" b="1">
              <a:solidFill>
                <a:srgbClr val="333333"/>
              </a:solidFill>
              <a:highlight>
                <a:srgbClr val="FFFF00"/>
              </a:highlight>
              <a:latin typeface="Arial"/>
              <a:cs typeface="Arial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7467DC1F-8318-32B5-9A25-36C79C184D7D}"/>
              </a:ext>
            </a:extLst>
          </p:cNvPr>
          <p:cNvSpPr txBox="1"/>
          <p:nvPr/>
        </p:nvSpPr>
        <p:spPr>
          <a:xfrm>
            <a:off x="5261117" y="2937014"/>
            <a:ext cx="1715657" cy="83099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 rtl="0">
              <a:defRPr sz="1200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s-ES" sz="1200" b="1" i="0" u="none" strike="noStrike" baseline="0" dirty="0">
                <a:solidFill>
                  <a:srgbClr val="333333"/>
                </a:solidFill>
                <a:highlight>
                  <a:srgbClr val="FFFF00"/>
                </a:highlight>
                <a:latin typeface="Arial"/>
                <a:cs typeface="Arial"/>
              </a:rPr>
              <a:t>Entrega de los desarrollos y pruebas de los </a:t>
            </a:r>
            <a:r>
              <a:rPr lang="es-ES" sz="1200" b="1" i="0" u="none" strike="noStrike" baseline="0" dirty="0" err="1">
                <a:solidFill>
                  <a:srgbClr val="333333"/>
                </a:solidFill>
                <a:highlight>
                  <a:srgbClr val="FFFF00"/>
                </a:highlight>
                <a:latin typeface="Arial"/>
                <a:cs typeface="Arial"/>
              </a:rPr>
              <a:t>Sprints</a:t>
            </a:r>
            <a:r>
              <a:rPr lang="es-ES" sz="1200" b="1" i="0" u="none" strike="noStrike" baseline="0" dirty="0">
                <a:solidFill>
                  <a:srgbClr val="333333"/>
                </a:solidFill>
                <a:highlight>
                  <a:srgbClr val="FFFF00"/>
                </a:highlight>
                <a:latin typeface="Arial"/>
                <a:cs typeface="Arial"/>
              </a:rPr>
              <a:t> definid</a:t>
            </a:r>
            <a:r>
              <a:rPr lang="es-ES" sz="1200" b="1" dirty="0">
                <a:solidFill>
                  <a:srgbClr val="333333"/>
                </a:solidFill>
                <a:highlight>
                  <a:srgbClr val="FFFF00"/>
                </a:highlight>
                <a:latin typeface="Arial"/>
                <a:cs typeface="Arial"/>
              </a:rPr>
              <a:t>o</a:t>
            </a:r>
            <a:r>
              <a:rPr lang="es-ES" sz="1200" b="1" i="0" u="none" strike="noStrike" baseline="0" dirty="0">
                <a:solidFill>
                  <a:srgbClr val="333333"/>
                </a:solidFill>
                <a:highlight>
                  <a:srgbClr val="FFFF00"/>
                </a:highlight>
                <a:latin typeface="Arial"/>
                <a:cs typeface="Arial"/>
              </a:rPr>
              <a:t>s</a:t>
            </a:r>
            <a:r>
              <a:rPr lang="es-ES" sz="1200" b="1" i="0" u="none" strike="noStrike" baseline="0" dirty="0">
                <a:solidFill>
                  <a:srgbClr val="333333"/>
                </a:solidFill>
                <a:latin typeface="Arial"/>
                <a:cs typeface="Arial"/>
              </a:rPr>
              <a:t>.</a:t>
            </a:r>
            <a:endParaRPr lang="en-US" sz="1200" b="1" dirty="0">
              <a:solidFill>
                <a:srgbClr val="333333"/>
              </a:solidFill>
              <a:latin typeface="Arial"/>
              <a:cs typeface="Arial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3D293F46-064E-AB96-6A9A-3598AD9026BB}"/>
              </a:ext>
            </a:extLst>
          </p:cNvPr>
          <p:cNvSpPr txBox="1"/>
          <p:nvPr/>
        </p:nvSpPr>
        <p:spPr>
          <a:xfrm>
            <a:off x="6978474" y="2975248"/>
            <a:ext cx="1586375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 sz="1200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s-CO" sz="1200" b="1" i="0" u="none" strike="noStrike" baseline="0">
                <a:solidFill>
                  <a:srgbClr val="333333"/>
                </a:solidFill>
                <a:latin typeface="Arial"/>
                <a:cs typeface="Arial"/>
              </a:rPr>
              <a:t>P</a:t>
            </a:r>
            <a:r>
              <a:rPr lang="es-CO" sz="1200" b="1" i="0" u="none" strike="noStrike" baseline="0">
                <a:solidFill>
                  <a:srgbClr val="333333"/>
                </a:solidFill>
                <a:highlight>
                  <a:srgbClr val="FFFF00"/>
                </a:highlight>
                <a:latin typeface="Arial"/>
                <a:cs typeface="Arial"/>
              </a:rPr>
              <a:t>aso a </a:t>
            </a:r>
            <a:r>
              <a:rPr lang="es-CO" sz="1200" b="1">
                <a:solidFill>
                  <a:srgbClr val="333333"/>
                </a:solidFill>
                <a:highlight>
                  <a:srgbClr val="FFFF00"/>
                </a:highlight>
                <a:latin typeface="Arial"/>
                <a:cs typeface="Arial"/>
              </a:rPr>
              <a:t>QA y/o Producción</a:t>
            </a:r>
            <a:r>
              <a:rPr lang="es-CO" sz="1200" b="1" i="0" u="none" strike="noStrike" baseline="0">
                <a:solidFill>
                  <a:srgbClr val="333333"/>
                </a:solidFill>
                <a:highlight>
                  <a:srgbClr val="FFFF00"/>
                </a:highlight>
                <a:latin typeface="Arial"/>
                <a:cs typeface="Arial"/>
              </a:rPr>
              <a:t>.</a:t>
            </a:r>
            <a:endParaRPr lang="en-US" sz="1200" b="1">
              <a:solidFill>
                <a:srgbClr val="333333"/>
              </a:solidFill>
              <a:highlight>
                <a:srgbClr val="FFFF00"/>
              </a:highlight>
              <a:latin typeface="Arial"/>
              <a:cs typeface="Arial"/>
            </a:endParaRPr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88477529-E52F-2992-D429-C9AFDE196B2B}"/>
              </a:ext>
            </a:extLst>
          </p:cNvPr>
          <p:cNvGrpSpPr/>
          <p:nvPr/>
        </p:nvGrpSpPr>
        <p:grpSpPr>
          <a:xfrm>
            <a:off x="5610526" y="852836"/>
            <a:ext cx="1073513" cy="830997"/>
            <a:chOff x="3939239" y="3277262"/>
            <a:chExt cx="1073513" cy="830997"/>
          </a:xfrm>
        </p:grpSpPr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042B3034-D2C3-BB35-E488-2C76663420ED}"/>
                </a:ext>
              </a:extLst>
            </p:cNvPr>
            <p:cNvSpPr txBox="1"/>
            <p:nvPr/>
          </p:nvSpPr>
          <p:spPr>
            <a:xfrm>
              <a:off x="3939239" y="3277262"/>
              <a:ext cx="94674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4800" b="1">
                  <a:solidFill>
                    <a:srgbClr val="0DC56D"/>
                  </a:solidFill>
                </a:rPr>
                <a:t>50</a:t>
              </a:r>
              <a:endParaRPr lang="es-CO" sz="4800" b="1">
                <a:solidFill>
                  <a:srgbClr val="0DC56D"/>
                </a:solidFill>
              </a:endParaRPr>
            </a:p>
          </p:txBody>
        </p:sp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93B7E8EC-A76C-894C-C22A-0276B506A5FC}"/>
                </a:ext>
              </a:extLst>
            </p:cNvPr>
            <p:cNvSpPr txBox="1"/>
            <p:nvPr/>
          </p:nvSpPr>
          <p:spPr>
            <a:xfrm>
              <a:off x="4586937" y="3508095"/>
              <a:ext cx="4258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b="1">
                  <a:solidFill>
                    <a:srgbClr val="0DC56D"/>
                  </a:solidFill>
                </a:rPr>
                <a:t>%</a:t>
              </a:r>
              <a:endParaRPr lang="es-CO" b="1">
                <a:solidFill>
                  <a:srgbClr val="0DC56D"/>
                </a:solidFill>
              </a:endParaRPr>
            </a:p>
          </p:txBody>
        </p:sp>
      </p:grpSp>
      <p:grpSp>
        <p:nvGrpSpPr>
          <p:cNvPr id="21" name="Grupo 20">
            <a:extLst>
              <a:ext uri="{FF2B5EF4-FFF2-40B4-BE49-F238E27FC236}">
                <a16:creationId xmlns:a16="http://schemas.microsoft.com/office/drawing/2014/main" id="{23D32D12-A8A1-8FBE-41A1-C4D4E7463DD1}"/>
              </a:ext>
            </a:extLst>
          </p:cNvPr>
          <p:cNvGrpSpPr/>
          <p:nvPr/>
        </p:nvGrpSpPr>
        <p:grpSpPr>
          <a:xfrm>
            <a:off x="7317132" y="852836"/>
            <a:ext cx="1073513" cy="830997"/>
            <a:chOff x="3939239" y="3277262"/>
            <a:chExt cx="1073513" cy="830997"/>
          </a:xfrm>
        </p:grpSpPr>
        <p:sp>
          <p:nvSpPr>
            <p:cNvPr id="22" name="CuadroTexto 21">
              <a:extLst>
                <a:ext uri="{FF2B5EF4-FFF2-40B4-BE49-F238E27FC236}">
                  <a16:creationId xmlns:a16="http://schemas.microsoft.com/office/drawing/2014/main" id="{3C720CEC-350E-D3A2-122C-7980C101E6C6}"/>
                </a:ext>
              </a:extLst>
            </p:cNvPr>
            <p:cNvSpPr txBox="1"/>
            <p:nvPr/>
          </p:nvSpPr>
          <p:spPr>
            <a:xfrm>
              <a:off x="3939239" y="3277262"/>
              <a:ext cx="94674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4800" b="1">
                  <a:solidFill>
                    <a:srgbClr val="0DC56D"/>
                  </a:solidFill>
                </a:rPr>
                <a:t>20</a:t>
              </a:r>
              <a:endParaRPr lang="es-CO" sz="4800" b="1">
                <a:solidFill>
                  <a:srgbClr val="0DC56D"/>
                </a:solidFill>
              </a:endParaRPr>
            </a:p>
          </p:txBody>
        </p: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2F9110B5-0EFD-A6CB-DBC1-83C6845270E7}"/>
                </a:ext>
              </a:extLst>
            </p:cNvPr>
            <p:cNvSpPr txBox="1"/>
            <p:nvPr/>
          </p:nvSpPr>
          <p:spPr>
            <a:xfrm>
              <a:off x="4586937" y="3508095"/>
              <a:ext cx="4258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b="1">
                  <a:solidFill>
                    <a:srgbClr val="0DC56D"/>
                  </a:solidFill>
                </a:rPr>
                <a:t>%</a:t>
              </a:r>
              <a:endParaRPr lang="es-CO" b="1">
                <a:solidFill>
                  <a:srgbClr val="0DC56D"/>
                </a:solidFill>
              </a:endParaRPr>
            </a:p>
          </p:txBody>
        </p:sp>
      </p:grpSp>
      <p:pic>
        <p:nvPicPr>
          <p:cNvPr id="24" name="Imagen 23">
            <a:extLst>
              <a:ext uri="{FF2B5EF4-FFF2-40B4-BE49-F238E27FC236}">
                <a16:creationId xmlns:a16="http://schemas.microsoft.com/office/drawing/2014/main" id="{6F03DB48-774A-A74F-1DBA-C041AAAA2A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6353" y="2297242"/>
            <a:ext cx="790616" cy="466749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0540BE95-7D8A-2BD3-DA91-118AE4A7E6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3637" y="1861012"/>
            <a:ext cx="790616" cy="908097"/>
          </a:xfrm>
          <a:prstGeom prst="rect">
            <a:avLst/>
          </a:prstGeom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9DB02220-CA51-73C7-EB2B-5600B0E6DA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81194" y="2151185"/>
            <a:ext cx="790616" cy="612806"/>
          </a:xfrm>
          <a:prstGeom prst="rect">
            <a:avLst/>
          </a:prstGeom>
        </p:spPr>
      </p:pic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0078217C-9BDE-7447-A28B-32617CD1E73B}"/>
              </a:ext>
            </a:extLst>
          </p:cNvPr>
          <p:cNvCxnSpPr>
            <a:cxnSpLocks/>
            <a:endCxn id="26" idx="0"/>
          </p:cNvCxnSpPr>
          <p:nvPr/>
        </p:nvCxnSpPr>
        <p:spPr>
          <a:xfrm flipH="1">
            <a:off x="4376502" y="1678148"/>
            <a:ext cx="546" cy="473037"/>
          </a:xfrm>
          <a:prstGeom prst="line">
            <a:avLst/>
          </a:prstGeom>
          <a:ln w="9525">
            <a:solidFill>
              <a:srgbClr val="1D1B80"/>
            </a:solidFill>
            <a:prstDash val="sys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B6EBB11B-753E-9DDA-46C3-7ED0CC155CCF}"/>
              </a:ext>
            </a:extLst>
          </p:cNvPr>
          <p:cNvCxnSpPr>
            <a:cxnSpLocks/>
          </p:cNvCxnSpPr>
          <p:nvPr/>
        </p:nvCxnSpPr>
        <p:spPr>
          <a:xfrm>
            <a:off x="6118945" y="1678148"/>
            <a:ext cx="0" cy="182864"/>
          </a:xfrm>
          <a:prstGeom prst="line">
            <a:avLst/>
          </a:prstGeom>
          <a:ln w="9525">
            <a:solidFill>
              <a:srgbClr val="1D1B80"/>
            </a:solidFill>
            <a:prstDash val="sys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E1C8BFDB-5A70-FDC6-4321-9539E0A1F787}"/>
              </a:ext>
            </a:extLst>
          </p:cNvPr>
          <p:cNvCxnSpPr>
            <a:cxnSpLocks/>
            <a:stCxn id="24" idx="0"/>
          </p:cNvCxnSpPr>
          <p:nvPr/>
        </p:nvCxnSpPr>
        <p:spPr>
          <a:xfrm flipV="1">
            <a:off x="7771661" y="1678148"/>
            <a:ext cx="0" cy="619094"/>
          </a:xfrm>
          <a:prstGeom prst="line">
            <a:avLst/>
          </a:prstGeom>
          <a:ln w="9525">
            <a:solidFill>
              <a:srgbClr val="1D1B80"/>
            </a:solidFill>
            <a:prstDash val="sys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2">
            <a:extLst>
              <a:ext uri="{FF2B5EF4-FFF2-40B4-BE49-F238E27FC236}">
                <a16:creationId xmlns:a16="http://schemas.microsoft.com/office/drawing/2014/main" id="{C91BB913-C975-C55B-6C09-EBD1012A24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2325" y="4756683"/>
            <a:ext cx="758098" cy="256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08583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09843B-87F8-D01C-C615-3C30522DA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39E0503-FAC8-2FCA-27F7-766C63F483B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2719635" y="-8869"/>
            <a:ext cx="7550307" cy="5166000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80DBD774-2D30-07A6-B43F-1095E35D03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3855" y="0"/>
            <a:ext cx="5824106" cy="5148263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1204B1D-B164-DAE4-87E2-5AB5FEA2B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975" y="269777"/>
            <a:ext cx="5343525" cy="1430007"/>
          </a:xfrm>
        </p:spPr>
        <p:txBody>
          <a:bodyPr>
            <a:normAutofit/>
          </a:bodyPr>
          <a:lstStyle/>
          <a:p>
            <a:pPr>
              <a:lnSpc>
                <a:spcPts val="2800"/>
              </a:lnSpc>
            </a:pPr>
            <a:r>
              <a:rPr lang="es-CO" sz="26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Condiciones Comerciales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EDFD036-784C-C29C-BED5-F5BF760533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87189" y="0"/>
            <a:ext cx="771769" cy="762000"/>
          </a:xfrm>
          <a:prstGeom prst="rect">
            <a:avLst/>
          </a:prstGeom>
        </p:spPr>
      </p:pic>
      <p:grpSp>
        <p:nvGrpSpPr>
          <p:cNvPr id="3" name="Grupo 2">
            <a:extLst>
              <a:ext uri="{FF2B5EF4-FFF2-40B4-BE49-F238E27FC236}">
                <a16:creationId xmlns:a16="http://schemas.microsoft.com/office/drawing/2014/main" id="{4795CCAB-748D-781F-1584-718593208217}"/>
              </a:ext>
            </a:extLst>
          </p:cNvPr>
          <p:cNvGrpSpPr/>
          <p:nvPr/>
        </p:nvGrpSpPr>
        <p:grpSpPr>
          <a:xfrm>
            <a:off x="360229" y="1596199"/>
            <a:ext cx="4145096" cy="730841"/>
            <a:chOff x="774555" y="1621088"/>
            <a:chExt cx="4145096" cy="730841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851D6888-4D91-8069-AFFE-00742A6C4C40}"/>
                </a:ext>
              </a:extLst>
            </p:cNvPr>
            <p:cNvSpPr/>
            <p:nvPr/>
          </p:nvSpPr>
          <p:spPr>
            <a:xfrm>
              <a:off x="851229" y="1621088"/>
              <a:ext cx="4068422" cy="73084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r>
                <a:rPr kumimoji="0" lang="es-MX" sz="1200" b="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highlight>
                    <a:srgbClr val="FFFF00"/>
                  </a:highlight>
                  <a:uLnTx/>
                  <a:uFillTx/>
                  <a:latin typeface="Arial"/>
                  <a:cs typeface="Arial"/>
                </a:rPr>
                <a:t>Xxxxxxxxxxxxxxxxxxxxxxxxxxxxxxxxxxxxxxxxxxxxxxxxxxxxxxxxxxxxxxxxxxxxxxxxxxxxxxxxxxxxxxxxxxxxxxxxxxxxxxxxxxxxxxxx</a:t>
              </a:r>
            </a:p>
          </p:txBody>
        </p:sp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9539B928-231F-904E-158B-40E5BF49E088}"/>
                </a:ext>
              </a:extLst>
            </p:cNvPr>
            <p:cNvSpPr/>
            <p:nvPr/>
          </p:nvSpPr>
          <p:spPr>
            <a:xfrm>
              <a:off x="774555" y="1621089"/>
              <a:ext cx="71740" cy="664985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200">
                <a:latin typeface="Arial"/>
                <a:cs typeface="Arial"/>
              </a:endParaRPr>
            </a:p>
          </p:txBody>
        </p:sp>
      </p:grpSp>
      <p:grpSp>
        <p:nvGrpSpPr>
          <p:cNvPr id="10" name="Grupo 9">
            <a:extLst>
              <a:ext uri="{FF2B5EF4-FFF2-40B4-BE49-F238E27FC236}">
                <a16:creationId xmlns:a16="http://schemas.microsoft.com/office/drawing/2014/main" id="{C2F8A4D6-51FA-AAC3-08FA-763F9D0F44D2}"/>
              </a:ext>
            </a:extLst>
          </p:cNvPr>
          <p:cNvGrpSpPr/>
          <p:nvPr/>
        </p:nvGrpSpPr>
        <p:grpSpPr>
          <a:xfrm>
            <a:off x="360229" y="2327040"/>
            <a:ext cx="4145096" cy="730841"/>
            <a:chOff x="774555" y="1621088"/>
            <a:chExt cx="4145096" cy="730841"/>
          </a:xfrm>
        </p:grpSpPr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9DFA88D4-F4B5-ECCA-98E6-2DE415F49E42}"/>
                </a:ext>
              </a:extLst>
            </p:cNvPr>
            <p:cNvSpPr/>
            <p:nvPr/>
          </p:nvSpPr>
          <p:spPr>
            <a:xfrm>
              <a:off x="851229" y="1621088"/>
              <a:ext cx="4068422" cy="73084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r>
                <a:rPr kumimoji="0" lang="es-MX" sz="1200" b="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highlight>
                    <a:srgbClr val="FFFF00"/>
                  </a:highlight>
                  <a:uLnTx/>
                  <a:uFillTx/>
                  <a:latin typeface="Arial"/>
                  <a:cs typeface="Arial"/>
                </a:rPr>
                <a:t>Xxxxxxxxxxxxxxxxxxxxxxxxxxxxxxxxxxxxxxxxxxxxxxxxxxxxxxxxxxxxxxxxxxxxxxxxxxxxxxxxxxxxxxxxxxxxxxxxxxxxxxxxxxxxxxxx</a:t>
              </a:r>
            </a:p>
          </p:txBody>
        </p:sp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3D0AFA5C-4051-1FC5-7121-93DC9C017633}"/>
                </a:ext>
              </a:extLst>
            </p:cNvPr>
            <p:cNvSpPr/>
            <p:nvPr/>
          </p:nvSpPr>
          <p:spPr>
            <a:xfrm>
              <a:off x="774555" y="1621089"/>
              <a:ext cx="71740" cy="664985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200">
                <a:latin typeface="Arial"/>
                <a:cs typeface="Arial"/>
              </a:endParaRPr>
            </a:p>
          </p:txBody>
        </p:sp>
      </p:grpSp>
      <p:grpSp>
        <p:nvGrpSpPr>
          <p:cNvPr id="13" name="Grupo 12">
            <a:extLst>
              <a:ext uri="{FF2B5EF4-FFF2-40B4-BE49-F238E27FC236}">
                <a16:creationId xmlns:a16="http://schemas.microsoft.com/office/drawing/2014/main" id="{CBAD9382-FAD1-2B6C-99D0-88A573A9B647}"/>
              </a:ext>
            </a:extLst>
          </p:cNvPr>
          <p:cNvGrpSpPr/>
          <p:nvPr/>
        </p:nvGrpSpPr>
        <p:grpSpPr>
          <a:xfrm>
            <a:off x="360229" y="3057881"/>
            <a:ext cx="4145096" cy="730841"/>
            <a:chOff x="774555" y="1621088"/>
            <a:chExt cx="4145096" cy="730841"/>
          </a:xfrm>
        </p:grpSpPr>
        <p:sp>
          <p:nvSpPr>
            <p:cNvPr id="14" name="Rectángulo 13">
              <a:extLst>
                <a:ext uri="{FF2B5EF4-FFF2-40B4-BE49-F238E27FC236}">
                  <a16:creationId xmlns:a16="http://schemas.microsoft.com/office/drawing/2014/main" id="{6DAD97F4-019A-EE36-9647-9251526B194D}"/>
                </a:ext>
              </a:extLst>
            </p:cNvPr>
            <p:cNvSpPr/>
            <p:nvPr/>
          </p:nvSpPr>
          <p:spPr>
            <a:xfrm>
              <a:off x="851229" y="1621088"/>
              <a:ext cx="4068422" cy="73084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r>
                <a:rPr kumimoji="0" lang="es-MX" sz="1200" b="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highlight>
                    <a:srgbClr val="FFFF00"/>
                  </a:highlight>
                  <a:uLnTx/>
                  <a:uFillTx/>
                  <a:latin typeface="Arial"/>
                  <a:cs typeface="Arial"/>
                </a:rPr>
                <a:t>Xxxxxxxxxxxxxxxxxxxxxxxxxxxxxxxxxxxxxxxxxxxxxxxxxxxxxxxxxxxxxxxxxxxxxxxxxxxxxxxxxxxxxxxxxxxxxxxxxxxxxxxxxxxxxxxx</a:t>
              </a:r>
            </a:p>
          </p:txBody>
        </p:sp>
        <p:sp>
          <p:nvSpPr>
            <p:cNvPr id="15" name="Rectángulo 14">
              <a:extLst>
                <a:ext uri="{FF2B5EF4-FFF2-40B4-BE49-F238E27FC236}">
                  <a16:creationId xmlns:a16="http://schemas.microsoft.com/office/drawing/2014/main" id="{877687DF-74B5-F80C-3717-6FCFDEF9D44B}"/>
                </a:ext>
              </a:extLst>
            </p:cNvPr>
            <p:cNvSpPr/>
            <p:nvPr/>
          </p:nvSpPr>
          <p:spPr>
            <a:xfrm>
              <a:off x="774555" y="1621089"/>
              <a:ext cx="71740" cy="664985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200">
                <a:latin typeface="Arial"/>
                <a:cs typeface="Arial"/>
              </a:endParaRPr>
            </a:p>
          </p:txBody>
        </p:sp>
      </p:grpSp>
      <p:grpSp>
        <p:nvGrpSpPr>
          <p:cNvPr id="16" name="Grupo 15">
            <a:extLst>
              <a:ext uri="{FF2B5EF4-FFF2-40B4-BE49-F238E27FC236}">
                <a16:creationId xmlns:a16="http://schemas.microsoft.com/office/drawing/2014/main" id="{88C71F84-EE69-B0AF-E5EA-F8602BEFF5AE}"/>
              </a:ext>
            </a:extLst>
          </p:cNvPr>
          <p:cNvGrpSpPr/>
          <p:nvPr/>
        </p:nvGrpSpPr>
        <p:grpSpPr>
          <a:xfrm>
            <a:off x="360229" y="3790164"/>
            <a:ext cx="4145096" cy="730841"/>
            <a:chOff x="774555" y="1621088"/>
            <a:chExt cx="4145096" cy="730841"/>
          </a:xfrm>
        </p:grpSpPr>
        <p:sp>
          <p:nvSpPr>
            <p:cNvPr id="17" name="Rectángulo 16">
              <a:extLst>
                <a:ext uri="{FF2B5EF4-FFF2-40B4-BE49-F238E27FC236}">
                  <a16:creationId xmlns:a16="http://schemas.microsoft.com/office/drawing/2014/main" id="{6A8A5EA3-763F-9A87-BB5C-31FD8F00D250}"/>
                </a:ext>
              </a:extLst>
            </p:cNvPr>
            <p:cNvSpPr/>
            <p:nvPr/>
          </p:nvSpPr>
          <p:spPr>
            <a:xfrm>
              <a:off x="851229" y="1621088"/>
              <a:ext cx="4068422" cy="73084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r>
                <a:rPr kumimoji="0" lang="es-MX" sz="1200" b="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highlight>
                    <a:srgbClr val="FFFF00"/>
                  </a:highlight>
                  <a:uLnTx/>
                  <a:uFillTx/>
                  <a:latin typeface="Arial"/>
                  <a:cs typeface="Arial"/>
                </a:rPr>
                <a:t>Xxxxxxxxxxxxxxxxxxxxxxxxxxxxxxxxxxxxxxxxxxxxxxxxxxxxxxxxxxxxxxxxxxxxxxxxxxxxxxxxxxxxxxxxxxxxxxxxxxxxxxxxxxxxxxxx</a:t>
              </a:r>
            </a:p>
          </p:txBody>
        </p:sp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D2167167-015F-9B69-38F6-FD043ED10A7C}"/>
                </a:ext>
              </a:extLst>
            </p:cNvPr>
            <p:cNvSpPr/>
            <p:nvPr/>
          </p:nvSpPr>
          <p:spPr>
            <a:xfrm>
              <a:off x="774555" y="1621089"/>
              <a:ext cx="71740" cy="664985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200">
                <a:latin typeface="Arial"/>
                <a:cs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870598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9A7E6-4C4F-7D72-132D-53CED9EB3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0564034B-5425-D6C4-FC73-037EC0A3DC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1"/>
            <a:ext cx="2974551" cy="5148262"/>
          </a:xfr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3B1A3B43-D1E6-428A-F190-E56AF815A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353" y="1840014"/>
            <a:ext cx="2128053" cy="1028396"/>
          </a:xfrm>
        </p:spPr>
        <p:txBody>
          <a:bodyPr>
            <a:normAutofit/>
          </a:bodyPr>
          <a:lstStyle/>
          <a:p>
            <a:pPr>
              <a:lnSpc>
                <a:spcPts val="2800"/>
              </a:lnSpc>
            </a:pPr>
            <a:r>
              <a:rPr lang="es-CO" sz="26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Garantía</a:t>
            </a:r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97C3256A-E754-A00C-9B57-093389191E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87189" y="0"/>
            <a:ext cx="771769" cy="762000"/>
          </a:xfrm>
          <a:prstGeom prst="rect">
            <a:avLst/>
          </a:prstGeom>
        </p:spPr>
      </p:pic>
      <p:sp>
        <p:nvSpPr>
          <p:cNvPr id="2" name="Redondear rectángulo de esquina diagonal 14">
            <a:extLst>
              <a:ext uri="{FF2B5EF4-FFF2-40B4-BE49-F238E27FC236}">
                <a16:creationId xmlns:a16="http://schemas.microsoft.com/office/drawing/2014/main" id="{0E0E7FED-9E3A-89A4-1947-0FE4F875EB38}"/>
              </a:ext>
            </a:extLst>
          </p:cNvPr>
          <p:cNvSpPr/>
          <p:nvPr/>
        </p:nvSpPr>
        <p:spPr>
          <a:xfrm>
            <a:off x="1725979" y="4077766"/>
            <a:ext cx="3547806" cy="961146"/>
          </a:xfrm>
          <a:prstGeom prst="round2DiagRect">
            <a:avLst>
              <a:gd name="adj1" fmla="val 15796"/>
              <a:gd name="adj2" fmla="val 40158"/>
            </a:avLst>
          </a:prstGeom>
          <a:gradFill>
            <a:gsLst>
              <a:gs pos="0">
                <a:schemeClr val="bg1"/>
              </a:gs>
              <a:gs pos="100000">
                <a:srgbClr val="E4EFD9"/>
              </a:gs>
            </a:gsLst>
            <a:lin ang="0" scaled="0"/>
          </a:gradFill>
          <a:ln>
            <a:noFill/>
          </a:ln>
          <a:effectLst>
            <a:outerShdw blurRad="190500" dist="38100" dir="8100000" algn="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270000" tIns="135000" rIns="270000" bIns="270000" rtlCol="0" anchor="b"/>
          <a:lstStyle/>
          <a:p>
            <a:endParaRPr lang="es-MX" sz="1000" b="1" i="1">
              <a:solidFill>
                <a:srgbClr val="33333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625DD84-AEFA-5F78-2127-B8EE7B068937}"/>
              </a:ext>
            </a:extLst>
          </p:cNvPr>
          <p:cNvSpPr txBox="1"/>
          <p:nvPr/>
        </p:nvSpPr>
        <p:spPr>
          <a:xfrm>
            <a:off x="3824089" y="1102280"/>
            <a:ext cx="5025391" cy="26776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s-MX" sz="1200">
                <a:solidFill>
                  <a:srgbClr val="333333"/>
                </a:solidFill>
                <a:highlight>
                  <a:srgbClr val="FFFF00"/>
                </a:highlight>
                <a:latin typeface="Arial"/>
                <a:cs typeface="Calibri"/>
              </a:rPr>
              <a:t>La garantía del producto está definida en dos fases, la fase de estabilización y la garantía:</a:t>
            </a:r>
            <a:endParaRPr lang="es-MX" sz="1200" dirty="0">
              <a:solidFill>
                <a:srgbClr val="333333"/>
              </a:solidFill>
              <a:highlight>
                <a:srgbClr val="FFFF00"/>
              </a:highlight>
              <a:latin typeface="Arial"/>
              <a:cs typeface="Calibri"/>
            </a:endParaRPr>
          </a:p>
          <a:p>
            <a:pPr algn="just"/>
            <a:endParaRPr lang="es-MX" sz="1200" dirty="0">
              <a:solidFill>
                <a:srgbClr val="333333"/>
              </a:solidFill>
              <a:highlight>
                <a:srgbClr val="FFFF00"/>
              </a:highlight>
              <a:latin typeface="Arial"/>
              <a:cs typeface="Calibri" panose="020F0502020204030204" pitchFamily="34" charset="0"/>
            </a:endParaRPr>
          </a:p>
          <a:p>
            <a:pPr algn="just"/>
            <a:r>
              <a:rPr lang="es-MX" sz="1200" b="1">
                <a:solidFill>
                  <a:srgbClr val="333333"/>
                </a:solidFill>
                <a:highlight>
                  <a:srgbClr val="FFFF00"/>
                </a:highlight>
                <a:latin typeface="Arial"/>
                <a:cs typeface="Calibri"/>
              </a:rPr>
              <a:t>Fase de estabilización: </a:t>
            </a:r>
            <a:r>
              <a:rPr lang="es-MX" sz="1200">
                <a:solidFill>
                  <a:srgbClr val="333333"/>
                </a:solidFill>
                <a:highlight>
                  <a:srgbClr val="FFFF00"/>
                </a:highlight>
                <a:latin typeface="Arial"/>
                <a:cs typeface="Calibri"/>
              </a:rPr>
              <a:t>Este periodo de tiempo inicia al momento de pasar el 100% de los desarrollos del producto al ambiente de QA del cliente. Se define un tiempo de 15 días calendario para que el cliente realice la certificación del producto.</a:t>
            </a:r>
            <a:endParaRPr lang="es-MX" sz="1200" dirty="0">
              <a:solidFill>
                <a:srgbClr val="333333"/>
              </a:solidFill>
              <a:highlight>
                <a:srgbClr val="FFFF00"/>
              </a:highlight>
              <a:latin typeface="Arial"/>
              <a:cs typeface="Calibri"/>
            </a:endParaRPr>
          </a:p>
          <a:p>
            <a:pPr algn="just"/>
            <a:endParaRPr lang="es-MX" sz="1200" dirty="0">
              <a:solidFill>
                <a:srgbClr val="333333"/>
              </a:solidFill>
              <a:highlight>
                <a:srgbClr val="FFFF00"/>
              </a:highlight>
              <a:latin typeface="Arial"/>
              <a:cs typeface="Calibri" panose="020F0502020204030204" pitchFamily="34" charset="0"/>
            </a:endParaRPr>
          </a:p>
          <a:p>
            <a:pPr algn="just"/>
            <a:r>
              <a:rPr lang="es-MX" sz="1200" b="1">
                <a:solidFill>
                  <a:srgbClr val="333333"/>
                </a:solidFill>
                <a:highlight>
                  <a:srgbClr val="FFFF00"/>
                </a:highlight>
                <a:latin typeface="Arial"/>
                <a:cs typeface="Calibri"/>
              </a:rPr>
              <a:t>Fase de garantía: </a:t>
            </a:r>
            <a:r>
              <a:rPr lang="es-MX" sz="1200">
                <a:solidFill>
                  <a:srgbClr val="333333"/>
                </a:solidFill>
                <a:highlight>
                  <a:srgbClr val="FFFF00"/>
                </a:highlight>
                <a:latin typeface="Arial"/>
                <a:cs typeface="Calibri"/>
              </a:rPr>
              <a:t>Hace referencia al periodo de soporte de fallas que puedan surgir posterior a la fase de estabilización. Para esto se define un tiempo de 90 días calendario. </a:t>
            </a:r>
            <a:endParaRPr lang="es-MX" sz="1200" dirty="0">
              <a:solidFill>
                <a:srgbClr val="333333"/>
              </a:solidFill>
              <a:highlight>
                <a:srgbClr val="FFFF00"/>
              </a:highlight>
              <a:latin typeface="Arial"/>
              <a:cs typeface="Calibri"/>
            </a:endParaRPr>
          </a:p>
          <a:p>
            <a:pPr algn="just"/>
            <a:endParaRPr lang="es-MX" sz="1200" dirty="0">
              <a:solidFill>
                <a:srgbClr val="333333"/>
              </a:solidFill>
              <a:highlight>
                <a:srgbClr val="FFFF00"/>
              </a:highlight>
              <a:latin typeface="Arial"/>
              <a:cs typeface="Calibri"/>
            </a:endParaRPr>
          </a:p>
          <a:p>
            <a:pPr algn="just"/>
            <a:r>
              <a:rPr lang="es-MX" sz="1200" b="1">
                <a:solidFill>
                  <a:srgbClr val="333333"/>
                </a:solidFill>
                <a:highlight>
                  <a:srgbClr val="FFFF00"/>
                </a:highlight>
                <a:latin typeface="Arial"/>
                <a:ea typeface="Calibri"/>
                <a:cs typeface="Calibri"/>
              </a:rPr>
              <a:t>Garantía del producto </a:t>
            </a:r>
            <a:r>
              <a:rPr lang="es-MX" sz="1200">
                <a:solidFill>
                  <a:srgbClr val="333333"/>
                </a:solidFill>
                <a:highlight>
                  <a:srgbClr val="FFFF00"/>
                </a:highlight>
                <a:latin typeface="Arial"/>
                <a:ea typeface="Calibri"/>
                <a:cs typeface="Calibri"/>
              </a:rPr>
              <a:t>= 15 días de estabilización + 90 días de garantía. </a:t>
            </a:r>
            <a:endParaRPr lang="es-MX" sz="1200">
              <a:highlight>
                <a:srgbClr val="FFFF00"/>
              </a:highlight>
              <a:latin typeface="Arial"/>
              <a:cs typeface="Arial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228C26A9-F823-77AD-603B-7C0A1E1CA019}"/>
              </a:ext>
            </a:extLst>
          </p:cNvPr>
          <p:cNvSpPr txBox="1">
            <a:spLocks/>
          </p:cNvSpPr>
          <p:nvPr/>
        </p:nvSpPr>
        <p:spPr>
          <a:xfrm>
            <a:off x="1947113" y="4118592"/>
            <a:ext cx="3547805" cy="335757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1200" b="1">
                <a:solidFill>
                  <a:srgbClr val="15601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Inicio</a:t>
            </a:r>
            <a:r>
              <a:rPr lang="es-CO" sz="1200" b="1">
                <a:gradFill>
                  <a:gsLst>
                    <a:gs pos="0">
                      <a:srgbClr val="BA3256"/>
                    </a:gs>
                    <a:gs pos="50000">
                      <a:srgbClr val="253880"/>
                    </a:gs>
                    <a:gs pos="100000">
                      <a:srgbClr val="54A771"/>
                    </a:gs>
                  </a:gsLst>
                  <a:lin ang="0" scaled="0"/>
                </a:gra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O" sz="1200" b="1">
                <a:solidFill>
                  <a:srgbClr val="15601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lang="es-CO" sz="1200" b="1">
                <a:gradFill>
                  <a:gsLst>
                    <a:gs pos="0">
                      <a:srgbClr val="BA3256"/>
                    </a:gs>
                    <a:gs pos="50000">
                      <a:srgbClr val="253880"/>
                    </a:gs>
                    <a:gs pos="100000">
                      <a:srgbClr val="54A771"/>
                    </a:gs>
                  </a:gsLst>
                  <a:lin ang="0" scaled="0"/>
                </a:gra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O" sz="1200" b="1">
                <a:solidFill>
                  <a:srgbClr val="15601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Actividades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51E137E-909B-63CB-8444-5F6F4CE67DB6}"/>
              </a:ext>
            </a:extLst>
          </p:cNvPr>
          <p:cNvSpPr txBox="1"/>
          <p:nvPr/>
        </p:nvSpPr>
        <p:spPr>
          <a:xfrm>
            <a:off x="1901605" y="4397531"/>
            <a:ext cx="3330222" cy="55399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s-MX" sz="1000" i="1" dirty="0">
                <a:solidFill>
                  <a:srgbClr val="333333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</a:rPr>
              <a:t>Hasta ocho (8) días hábiles después de firmado el contrato entre </a:t>
            </a:r>
            <a:r>
              <a:rPr lang="es-MX" sz="1000" i="1" dirty="0" err="1">
                <a:solidFill>
                  <a:schemeClr val="accent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</a:rPr>
              <a:t>xxxxxxxxxx</a:t>
            </a:r>
            <a:r>
              <a:rPr lang="es-MX" sz="1000" i="1" dirty="0">
                <a:solidFill>
                  <a:schemeClr val="accent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</a:rPr>
              <a:t> </a:t>
            </a:r>
            <a:r>
              <a:rPr lang="es-MX" sz="1000" i="1" dirty="0">
                <a:solidFill>
                  <a:srgbClr val="333333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</a:rPr>
              <a:t>o recepción de orden de compra o correo formal aceptando la propuesta.</a:t>
            </a:r>
          </a:p>
        </p:txBody>
      </p:sp>
      <p:sp>
        <p:nvSpPr>
          <p:cNvPr id="11" name="Redondear rectángulo de esquina diagonal 14">
            <a:extLst>
              <a:ext uri="{FF2B5EF4-FFF2-40B4-BE49-F238E27FC236}">
                <a16:creationId xmlns:a16="http://schemas.microsoft.com/office/drawing/2014/main" id="{DBCD68DC-4E83-A366-E6E1-768D4C678F93}"/>
              </a:ext>
            </a:extLst>
          </p:cNvPr>
          <p:cNvSpPr/>
          <p:nvPr/>
        </p:nvSpPr>
        <p:spPr>
          <a:xfrm>
            <a:off x="5593602" y="4073087"/>
            <a:ext cx="3368338" cy="961146"/>
          </a:xfrm>
          <a:prstGeom prst="round2DiagRect">
            <a:avLst>
              <a:gd name="adj1" fmla="val 15796"/>
              <a:gd name="adj2" fmla="val 36878"/>
            </a:avLst>
          </a:prstGeom>
          <a:gradFill>
            <a:gsLst>
              <a:gs pos="0">
                <a:schemeClr val="bg1"/>
              </a:gs>
              <a:gs pos="100000">
                <a:srgbClr val="E4EFD9"/>
              </a:gs>
            </a:gsLst>
            <a:lin ang="0" scaled="0"/>
          </a:gradFill>
          <a:ln>
            <a:noFill/>
          </a:ln>
          <a:effectLst>
            <a:outerShdw blurRad="190500" dist="38100" dir="8100000" algn="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72000" tIns="288000" rIns="72000" bIns="270000" rtlCol="0" anchor="b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000" b="1" i="1" u="none" strike="noStrike" kern="1200" cap="none" spc="0" normalizeH="0" baseline="0" noProof="0">
              <a:ln>
                <a:noFill/>
              </a:ln>
              <a:solidFill>
                <a:srgbClr val="669933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9C719A26-ED08-A5C0-2F9B-3AFD50A597F5}"/>
              </a:ext>
            </a:extLst>
          </p:cNvPr>
          <p:cNvSpPr txBox="1">
            <a:spLocks/>
          </p:cNvSpPr>
          <p:nvPr/>
        </p:nvSpPr>
        <p:spPr>
          <a:xfrm>
            <a:off x="5694800" y="4235570"/>
            <a:ext cx="2795883" cy="179769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sz="1200" b="1">
                <a:solidFill>
                  <a:srgbClr val="15601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Vigencia</a:t>
            </a:r>
            <a:r>
              <a:rPr kumimoji="0" lang="es-CO" sz="1600" b="1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srgbClr val="BA3256"/>
                    </a:gs>
                    <a:gs pos="50000">
                      <a:srgbClr val="253880"/>
                    </a:gs>
                    <a:gs pos="100000">
                      <a:srgbClr val="54A771"/>
                    </a:gs>
                  </a:gsLst>
                  <a:lin ang="0" scaled="0"/>
                </a:gradFill>
                <a:effectLst/>
                <a:uLnTx/>
                <a:uFillTx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</a:t>
            </a:r>
            <a:r>
              <a:rPr lang="es-CO" sz="1200" b="1">
                <a:solidFill>
                  <a:srgbClr val="15601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la propuesta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1F0D8F82-2686-09E7-666A-0B3AA815F59A}"/>
              </a:ext>
            </a:extLst>
          </p:cNvPr>
          <p:cNvSpPr/>
          <p:nvPr/>
        </p:nvSpPr>
        <p:spPr>
          <a:xfrm>
            <a:off x="5688083" y="4467889"/>
            <a:ext cx="3179376" cy="40011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s-MX" sz="1000" i="1">
                <a:solidFill>
                  <a:srgbClr val="333333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</a:rPr>
              <a:t>La vigencia de la propuesta será de 60 días calendario a partir de la fecha de presentación de esta.</a:t>
            </a:r>
            <a:endParaRPr lang="es-CO" sz="1000" i="1">
              <a:solidFill>
                <a:srgbClr val="333333"/>
              </a:solidFill>
              <a:highlight>
                <a:srgbClr val="FFFF00"/>
              </a:highlight>
              <a:latin typeface="Calibri"/>
              <a:ea typeface="Calibri"/>
              <a:cs typeface="Calibri"/>
            </a:endParaRPr>
          </a:p>
        </p:txBody>
      </p:sp>
      <p:sp>
        <p:nvSpPr>
          <p:cNvPr id="14" name="Redondear rectángulo de esquina diagonal 14">
            <a:extLst>
              <a:ext uri="{FF2B5EF4-FFF2-40B4-BE49-F238E27FC236}">
                <a16:creationId xmlns:a16="http://schemas.microsoft.com/office/drawing/2014/main" id="{AE49A1D3-40AD-766C-CA39-0E145F3BCFDA}"/>
              </a:ext>
            </a:extLst>
          </p:cNvPr>
          <p:cNvSpPr/>
          <p:nvPr/>
        </p:nvSpPr>
        <p:spPr>
          <a:xfrm>
            <a:off x="1925662" y="169841"/>
            <a:ext cx="5925646" cy="799064"/>
          </a:xfrm>
          <a:prstGeom prst="round2DiagRect">
            <a:avLst>
              <a:gd name="adj1" fmla="val 13848"/>
              <a:gd name="adj2" fmla="val 25414"/>
            </a:avLst>
          </a:prstGeom>
          <a:gradFill>
            <a:gsLst>
              <a:gs pos="0">
                <a:schemeClr val="bg1"/>
              </a:gs>
              <a:gs pos="100000">
                <a:srgbClr val="E4EFD9"/>
              </a:gs>
            </a:gsLst>
            <a:lin ang="0" scaled="0"/>
          </a:gradFill>
          <a:ln>
            <a:noFill/>
          </a:ln>
          <a:effectLst>
            <a:outerShdw blurRad="190500" dist="38100" dir="8100000" algn="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72000" tIns="396000" rIns="72000" bIns="72000" rtlCol="0" anchor="ctr"/>
          <a:lstStyle/>
          <a:p>
            <a:r>
              <a:rPr lang="es-ES" sz="900" i="1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 entiende por garantía el proceso por el cual </a:t>
            </a:r>
            <a:r>
              <a:rPr lang="es-ES" sz="900" b="1" i="1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PERIFERIA IT CORP </a:t>
            </a:r>
            <a:r>
              <a:rPr lang="es-ES" sz="900" i="1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coloca a disposición del proyecto el talento humano que sea necesario para atender fallas o errores en los componentes ocasionados por la operación diaria. Este período no incluye nuevos requerimientos o funcionalidades.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64E87E8F-2225-1659-D600-3B46AE5D95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5814" y="169841"/>
            <a:ext cx="240358" cy="240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1000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4DAC3792-FBF0-63E5-0C5E-D31FA63F44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7317" y="0"/>
            <a:ext cx="9158635" cy="5148263"/>
          </a:xfrm>
        </p:spPr>
      </p:pic>
      <p:pic>
        <p:nvPicPr>
          <p:cNvPr id="6" name="Gráfico 5">
            <a:extLst>
              <a:ext uri="{FF2B5EF4-FFF2-40B4-BE49-F238E27FC236}">
                <a16:creationId xmlns:a16="http://schemas.microsoft.com/office/drawing/2014/main" id="{F619516D-2691-DBE9-88AE-C3BB07CBDF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06784" y="233863"/>
            <a:ext cx="1026000" cy="251660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ABF842A1-8061-D34D-7924-67988881DC06}"/>
              </a:ext>
            </a:extLst>
          </p:cNvPr>
          <p:cNvSpPr txBox="1"/>
          <p:nvPr/>
        </p:nvSpPr>
        <p:spPr>
          <a:xfrm>
            <a:off x="533400" y="1408677"/>
            <a:ext cx="21560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3200" b="1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Gracias</a:t>
            </a:r>
          </a:p>
        </p:txBody>
      </p:sp>
      <p:grpSp>
        <p:nvGrpSpPr>
          <p:cNvPr id="8" name="vertical">
            <a:extLst>
              <a:ext uri="{FF2B5EF4-FFF2-40B4-BE49-F238E27FC236}">
                <a16:creationId xmlns:a16="http://schemas.microsoft.com/office/drawing/2014/main" id="{7235EB6B-CAAE-87C7-7A6A-FF92535C17EF}"/>
              </a:ext>
            </a:extLst>
          </p:cNvPr>
          <p:cNvGrpSpPr/>
          <p:nvPr/>
        </p:nvGrpSpPr>
        <p:grpSpPr>
          <a:xfrm>
            <a:off x="631149" y="3070838"/>
            <a:ext cx="1489700" cy="1263841"/>
            <a:chOff x="373477" y="3452136"/>
            <a:chExt cx="1780358" cy="1510431"/>
          </a:xfrm>
        </p:grpSpPr>
        <p:grpSp>
          <p:nvGrpSpPr>
            <p:cNvPr id="9" name="duv-uaf-iaf">
              <a:extLst>
                <a:ext uri="{FF2B5EF4-FFF2-40B4-BE49-F238E27FC236}">
                  <a16:creationId xmlns:a16="http://schemas.microsoft.com/office/drawing/2014/main" id="{9DC18A9B-F9D5-B153-0D8D-C2673017ACD8}"/>
                </a:ext>
              </a:extLst>
            </p:cNvPr>
            <p:cNvGrpSpPr/>
            <p:nvPr/>
          </p:nvGrpSpPr>
          <p:grpSpPr>
            <a:xfrm>
              <a:off x="1305955" y="3452136"/>
              <a:ext cx="847880" cy="1510430"/>
              <a:chOff x="2215213" y="3665621"/>
              <a:chExt cx="755226" cy="1345374"/>
            </a:xfrm>
            <a:effectLst>
              <a:outerShdw blurRad="308960" dist="38100" dir="8100000" sx="105000" sy="105000" algn="tr" rotWithShape="0">
                <a:prstClr val="black">
                  <a:alpha val="20000"/>
                </a:prstClr>
              </a:outerShdw>
            </a:effectLst>
          </p:grpSpPr>
          <p:sp>
            <p:nvSpPr>
              <p:cNvPr id="15" name="Rectángulo 14">
                <a:extLst>
                  <a:ext uri="{FF2B5EF4-FFF2-40B4-BE49-F238E27FC236}">
                    <a16:creationId xmlns:a16="http://schemas.microsoft.com/office/drawing/2014/main" id="{E5D7DDF0-C410-D99E-C88C-4CE2D07D9CE7}"/>
                  </a:ext>
                </a:extLst>
              </p:cNvPr>
              <p:cNvSpPr/>
              <p:nvPr/>
            </p:nvSpPr>
            <p:spPr>
              <a:xfrm>
                <a:off x="2215213" y="3665621"/>
                <a:ext cx="755226" cy="1345374"/>
              </a:xfrm>
              <a:prstGeom prst="rect">
                <a:avLst/>
              </a:prstGeom>
              <a:solidFill>
                <a:srgbClr val="B3BEC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16" name="Rectángulo 15">
                <a:extLst>
                  <a:ext uri="{FF2B5EF4-FFF2-40B4-BE49-F238E27FC236}">
                    <a16:creationId xmlns:a16="http://schemas.microsoft.com/office/drawing/2014/main" id="{D1B7316F-CE57-D612-F2A7-71358D4D7EA3}"/>
                  </a:ext>
                </a:extLst>
              </p:cNvPr>
              <p:cNvSpPr/>
              <p:nvPr/>
            </p:nvSpPr>
            <p:spPr>
              <a:xfrm>
                <a:off x="2215213" y="3665621"/>
                <a:ext cx="755226" cy="9615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pic>
            <p:nvPicPr>
              <p:cNvPr id="17" name="Imagen 16">
                <a:extLst>
                  <a:ext uri="{FF2B5EF4-FFF2-40B4-BE49-F238E27FC236}">
                    <a16:creationId xmlns:a16="http://schemas.microsoft.com/office/drawing/2014/main" id="{81A025B5-7907-545D-0221-D6AE3C36A3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365586" y="3749683"/>
                <a:ext cx="454480" cy="156141"/>
              </a:xfrm>
              <a:prstGeom prst="rect">
                <a:avLst/>
              </a:prstGeom>
            </p:spPr>
          </p:pic>
          <p:pic>
            <p:nvPicPr>
              <p:cNvPr id="18" name="Imagen 17">
                <a:extLst>
                  <a:ext uri="{FF2B5EF4-FFF2-40B4-BE49-F238E27FC236}">
                    <a16:creationId xmlns:a16="http://schemas.microsoft.com/office/drawing/2014/main" id="{8046B672-50B0-563D-9E2A-1790EFE3BD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375112" y="3993567"/>
                <a:ext cx="435429" cy="205391"/>
              </a:xfrm>
              <a:prstGeom prst="rect">
                <a:avLst/>
              </a:prstGeom>
            </p:spPr>
          </p:pic>
          <p:pic>
            <p:nvPicPr>
              <p:cNvPr id="19" name="Imagen 18">
                <a:extLst>
                  <a:ext uri="{FF2B5EF4-FFF2-40B4-BE49-F238E27FC236}">
                    <a16:creationId xmlns:a16="http://schemas.microsoft.com/office/drawing/2014/main" id="{F92C4A5E-1E62-141E-0D7D-39AF4AB49C3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363106" y="4286701"/>
                <a:ext cx="459441" cy="280963"/>
              </a:xfrm>
              <a:prstGeom prst="rect">
                <a:avLst/>
              </a:prstGeom>
            </p:spPr>
          </p:pic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513185D8-432F-85E4-E2CF-1DE2B5682817}"/>
                  </a:ext>
                </a:extLst>
              </p:cNvPr>
              <p:cNvSpPr txBox="1"/>
              <p:nvPr/>
            </p:nvSpPr>
            <p:spPr>
              <a:xfrm>
                <a:off x="2226205" y="4684084"/>
                <a:ext cx="733242" cy="3015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CO" sz="400" b="1">
                    <a:solidFill>
                      <a:srgbClr val="00356E"/>
                    </a:solidFill>
                  </a:rPr>
                  <a:t>ISO 27001:2022</a:t>
                </a:r>
              </a:p>
              <a:p>
                <a:pPr algn="ctr"/>
                <a:r>
                  <a:rPr lang="es-CO" sz="400"/>
                  <a:t>PRC/DUV-COL/IS3164</a:t>
                </a:r>
              </a:p>
              <a:p>
                <a:pPr algn="ctr"/>
                <a:r>
                  <a:rPr lang="es-CO" sz="400"/>
                  <a:t>CAB/DUV-COL/IS3165</a:t>
                </a:r>
              </a:p>
            </p:txBody>
          </p:sp>
          <p:cxnSp>
            <p:nvCxnSpPr>
              <p:cNvPr id="21" name="Conector recto 20">
                <a:extLst>
                  <a:ext uri="{FF2B5EF4-FFF2-40B4-BE49-F238E27FC236}">
                    <a16:creationId xmlns:a16="http://schemas.microsoft.com/office/drawing/2014/main" id="{682EBE46-2D1C-EC4E-4293-7F63F7A00A4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15213" y="4627194"/>
                <a:ext cx="755226" cy="0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" name="future builders">
              <a:extLst>
                <a:ext uri="{FF2B5EF4-FFF2-40B4-BE49-F238E27FC236}">
                  <a16:creationId xmlns:a16="http://schemas.microsoft.com/office/drawing/2014/main" id="{D616C77A-DD46-7D24-95A6-81762C9D3556}"/>
                </a:ext>
              </a:extLst>
            </p:cNvPr>
            <p:cNvGrpSpPr/>
            <p:nvPr/>
          </p:nvGrpSpPr>
          <p:grpSpPr>
            <a:xfrm>
              <a:off x="373477" y="3452136"/>
              <a:ext cx="833903" cy="1510431"/>
              <a:chOff x="367517" y="3499719"/>
              <a:chExt cx="833903" cy="1510431"/>
            </a:xfrm>
            <a:effectLst>
              <a:outerShdw blurRad="304800" dist="38100" dir="8100000" sx="105000" sy="105000" algn="ctr" rotWithShape="0">
                <a:srgbClr val="000000">
                  <a:alpha val="20000"/>
                </a:srgbClr>
              </a:outerShdw>
            </a:effectLst>
          </p:grpSpPr>
          <p:sp>
            <p:nvSpPr>
              <p:cNvPr id="11" name="Rectángulo 10">
                <a:extLst>
                  <a:ext uri="{FF2B5EF4-FFF2-40B4-BE49-F238E27FC236}">
                    <a16:creationId xmlns:a16="http://schemas.microsoft.com/office/drawing/2014/main" id="{E16EB1EB-E0FC-29A3-CDF8-86619D7BC559}"/>
                  </a:ext>
                </a:extLst>
              </p:cNvPr>
              <p:cNvSpPr/>
              <p:nvPr/>
            </p:nvSpPr>
            <p:spPr>
              <a:xfrm>
                <a:off x="367517" y="3499719"/>
                <a:ext cx="833134" cy="151043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>
                  <a:solidFill>
                    <a:schemeClr val="bg1"/>
                  </a:solidFill>
                </a:endParaRPr>
              </a:p>
            </p:txBody>
          </p:sp>
          <p:pic>
            <p:nvPicPr>
              <p:cNvPr id="12" name="Imagen 11">
                <a:extLst>
                  <a:ext uri="{FF2B5EF4-FFF2-40B4-BE49-F238E27FC236}">
                    <a16:creationId xmlns:a16="http://schemas.microsoft.com/office/drawing/2014/main" id="{E6FDC158-7AD8-0346-DED8-BF573272229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368286" y="3505128"/>
                <a:ext cx="833134" cy="1173189"/>
              </a:xfrm>
              <a:prstGeom prst="rect">
                <a:avLst/>
              </a:prstGeom>
            </p:spPr>
          </p:pic>
          <p:sp>
            <p:nvSpPr>
              <p:cNvPr id="13" name="Rectángulo 12">
                <a:extLst>
                  <a:ext uri="{FF2B5EF4-FFF2-40B4-BE49-F238E27FC236}">
                    <a16:creationId xmlns:a16="http://schemas.microsoft.com/office/drawing/2014/main" id="{5FEA9470-D609-E2BD-F409-FAD3C520570B}"/>
                  </a:ext>
                </a:extLst>
              </p:cNvPr>
              <p:cNvSpPr/>
              <p:nvPr/>
            </p:nvSpPr>
            <p:spPr>
              <a:xfrm>
                <a:off x="424764" y="4221126"/>
                <a:ext cx="712800" cy="698114"/>
              </a:xfrm>
              <a:prstGeom prst="rect">
                <a:avLst/>
              </a:prstGeom>
              <a:solidFill>
                <a:srgbClr val="B1BFC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92317B9E-6293-2A42-0B46-F21F57D7EBCE}"/>
                  </a:ext>
                </a:extLst>
              </p:cNvPr>
              <p:cNvSpPr txBox="1"/>
              <p:nvPr/>
            </p:nvSpPr>
            <p:spPr>
              <a:xfrm>
                <a:off x="431786" y="4221127"/>
                <a:ext cx="704596" cy="6253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CO" sz="400" b="1">
                    <a:solidFill>
                      <a:srgbClr val="00356E"/>
                    </a:solidFill>
                  </a:rPr>
                  <a:t>ISO 9001:2015</a:t>
                </a:r>
              </a:p>
              <a:p>
                <a:pPr algn="ctr"/>
                <a:r>
                  <a:rPr lang="es-CO" sz="400"/>
                  <a:t>MSC-57124103</a:t>
                </a:r>
              </a:p>
              <a:p>
                <a:pPr algn="ctr"/>
                <a:r>
                  <a:rPr lang="es-CO" sz="400"/>
                  <a:t>MSC-57124103-1</a:t>
                </a:r>
              </a:p>
              <a:p>
                <a:pPr algn="ctr"/>
                <a:endParaRPr lang="es-CO" sz="400"/>
              </a:p>
              <a:p>
                <a:pPr algn="ctr">
                  <a:lnSpc>
                    <a:spcPts val="0"/>
                  </a:lnSpc>
                </a:pPr>
                <a:endParaRPr lang="es-CO" sz="400"/>
              </a:p>
              <a:p>
                <a:pPr algn="ctr"/>
                <a:r>
                  <a:rPr lang="es-CO" sz="400" b="1">
                    <a:solidFill>
                      <a:srgbClr val="00356E"/>
                    </a:solidFill>
                  </a:rPr>
                  <a:t>ISO 27032:2023</a:t>
                </a:r>
              </a:p>
              <a:p>
                <a:pPr algn="ctr"/>
                <a:r>
                  <a:rPr lang="es-CO" sz="400"/>
                  <a:t>MSC-571924002</a:t>
                </a:r>
              </a:p>
              <a:p>
                <a:pPr algn="ctr"/>
                <a:r>
                  <a:rPr lang="es-CO" sz="400"/>
                  <a:t>MSC-571924002-1</a:t>
                </a:r>
              </a:p>
            </p:txBody>
          </p:sp>
        </p:grpSp>
      </p:grpSp>
      <p:pic>
        <p:nvPicPr>
          <p:cNvPr id="23" name="Imagen 22">
            <a:extLst>
              <a:ext uri="{FF2B5EF4-FFF2-40B4-BE49-F238E27FC236}">
                <a16:creationId xmlns:a16="http://schemas.microsoft.com/office/drawing/2014/main" id="{DF1F4422-5300-C43E-5015-9B4959B68A0C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2526" y="2008011"/>
            <a:ext cx="2740004" cy="851623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BDCC8DCC-EC20-7B34-937F-B08A0C6C354E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263968" y="4755399"/>
            <a:ext cx="3636000" cy="169444"/>
          </a:xfrm>
          <a:prstGeom prst="rect">
            <a:avLst/>
          </a:prstGeom>
        </p:spPr>
      </p:pic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F7251CC8-5E53-231D-8DB7-30EF3F4B4000}"/>
              </a:ext>
            </a:extLst>
          </p:cNvPr>
          <p:cNvCxnSpPr/>
          <p:nvPr/>
        </p:nvCxnSpPr>
        <p:spPr>
          <a:xfrm>
            <a:off x="4114800" y="4780635"/>
            <a:ext cx="5334000" cy="0"/>
          </a:xfrm>
          <a:prstGeom prst="line">
            <a:avLst/>
          </a:prstGeom>
          <a:ln w="19050">
            <a:solidFill>
              <a:srgbClr val="6DFD8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607724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2031908-afc3-4861-95d9-cc85d1091e34" xsi:nil="true"/>
    <lcf76f155ced4ddcb4097134ff3c332f xmlns="4948dcbb-4498-453a-bb2a-2f6e93dc52f8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A13845BC0BE8D498EAB0B4A65887C77" ma:contentTypeVersion="14" ma:contentTypeDescription="Crear nuevo documento." ma:contentTypeScope="" ma:versionID="ef2f4ee381d22387e66574f7f247f396">
  <xsd:schema xmlns:xsd="http://www.w3.org/2001/XMLSchema" xmlns:xs="http://www.w3.org/2001/XMLSchema" xmlns:p="http://schemas.microsoft.com/office/2006/metadata/properties" xmlns:ns2="4948dcbb-4498-453a-bb2a-2f6e93dc52f8" xmlns:ns3="42031908-afc3-4861-95d9-cc85d1091e34" targetNamespace="http://schemas.microsoft.com/office/2006/metadata/properties" ma:root="true" ma:fieldsID="ae80c4cb4fc4bddc35a137efff19a3a4" ns2:_="" ns3:_="">
    <xsd:import namespace="4948dcbb-4498-453a-bb2a-2f6e93dc52f8"/>
    <xsd:import namespace="42031908-afc3-4861-95d9-cc85d1091e3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2:MediaServiceDateTaken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48dcbb-4498-453a-bb2a-2f6e93dc52f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Etiquetas de imagen" ma:readOnly="false" ma:fieldId="{5cf76f15-5ced-4ddc-b409-7134ff3c332f}" ma:taxonomyMulti="true" ma:sspId="f193352c-83ee-4464-bc63-33cfba68ac0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031908-afc3-4861-95d9-cc85d1091e34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d35139d8-d1b2-47c2-b3db-86218de769fd}" ma:internalName="TaxCatchAll" ma:showField="CatchAllData" ma:web="42031908-afc3-4861-95d9-cc85d1091e3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E93E959-676C-47DA-8D5F-FE602D004E80}">
  <ds:schemaRefs>
    <ds:schemaRef ds:uri="http://purl.org/dc/terms/"/>
    <ds:schemaRef ds:uri="http://schemas.microsoft.com/office/2006/metadata/properties"/>
    <ds:schemaRef ds:uri="4948dcbb-4498-453a-bb2a-2f6e93dc52f8"/>
    <ds:schemaRef ds:uri="http://purl.org/dc/dcmitype/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www.w3.org/XML/1998/namespace"/>
    <ds:schemaRef ds:uri="http://schemas.openxmlformats.org/package/2006/metadata/core-properties"/>
    <ds:schemaRef ds:uri="42031908-afc3-4861-95d9-cc85d1091e34"/>
  </ds:schemaRefs>
</ds:datastoreItem>
</file>

<file path=customXml/itemProps2.xml><?xml version="1.0" encoding="utf-8"?>
<ds:datastoreItem xmlns:ds="http://schemas.openxmlformats.org/officeDocument/2006/customXml" ds:itemID="{FD4D0A96-7110-49DE-98A4-9B12497D605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948dcbb-4498-453a-bb2a-2f6e93dc52f8"/>
    <ds:schemaRef ds:uri="42031908-afc3-4861-95d9-cc85d1091e3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45F8F8A-C913-4FAA-B8AF-971175F8F248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e1bdfea1-5fcd-44c1-8196-dfa7afddd8c5}" enabled="0" method="" siteId="{e1bdfea1-5fcd-44c1-8196-dfa7afddd8c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9</TotalTime>
  <Words>1204</Words>
  <Application>Microsoft Office PowerPoint</Application>
  <PresentationFormat>Personalizado</PresentationFormat>
  <Paragraphs>262</Paragraphs>
  <Slides>21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7" baseType="lpstr">
      <vt:lpstr>Arial</vt:lpstr>
      <vt:lpstr>Arial Black</vt:lpstr>
      <vt:lpstr>Calibri</vt:lpstr>
      <vt:lpstr>Calibri Light</vt:lpstr>
      <vt:lpstr>Wingdings</vt:lpstr>
      <vt:lpstr>Tema de Office</vt:lpstr>
      <vt:lpstr>Espacio para poner el título de tu presentación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 </vt:lpstr>
      <vt:lpstr>Presentación de PowerPoint</vt:lpstr>
      <vt:lpstr>Consideraciones</vt:lpstr>
      <vt:lpstr>Presentación de PowerPoint</vt:lpstr>
      <vt:lpstr>Presentación de PowerPoint</vt:lpstr>
      <vt:lpstr>Presentación de PowerPoint</vt:lpstr>
      <vt:lpstr>Presentación de PowerPoint</vt:lpstr>
      <vt:lpstr>Oferta Económica</vt:lpstr>
      <vt:lpstr>Presentación de PowerPoint</vt:lpstr>
      <vt:lpstr>Forma de Pago</vt:lpstr>
      <vt:lpstr>Condiciones Comerciales</vt:lpstr>
      <vt:lpstr>Garantía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Título presentación</dc:title>
  <dc:creator>Angela Camargo</dc:creator>
  <cp:lastModifiedBy>Jose A. Videz Diaz</cp:lastModifiedBy>
  <cp:revision>83</cp:revision>
  <dcterms:created xsi:type="dcterms:W3CDTF">2024-01-17T20:43:53Z</dcterms:created>
  <dcterms:modified xsi:type="dcterms:W3CDTF">2026-04-20T19:34:28Z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0x0101008A13845BC0BE8D498EAB0B4A65887C77</vt:lpwstr>
  </property>
  <property fmtid="{D5CDD505-2E9C-101B-9397-08002B2CF9AE}" pid="3" name="MediaServiceImageTags">
    <vt:lpwstr/>
  </property>
</Properties>
</file>