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BE2DC5-43A8-3F3B-D5A5-5D4A8E897416}" v="10" dt="2026-03-09T16:47:5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microsoft.com/office/2007/relationships/hdphoto" Target="../media/hdphoto1.wdp"/><Relationship Id="rId5" Type="http://schemas.openxmlformats.org/officeDocument/2006/relationships/image" Target="../media/image31.png"/><Relationship Id="rId10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4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microsoft.com/office/2007/relationships/hdphoto" Target="../media/hdphoto1.wdp"/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34" Type="http://schemas.microsoft.com/office/2007/relationships/hdphoto" Target="../media/hdphoto1.wdp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23.png"/><Relationship Id="rId2" Type="http://schemas.openxmlformats.org/officeDocument/2006/relationships/image" Target="../media/image25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28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8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9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8.png"/><Relationship Id="rId7" Type="http://schemas.openxmlformats.org/officeDocument/2006/relationships/image" Target="../media/image2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9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svg"/><Relationship Id="rId7" Type="http://schemas.openxmlformats.org/officeDocument/2006/relationships/image" Target="../media/image108.pn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396" y="114819"/>
            <a:ext cx="1358900" cy="336149"/>
          </a:xfrm>
          <a:prstGeom prst="rect">
            <a:avLst/>
          </a:prstGeom>
        </p:spPr>
      </p:pic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EA6CA862-B264-70C8-D956-E81BA337B452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57CADE5-02BC-E1B1-141D-D58BDA10B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872" y="1013851"/>
            <a:ext cx="3296256" cy="12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>
                  <a:solidFill>
                    <a:srgbClr val="15601D"/>
                  </a:solidFill>
                </a:rPr>
                <a:t>C</a:t>
              </a:r>
              <a:r>
                <a:rPr lang="es-CO" sz="1199" b="1" err="1">
                  <a:solidFill>
                    <a:srgbClr val="15601D"/>
                  </a:solidFill>
                </a:rPr>
                <a:t>ertificaciones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ISO/IEC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  <p:pic>
        <p:nvPicPr>
          <p:cNvPr id="2" name="Imagen 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C216DFDF-61EF-CC1C-90AF-BA7FA3CF2A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1" y="16195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 dirty="0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 dirty="0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CBIT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XXXXXXXXXX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CBIT</a:t>
            </a:r>
            <a:r>
              <a:rPr lang="es-MX" sz="1600" dirty="0"/>
              <a:t>.</a:t>
            </a:r>
          </a:p>
        </p:txBody>
      </p:sp>
      <p:pic>
        <p:nvPicPr>
          <p:cNvPr id="2" name="Imagen 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43BD7BC7-ED82-924B-9CF0-0878445AC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0" y="193470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ES" sz="1200" dirty="0">
                <a:solidFill>
                  <a:schemeClr val="accent1"/>
                </a:solidFill>
                <a:ea typeface="Calibri"/>
                <a:cs typeface="Calibri"/>
              </a:rPr>
              <a:t>XXXXXXXXXX</a:t>
            </a:r>
            <a:r>
              <a:rPr lang="es-CO" sz="1200" dirty="0"/>
              <a:t>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propuesta se presenta de acuerdo con el documento </a:t>
            </a:r>
            <a:r>
              <a:rPr lang="es-ES" sz="1050" dirty="0">
                <a:solidFill>
                  <a:srgbClr val="333333"/>
                </a:solidFill>
                <a:ea typeface="+mn-lt"/>
                <a:cs typeface="+mn-lt"/>
              </a:rPr>
              <a:t>ORDEN DE SERVICIO No. 90274027</a:t>
            </a:r>
            <a:endParaRPr lang="es-ES" sz="1050" i="1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0BE5B58D-33E9-CEEA-1677-6C1AF908F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BBCAF80-6F77-544F-32F6-3F83DEE173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CBIT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CBIT: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16" name="Imagen 15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6A85AE7-D157-81AE-8541-80673700E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ES" sz="1200" i="1" dirty="0">
                <a:solidFill>
                  <a:schemeClr val="accent1"/>
                </a:solidFill>
                <a:ea typeface="Calibri"/>
                <a:cs typeface="Calibri"/>
              </a:rPr>
              <a:t>XXXXXXXXXX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 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ES" sz="1200" i="1" dirty="0">
                <a:solidFill>
                  <a:schemeClr val="accent1"/>
                </a:solidFill>
                <a:ea typeface="Calibri"/>
                <a:cs typeface="Calibri"/>
              </a:rPr>
              <a:t>XXXXXXXXXX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CBIT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2060"/>
                </a:solidFill>
                <a:latin typeface="Arial"/>
                <a:cs typeface="Calibri"/>
              </a:rPr>
              <a:t>Xxxxxx</a:t>
            </a:r>
            <a:endParaRPr lang="es-CO" sz="1200" b="1" dirty="0">
              <a:solidFill>
                <a:srgbClr val="00206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2060"/>
                </a:solidFill>
                <a:latin typeface="Arial"/>
                <a:cs typeface="Calibri"/>
              </a:rPr>
              <a:t>Xxxxxxxx</a:t>
            </a:r>
            <a:endParaRPr lang="es-CO" sz="1200" b="1" dirty="0">
              <a:solidFill>
                <a:srgbClr val="00206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2060"/>
                </a:solidFill>
                <a:latin typeface="Arial"/>
                <a:cs typeface="Calibri"/>
              </a:rPr>
              <a:t>Xxxxxxxx</a:t>
            </a:r>
            <a:endParaRPr lang="es-CO" sz="1200" b="1" dirty="0">
              <a:solidFill>
                <a:srgbClr val="00206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9A142E38-5118-8AF8-AB0E-125B8F4828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4C32516-3D63-C426-209B-4A1E10F0E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658C3A3-05C8-F460-C7AD-B44F1F154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  <a:endParaRPr lang="es-ES" sz="12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F34D16C8-155E-EBBD-A728-384174DCB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27" y="4821375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CBIT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      y             para el correcto desarrollo del proyecto se elaborará y administrará la matriz de riesgos y recomendará alternativas de mitigación de riesgo. </a:t>
              </a:r>
              <a:endParaRPr lang="es-ES" dirty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Las entregas de parte de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 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CBIT 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1793690" y="4339289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461CE9C-662E-94FC-790D-2160E52F9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  <p:pic>
        <p:nvPicPr>
          <p:cNvPr id="14" name="Imagen 1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EC0F448A-3691-D45B-458A-F34A30F3C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756" y="1174337"/>
            <a:ext cx="1207253" cy="43612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A3B3A3BF-65EE-C939-7417-62957D7D7618}"/>
              </a:ext>
            </a:extLst>
          </p:cNvPr>
          <p:cNvSpPr txBox="1">
            <a:spLocks/>
          </p:cNvSpPr>
          <p:nvPr/>
        </p:nvSpPr>
        <p:spPr>
          <a:xfrm>
            <a:off x="1453319" y="3287124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F886FEF-659C-7E4C-197E-675995F6F7F7}"/>
              </a:ext>
            </a:extLst>
          </p:cNvPr>
          <p:cNvSpPr txBox="1">
            <a:spLocks/>
          </p:cNvSpPr>
          <p:nvPr/>
        </p:nvSpPr>
        <p:spPr>
          <a:xfrm>
            <a:off x="6620924" y="1927199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9106BAD-45F3-EFCF-E2AC-62C78D4254C1}"/>
              </a:ext>
            </a:extLst>
          </p:cNvPr>
          <p:cNvSpPr txBox="1">
            <a:spLocks/>
          </p:cNvSpPr>
          <p:nvPr/>
        </p:nvSpPr>
        <p:spPr>
          <a:xfrm>
            <a:off x="5623746" y="1212937"/>
            <a:ext cx="2052544" cy="50181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0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2000" b="1" dirty="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44C27B4-01FD-A179-4AFA-AD8CD0DC20B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  <p:pic>
        <p:nvPicPr>
          <p:cNvPr id="51" name="Imagen 50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08C2FA5C-D1F9-B8A2-945F-B966BF11C1C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62" y="1496647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>
                <a:solidFill>
                  <a:srgbClr val="00B0F0"/>
                </a:solidFill>
              </a:rPr>
              <a:t>&lt;&lt;Logo del Cliente&gt;&gt;</a:t>
            </a:r>
            <a:endParaRPr lang="es-CO" sz="135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25" name="Imagen 24" descr="Icono&#10;&#10;El contenido generado por IA puede ser incorrecto.">
            <a:extLst>
              <a:ext uri="{FF2B5EF4-FFF2-40B4-BE49-F238E27FC236}">
                <a16:creationId xmlns:a16="http://schemas.microsoft.com/office/drawing/2014/main" id="{258C191E-C57C-F0C9-11CA-5684609EB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6068" y="1376609"/>
            <a:ext cx="590546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highlight>
                  <a:srgbClr val="FFFF00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15096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16548" y="-881320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2986105" y="2657171"/>
            <a:ext cx="3172407" cy="751187"/>
            <a:chOff x="2827484" y="2673246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27484" y="2673246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7" name="Imagen 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596C3C1-4D22-9B7D-E0CC-FEF66E27D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653" y="248637"/>
            <a:ext cx="2278898" cy="8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dirty="0">
                <a:solidFill>
                  <a:srgbClr val="212121"/>
                </a:solidFill>
                <a:cs typeface="Arial"/>
              </a:rPr>
              <a:t>El pago se realizará conforme al siguiente plan de porcentajes, teniendo en cuenta que </a:t>
            </a:r>
            <a:r>
              <a:rPr lang="es-MX" sz="1200" dirty="0">
                <a:solidFill>
                  <a:schemeClr val="accent1"/>
                </a:solidFill>
                <a:cs typeface="Arial"/>
              </a:rPr>
              <a:t>XXXXXXXX 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pagará a los </a:t>
            </a:r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XX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err="1">
                <a:solidFill>
                  <a:srgbClr val="333333"/>
                </a:solidFill>
                <a:latin typeface="Arial"/>
                <a:cs typeface="Arial"/>
              </a:rPr>
              <a:t>Sprints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 definid</a:t>
            </a:r>
            <a:r>
              <a:rPr lang="es-ES" sz="12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s.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dirty="0">
                <a:solidFill>
                  <a:srgbClr val="333333"/>
                </a:solidFill>
                <a:latin typeface="Arial"/>
                <a:cs typeface="Arial"/>
              </a:rPr>
              <a:t>Ajustar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5B01E400-B396-0A72-3E63-333B2ACED0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319" y="473048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highlight>
                  <a:srgbClr val="FFFF00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 dirty="0">
              <a:highlight>
                <a:srgbClr val="FFFF00"/>
              </a:highlight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err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</a:t>
            </a:r>
            <a:r>
              <a:rPr lang="es-MX" sz="1000" i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633039" y="137336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CBIT </a:t>
            </a:r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91" y="137336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4948dcbb-4498-453a-bb2a-2f6e93dc52f8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42031908-afc3-4861-95d9-cc85d1091e3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D662B3A-31AA-438A-A768-F5B4421260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</TotalTime>
  <Words>1180</Words>
  <Application>Microsoft Office PowerPoint</Application>
  <PresentationFormat>Personalizado</PresentationFormat>
  <Paragraphs>261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A. Videz Diaz</cp:lastModifiedBy>
  <cp:revision>34</cp:revision>
  <dcterms:created xsi:type="dcterms:W3CDTF">2024-01-17T20:43:53Z</dcterms:created>
  <dcterms:modified xsi:type="dcterms:W3CDTF">2026-04-20T19:34:11Z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